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light. This is a studio sharing the tool it built for itself. Bod Annan will guide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Most studio owners will nod. This is why they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slowly. Every studio lives with them. None of it is the work clients pay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 App ran the Storibod floor before anyone else saw it. Introduce Bod Annan lightly; he guides the rest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has to plan the day or scroll a board. Open the app and the order is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 by voice or text, in English, Malayalam or Manglish. New tasks go to the project manager to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nudge appears when a task has been waiting on a client. Each team sets how long that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standup is drafted from what actually moved. Teams choose when it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people smile at. Small, honest recognition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story. From here, show how it works and what's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briefs arrive on WhatsApp late at night, nobody knows who owns what, status lives in people's heads, the client goes quiet, and finished work sits unbilled. With Bod App each of those steps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in the app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studio gets its own look: theme, accent colour, logo, pipeline stages, categories and roles. We set it up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free month. Advanced is the setup Storibod runs on. Premium is configured around their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the walkthrough, not the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slideLayout" Target="../slideLayouts/slideLayout1.xml"/><Relationship Id="rId2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6798445" y="-457200"/>
            <a:ext cx="6719130" cy="6719130"/>
          </a:xfrm>
          <a:prstGeom prst="rect">
            <a:avLst/>
          </a:prstGeom>
        </p:spPr>
      </p:pic>
      <p:pic>
        <p:nvPicPr>
          <p:cNvPr id="3" name="Image 1" descr="preencoded.png">    </p:cNvPr>
          <p:cNvPicPr>
            <a:picLocks noChangeAspect="1"/>
          </p:cNvPicPr>
          <p:nvPr/>
        </p:nvPicPr>
        <p:blipFill>
          <a:blip r:embed="rId2"/>
          <a:stretch>
            <a:fillRect/>
          </a:stretch>
        </p:blipFill>
        <p:spPr>
          <a:xfrm>
            <a:off x="685800" y="640080"/>
            <a:ext cx="457200" cy="457200"/>
          </a:xfrm>
          <a:prstGeom prst="rect">
            <a:avLst/>
          </a:prstGeom>
        </p:spPr>
      </p:pic>
      <p:sp>
        <p:nvSpPr>
          <p:cNvPr id="4" name="Text 0"/>
          <p:cNvSpPr txBox="1"/>
          <p:nvPr/>
        </p:nvSpPr>
        <p:spPr>
          <a:xfrm>
            <a:off x="1325880" y="768096"/>
            <a:ext cx="3657600" cy="201168"/>
          </a:xfrm>
          <a:prstGeom prst="rect">
            <a:avLst/>
          </a:prstGeom>
          <a:noFill/>
          <a:ln/>
        </p:spPr>
        <p:txBody>
          <a:bodyPr wrap="square" lIns="0" tIns="0" rIns="0" bIns="0" rtlCol="0" anchor="t"/>
          <a:lstStyle/>
          <a:p>
            <a:pPr indent="0" marL="0">
              <a:buNone/>
            </a:pPr>
            <a:r>
              <a:rPr lang="en-US" sz="1000" b="1" spc="200" kern="0" dirty="0">
                <a:solidFill>
                  <a:srgbClr val="9AA7A2"/>
                </a:solidFill>
                <a:latin typeface="Plus Jakarta Sans" pitchFamily="34" charset="0"/>
                <a:ea typeface="Plus Jakarta Sans" pitchFamily="34" charset="-122"/>
                <a:cs typeface="Plus Jakarta Sans" pitchFamily="34" charset="-120"/>
              </a:rPr>
              <a:t>A BOD STUDIO PRODUCT</a:t>
            </a:r>
            <a:endParaRPr lang="en-US" sz="1000" dirty="0"/>
          </a:p>
        </p:txBody>
      </p:sp>
      <p:sp>
        <p:nvSpPr>
          <p:cNvPr id="5" name="Text 1"/>
          <p:cNvSpPr txBox="1"/>
          <p:nvPr/>
        </p:nvSpPr>
        <p:spPr>
          <a:xfrm>
            <a:off x="685800" y="2148840"/>
            <a:ext cx="6216472" cy="1280160"/>
          </a:xfrm>
          <a:prstGeom prst="rect">
            <a:avLst/>
          </a:prstGeom>
          <a:noFill/>
          <a:ln/>
        </p:spPr>
        <p:txBody>
          <a:bodyPr wrap="square" lIns="0" tIns="0" rIns="0" bIns="0" rtlCol="0" anchor="b"/>
          <a:lstStyle/>
          <a:p>
            <a:pPr indent="0" marL="0">
              <a:buNone/>
            </a:pPr>
            <a:r>
              <a:rPr lang="en-US" sz="8800" b="1" dirty="0">
                <a:solidFill>
                  <a:srgbClr val="F4F6F5"/>
                </a:solidFill>
                <a:latin typeface="Epilogue" pitchFamily="34" charset="0"/>
                <a:ea typeface="Epilogue" pitchFamily="34" charset="-122"/>
                <a:cs typeface="Epilogue" pitchFamily="34" charset="-120"/>
              </a:rPr>
              <a:t>Bod App</a:t>
            </a:r>
            <a:endParaRPr lang="en-US" sz="8800" dirty="0"/>
          </a:p>
        </p:txBody>
      </p:sp>
      <p:sp>
        <p:nvSpPr>
          <p:cNvPr id="6" name="Text 2"/>
          <p:cNvSpPr txBox="1"/>
          <p:nvPr/>
        </p:nvSpPr>
        <p:spPr>
          <a:xfrm>
            <a:off x="685800" y="3520440"/>
            <a:ext cx="6216472" cy="457200"/>
          </a:xfrm>
          <a:prstGeom prst="rect">
            <a:avLst/>
          </a:prstGeom>
          <a:noFill/>
          <a:ln/>
        </p:spPr>
        <p:txBody>
          <a:bodyPr wrap="square" lIns="0" tIns="0" rIns="0" bIns="0" rtlCol="0" anchor="t"/>
          <a:lstStyle/>
          <a:p>
            <a:pPr indent="0" marL="0">
              <a:buNone/>
            </a:pPr>
            <a:r>
              <a:rPr lang="en-US" sz="2600" b="1" dirty="0">
                <a:solidFill>
                  <a:srgbClr val="B8E62E"/>
                </a:solidFill>
                <a:latin typeface="Epilogue" pitchFamily="34" charset="0"/>
                <a:ea typeface="Epilogue" pitchFamily="34" charset="-122"/>
                <a:cs typeface="Epilogue" pitchFamily="34" charset="-120"/>
              </a:rPr>
              <a:t>The task app for creative agencies.</a:t>
            </a:r>
            <a:endParaRPr lang="en-US" sz="2600" dirty="0"/>
          </a:p>
        </p:txBody>
      </p:sp>
      <p:sp>
        <p:nvSpPr>
          <p:cNvPr id="7" name="Text 3"/>
          <p:cNvSpPr txBox="1"/>
          <p:nvPr/>
        </p:nvSpPr>
        <p:spPr>
          <a:xfrm>
            <a:off x="685800" y="4069080"/>
            <a:ext cx="4375023" cy="73152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It handles the admin, so your team can do the work.</a:t>
            </a:r>
            <a:endParaRPr lang="en-US" sz="1800" dirty="0"/>
          </a:p>
        </p:txBody>
      </p:sp>
      <p:sp>
        <p:nvSpPr>
          <p:cNvPr id="8" name="Text 4"/>
          <p:cNvSpPr txBox="1"/>
          <p:nvPr/>
        </p:nvSpPr>
        <p:spPr>
          <a:xfrm>
            <a:off x="685800" y="6355080"/>
            <a:ext cx="36576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BODSTUDIO.COM</a:t>
            </a:r>
            <a:endParaRPr lang="en-US" sz="1000" dirty="0"/>
          </a:p>
        </p:txBody>
      </p:sp>
      <p:pic>
        <p:nvPicPr>
          <p:cNvPr id="9" name="Image 2" descr="/tmp/claude-0/-home-user-Claude-Works/c609e3f7-e17f-5f43-8424-4df30cb9a6a9/scratchpad/build/s/img/m_front_home_dark.png">    </p:cNvPr>
          <p:cNvPicPr>
            <a:picLocks noChangeAspect="1"/>
          </p:cNvPicPr>
          <p:nvPr/>
        </p:nvPicPr>
        <p:blipFill>
          <a:blip r:embed="rId3"/>
          <a:stretch>
            <a:fillRect/>
          </a:stretch>
        </p:blipFill>
        <p:spPr>
          <a:xfrm>
            <a:off x="8810125" y="640080"/>
            <a:ext cx="2695770" cy="5577840"/>
          </a:xfrm>
          <a:prstGeom prst="rect">
            <a:avLst/>
          </a:prstGeom>
        </p:spPr>
      </p:pic>
      <p:pic>
        <p:nvPicPr>
          <p:cNvPr id="10" name="Image 3" descr="/tmp/claude-0/-home-user-Claude-Works/c609e3f7-e17f-5f43-8424-4df30cb9a6a9/scratchpad/build/s/img/annan_waving.png">    </p:cNvPr>
          <p:cNvPicPr>
            <a:picLocks noChangeAspect="1"/>
          </p:cNvPicPr>
          <p:nvPr/>
        </p:nvPicPr>
        <p:blipFill>
          <a:blip r:embed="rId4"/>
          <a:stretch>
            <a:fillRect/>
          </a:stretch>
        </p:blipFill>
        <p:spPr>
          <a:xfrm>
            <a:off x="6633094" y="3749040"/>
            <a:ext cx="2451351" cy="2468880"/>
          </a:xfrm>
          <a:prstGeom prst="rect">
            <a:avLst/>
          </a:prstGeom>
        </p:spPr>
      </p:pic>
      <p:pic>
        <p:nvPicPr>
          <p:cNvPr id="11" name="Image 4" descr="preencoded.png">    </p:cNvPr>
          <p:cNvPicPr>
            <a:picLocks noChangeAspect="1"/>
          </p:cNvPicPr>
          <p:nvPr/>
        </p:nvPicPr>
        <p:blipFill>
          <a:blip r:embed="rId5"/>
          <a:stretch>
            <a:fillRect/>
          </a:stretch>
        </p:blipFill>
        <p:spPr>
          <a:xfrm>
            <a:off x="7052861" y="2692707"/>
            <a:ext cx="2340110" cy="1143000"/>
          </a:xfrm>
          <a:prstGeom prst="rect">
            <a:avLst/>
          </a:prstGeom>
        </p:spPr>
      </p:pic>
      <p:sp>
        <p:nvSpPr>
          <p:cNvPr id="12" name="Text 5"/>
          <p:cNvSpPr txBox="1"/>
          <p:nvPr/>
        </p:nvSpPr>
        <p:spPr>
          <a:xfrm>
            <a:off x="7372901" y="2912163"/>
            <a:ext cx="1718318"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Come in. Let me</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show you around.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annan_proud.png">    </p:cNvPr>
          <p:cNvPicPr>
            <a:picLocks noChangeAspect="1"/>
          </p:cNvPicPr>
          <p:nvPr/>
        </p:nvPicPr>
        <p:blipFill>
          <a:blip r:embed="rId1"/>
          <a:stretch>
            <a:fillRect/>
          </a:stretch>
        </p:blipFill>
        <p:spPr>
          <a:xfrm>
            <a:off x="8923282" y="3017520"/>
            <a:ext cx="2582613" cy="3108960"/>
          </a:xfrm>
          <a:prstGeom prst="rect">
            <a:avLst/>
          </a:prstGeom>
        </p:spPr>
      </p:pic>
      <p:pic>
        <p:nvPicPr>
          <p:cNvPr id="3" name="Image 1" descr="preencoded.png">    </p:cNvPr>
          <p:cNvPicPr>
            <a:picLocks noChangeAspect="1"/>
          </p:cNvPicPr>
          <p:nvPr/>
        </p:nvPicPr>
        <p:blipFill>
          <a:blip r:embed="rId2"/>
          <a:stretch>
            <a:fillRect/>
          </a:stretch>
        </p:blipFill>
        <p:spPr>
          <a:xfrm>
            <a:off x="9413013" y="1981285"/>
            <a:ext cx="2259723" cy="1143000"/>
          </a:xfrm>
          <a:prstGeom prst="rect">
            <a:avLst/>
          </a:prstGeom>
        </p:spPr>
      </p:pic>
      <p:sp>
        <p:nvSpPr>
          <p:cNvPr id="4" name="Text 0"/>
          <p:cNvSpPr txBox="1"/>
          <p:nvPr/>
        </p:nvSpPr>
        <p:spPr>
          <a:xfrm>
            <a:off x="9733053" y="2200741"/>
            <a:ext cx="1637931"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This part? You're</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good at this.</a:t>
            </a:r>
            <a:endParaRPr lang="en-US" sz="1500" dirty="0"/>
          </a:p>
        </p:txBody>
      </p:sp>
      <p:sp>
        <p:nvSpPr>
          <p:cNvPr id="5" name="Text 1"/>
          <p:cNvSpPr txBox="1"/>
          <p:nvPr/>
        </p:nvSpPr>
        <p:spPr>
          <a:xfrm>
            <a:off x="685800" y="3337560"/>
            <a:ext cx="5295748" cy="731520"/>
          </a:xfrm>
          <a:prstGeom prst="rect">
            <a:avLst/>
          </a:prstGeom>
          <a:noFill/>
          <a:ln/>
        </p:spPr>
        <p:txBody>
          <a:bodyPr wrap="square" lIns="0" tIns="0" rIns="0" bIns="0" rtlCol="0" anchor="t"/>
          <a:lstStyle/>
          <a:p>
            <a:pPr indent="0" marL="0">
              <a:lnSpc>
                <a:spcPct val="125000"/>
              </a:lnSpc>
              <a:buNone/>
            </a:pPr>
            <a:r>
              <a:rPr lang="en-US" sz="2000" dirty="0">
                <a:solidFill>
                  <a:srgbClr val="9AA7A2"/>
                </a:solidFill>
                <a:latin typeface="Manrope" pitchFamily="34" charset="0"/>
                <a:ea typeface="Manrope" pitchFamily="34" charset="-122"/>
                <a:cs typeface="Manrope" pitchFamily="34" charset="-120"/>
              </a:rPr>
              <a:t>The ideas, the shoots, the late edits that finally click.</a:t>
            </a:r>
            <a:endParaRPr lang="en-US" sz="2000" dirty="0"/>
          </a:p>
        </p:txBody>
      </p:sp>
      <p:sp>
        <p:nvSpPr>
          <p:cNvPr id="6" name="Text 2"/>
          <p:cNvSpPr txBox="1"/>
          <p:nvPr/>
        </p:nvSpPr>
        <p:spPr>
          <a:xfrm>
            <a:off x="685800" y="1463040"/>
            <a:ext cx="7137197" cy="1737360"/>
          </a:xfrm>
          <a:prstGeom prst="rect">
            <a:avLst/>
          </a:prstGeom>
          <a:noFill/>
          <a:ln/>
        </p:spPr>
        <p:txBody>
          <a:bodyPr wrap="square" lIns="0" tIns="0" rIns="0" bIns="0" rtlCol="0" anchor="t"/>
          <a:lstStyle/>
          <a:p>
            <a:pPr indent="0" marL="0">
              <a:lnSpc>
                <a:spcPct val="100000"/>
              </a:lnSpc>
              <a:buNone/>
            </a:pPr>
            <a:r>
              <a:rPr lang="en-US" sz="5600" b="1" dirty="0">
                <a:solidFill>
                  <a:srgbClr val="F4F6F5"/>
                </a:solidFill>
                <a:latin typeface="Epilogue" pitchFamily="34" charset="0"/>
                <a:ea typeface="Epilogue" pitchFamily="34" charset="-122"/>
                <a:cs typeface="Epilogue" pitchFamily="34" charset="-120"/>
              </a:rPr>
              <a:t>We all love</a:t>
            </a:r>
            <a:endParaRPr lang="en-US" sz="5600" dirty="0"/>
          </a:p>
          <a:p>
            <a:pPr indent="0" marL="0">
              <a:lnSpc>
                <a:spcPct val="100000"/>
              </a:lnSpc>
              <a:buNone/>
            </a:pPr>
            <a:r>
              <a:rPr lang="en-US" sz="5600" b="1" dirty="0">
                <a:solidFill>
                  <a:srgbClr val="F4F6F5"/>
                </a:solidFill>
                <a:latin typeface="Epilogue" pitchFamily="34" charset="0"/>
                <a:ea typeface="Epilogue" pitchFamily="34" charset="-122"/>
                <a:cs typeface="Epilogue" pitchFamily="34" charset="-120"/>
              </a:rPr>
              <a:t>the work.</a:t>
            </a:r>
            <a:endParaRPr lang="en-US" sz="5600" dirty="0"/>
          </a:p>
        </p:txBody>
      </p:sp>
      <p:sp>
        <p:nvSpPr>
          <p:cNvPr id="7" name="Text 3"/>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8" name="Text 4"/>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annan_listening.png">    </p:cNvPr>
          <p:cNvPicPr>
            <a:picLocks noChangeAspect="1"/>
          </p:cNvPicPr>
          <p:nvPr/>
        </p:nvPicPr>
        <p:blipFill>
          <a:blip r:embed="rId1"/>
          <a:stretch>
            <a:fillRect/>
          </a:stretch>
        </p:blipFill>
        <p:spPr>
          <a:xfrm>
            <a:off x="8681094" y="3017520"/>
            <a:ext cx="2824801" cy="3108960"/>
          </a:xfrm>
          <a:prstGeom prst="rect">
            <a:avLst/>
          </a:prstGeom>
        </p:spPr>
      </p:pic>
      <p:pic>
        <p:nvPicPr>
          <p:cNvPr id="3" name="Image 1" descr="preencoded.png">    </p:cNvPr>
          <p:cNvPicPr>
            <a:picLocks noChangeAspect="1"/>
          </p:cNvPicPr>
          <p:nvPr/>
        </p:nvPicPr>
        <p:blipFill>
          <a:blip r:embed="rId2"/>
          <a:stretch>
            <a:fillRect/>
          </a:stretch>
        </p:blipFill>
        <p:spPr>
          <a:xfrm>
            <a:off x="9058342" y="2214457"/>
            <a:ext cx="2712537" cy="909828"/>
          </a:xfrm>
          <a:prstGeom prst="rect">
            <a:avLst/>
          </a:prstGeom>
        </p:spPr>
      </p:pic>
      <p:sp>
        <p:nvSpPr>
          <p:cNvPr id="4" name="Text 0"/>
          <p:cNvSpPr txBox="1"/>
          <p:nvPr/>
        </p:nvSpPr>
        <p:spPr>
          <a:xfrm>
            <a:off x="9378382" y="2433913"/>
            <a:ext cx="2090745" cy="233172"/>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And this part… I know.</a:t>
            </a:r>
            <a:endParaRPr lang="en-US" sz="1500" dirty="0"/>
          </a:p>
        </p:txBody>
      </p:sp>
      <p:sp>
        <p:nvSpPr>
          <p:cNvPr id="5" name="Text 1"/>
          <p:cNvSpPr txBox="1"/>
          <p:nvPr/>
        </p:nvSpPr>
        <p:spPr>
          <a:xfrm>
            <a:off x="685800" y="1005840"/>
            <a:ext cx="7137197" cy="914400"/>
          </a:xfrm>
          <a:prstGeom prst="rect">
            <a:avLst/>
          </a:prstGeom>
          <a:noFill/>
          <a:ln/>
        </p:spPr>
        <p:txBody>
          <a:bodyPr wrap="square" lIns="0" tIns="0" rIns="0" bIns="0" rtlCol="0" anchor="t"/>
          <a:lstStyle/>
          <a:p>
            <a:pPr indent="0" marL="0">
              <a:buNone/>
            </a:pPr>
            <a:r>
              <a:rPr lang="en-US" sz="5600" b="1" dirty="0">
                <a:solidFill>
                  <a:srgbClr val="F4F6F5"/>
                </a:solidFill>
                <a:latin typeface="Epilogue" pitchFamily="34" charset="0"/>
                <a:ea typeface="Epilogue" pitchFamily="34" charset="-122"/>
                <a:cs typeface="Epilogue" pitchFamily="34" charset="-120"/>
              </a:rPr>
              <a:t>It's the rest of it.</a:t>
            </a:r>
            <a:endParaRPr lang="en-US" sz="5600" dirty="0"/>
          </a:p>
        </p:txBody>
      </p:sp>
      <p:sp>
        <p:nvSpPr>
          <p:cNvPr id="6" name="Text 2"/>
          <p:cNvSpPr txBox="1"/>
          <p:nvPr/>
        </p:nvSpPr>
        <p:spPr>
          <a:xfrm>
            <a:off x="685800" y="2240280"/>
            <a:ext cx="7137197" cy="502920"/>
          </a:xfrm>
          <a:prstGeom prst="rect">
            <a:avLst/>
          </a:prstGeom>
          <a:noFill/>
          <a:ln/>
        </p:spPr>
        <p:txBody>
          <a:bodyPr wrap="square" lIns="0" tIns="0" rIns="0" bIns="0" rtlCol="0" anchor="t"/>
          <a:lstStyle/>
          <a:p>
            <a:pPr indent="0" marL="0">
              <a:buNone/>
            </a:pPr>
            <a:r>
              <a:rPr lang="en-US" sz="2600" b="1" dirty="0">
                <a:solidFill>
                  <a:srgbClr val="F4F6F5"/>
                </a:solidFill>
                <a:latin typeface="Manrope" pitchFamily="34" charset="0"/>
                <a:ea typeface="Manrope" pitchFamily="34" charset="-122"/>
                <a:cs typeface="Manrope" pitchFamily="34" charset="-120"/>
              </a:rPr>
              <a:t>Updating the status, again.</a:t>
            </a:r>
            <a:endParaRPr lang="en-US" sz="2600" dirty="0"/>
          </a:p>
        </p:txBody>
      </p:sp>
      <p:sp>
        <p:nvSpPr>
          <p:cNvPr id="7" name="Text 3"/>
          <p:cNvSpPr txBox="1"/>
          <p:nvPr/>
        </p:nvSpPr>
        <p:spPr>
          <a:xfrm>
            <a:off x="685800" y="2898648"/>
            <a:ext cx="7137197" cy="502920"/>
          </a:xfrm>
          <a:prstGeom prst="rect">
            <a:avLst/>
          </a:prstGeom>
          <a:noFill/>
          <a:ln/>
        </p:spPr>
        <p:txBody>
          <a:bodyPr wrap="square" lIns="0" tIns="0" rIns="0" bIns="0" rtlCol="0" anchor="t"/>
          <a:lstStyle/>
          <a:p>
            <a:pPr indent="0" marL="0">
              <a:buNone/>
            </a:pPr>
            <a:r>
              <a:rPr lang="en-US" sz="2600" dirty="0">
                <a:solidFill>
                  <a:srgbClr val="C9D0CD"/>
                </a:solidFill>
                <a:latin typeface="Manrope" pitchFamily="34" charset="0"/>
                <a:ea typeface="Manrope" pitchFamily="34" charset="-122"/>
                <a:cs typeface="Manrope" pitchFamily="34" charset="-120"/>
              </a:rPr>
              <a:t>Chasing a reply from the client.</a:t>
            </a:r>
            <a:endParaRPr lang="en-US" sz="2600" dirty="0"/>
          </a:p>
        </p:txBody>
      </p:sp>
      <p:sp>
        <p:nvSpPr>
          <p:cNvPr id="8" name="Text 4"/>
          <p:cNvSpPr txBox="1"/>
          <p:nvPr/>
        </p:nvSpPr>
        <p:spPr>
          <a:xfrm>
            <a:off x="685800" y="3557016"/>
            <a:ext cx="7137197" cy="502920"/>
          </a:xfrm>
          <a:prstGeom prst="rect">
            <a:avLst/>
          </a:prstGeom>
          <a:noFill/>
          <a:ln/>
        </p:spPr>
        <p:txBody>
          <a:bodyPr wrap="square" lIns="0" tIns="0" rIns="0" bIns="0" rtlCol="0" anchor="t"/>
          <a:lstStyle/>
          <a:p>
            <a:pPr indent="0" marL="0">
              <a:buNone/>
            </a:pPr>
            <a:r>
              <a:rPr lang="en-US" sz="2600" dirty="0">
                <a:solidFill>
                  <a:srgbClr val="A3ACA8"/>
                </a:solidFill>
                <a:latin typeface="Manrope" pitchFamily="34" charset="0"/>
                <a:ea typeface="Manrope" pitchFamily="34" charset="-122"/>
                <a:cs typeface="Manrope" pitchFamily="34" charset="-120"/>
              </a:rPr>
              <a:t>“Where's that file?”</a:t>
            </a:r>
            <a:endParaRPr lang="en-US" sz="2600" dirty="0"/>
          </a:p>
        </p:txBody>
      </p:sp>
      <p:sp>
        <p:nvSpPr>
          <p:cNvPr id="9" name="Text 5"/>
          <p:cNvSpPr txBox="1"/>
          <p:nvPr/>
        </p:nvSpPr>
        <p:spPr>
          <a:xfrm>
            <a:off x="685800" y="4215384"/>
            <a:ext cx="7137197" cy="502920"/>
          </a:xfrm>
          <a:prstGeom prst="rect">
            <a:avLst/>
          </a:prstGeom>
          <a:noFill/>
          <a:ln/>
        </p:spPr>
        <p:txBody>
          <a:bodyPr wrap="square" lIns="0" tIns="0" rIns="0" bIns="0" rtlCol="0" anchor="t"/>
          <a:lstStyle/>
          <a:p>
            <a:pPr indent="0" marL="0">
              <a:buNone/>
            </a:pPr>
            <a:r>
              <a:rPr lang="en-US" sz="2600" dirty="0">
                <a:solidFill>
                  <a:srgbClr val="7F8A86"/>
                </a:solidFill>
                <a:latin typeface="Manrope" pitchFamily="34" charset="0"/>
                <a:ea typeface="Manrope" pitchFamily="34" charset="-122"/>
                <a:cs typeface="Manrope" pitchFamily="34" charset="-120"/>
              </a:rPr>
              <a:t>The morning standup.</a:t>
            </a:r>
            <a:endParaRPr lang="en-US" sz="2600" dirty="0"/>
          </a:p>
        </p:txBody>
      </p:sp>
      <p:sp>
        <p:nvSpPr>
          <p:cNvPr id="10" name="Text 6"/>
          <p:cNvSpPr txBox="1"/>
          <p:nvPr/>
        </p:nvSpPr>
        <p:spPr>
          <a:xfrm>
            <a:off x="685800" y="4873752"/>
            <a:ext cx="7137197" cy="502920"/>
          </a:xfrm>
          <a:prstGeom prst="rect">
            <a:avLst/>
          </a:prstGeom>
          <a:noFill/>
          <a:ln/>
        </p:spPr>
        <p:txBody>
          <a:bodyPr wrap="square" lIns="0" tIns="0" rIns="0" bIns="0" rtlCol="0" anchor="t"/>
          <a:lstStyle/>
          <a:p>
            <a:pPr indent="0" marL="0">
              <a:buNone/>
            </a:pPr>
            <a:r>
              <a:rPr lang="en-US" sz="2600" dirty="0">
                <a:solidFill>
                  <a:srgbClr val="5E6864"/>
                </a:solidFill>
                <a:latin typeface="Manrope" pitchFamily="34" charset="0"/>
                <a:ea typeface="Manrope" pitchFamily="34" charset="-122"/>
                <a:cs typeface="Manrope" pitchFamily="34" charset="-120"/>
              </a:rPr>
              <a:t>Working out what to bill.</a:t>
            </a:r>
            <a:endParaRPr lang="en-US" sz="2600" dirty="0"/>
          </a:p>
        </p:txBody>
      </p:sp>
      <p:sp>
        <p:nvSpPr>
          <p:cNvPr id="11" name="Text 7"/>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12" name="Text 8"/>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6949440" y="-731520"/>
            <a:ext cx="6583680" cy="6583680"/>
          </a:xfrm>
          <a:prstGeom prst="rect">
            <a:avLst/>
          </a:prstGeom>
        </p:spPr>
      </p:pic>
      <p:sp>
        <p:nvSpPr>
          <p:cNvPr id="3" name="Text 0"/>
          <p:cNvSpPr txBox="1"/>
          <p:nvPr/>
        </p:nvSpPr>
        <p:spPr>
          <a:xfrm>
            <a:off x="685800" y="640080"/>
            <a:ext cx="36576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MEET BOD APP</a:t>
            </a:r>
            <a:endParaRPr lang="en-US" sz="1000" dirty="0"/>
          </a:p>
        </p:txBody>
      </p:sp>
      <p:sp>
        <p:nvSpPr>
          <p:cNvPr id="4" name="Text 1"/>
          <p:cNvSpPr txBox="1"/>
          <p:nvPr/>
        </p:nvSpPr>
        <p:spPr>
          <a:xfrm>
            <a:off x="685800" y="1005840"/>
            <a:ext cx="6216472"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So we built</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Bod App.</a:t>
            </a:r>
            <a:endParaRPr lang="en-US" sz="4400" dirty="0"/>
          </a:p>
        </p:txBody>
      </p:sp>
      <p:sp>
        <p:nvSpPr>
          <p:cNvPr id="5" name="Text 2"/>
          <p:cNvSpPr txBox="1"/>
          <p:nvPr/>
        </p:nvSpPr>
        <p:spPr>
          <a:xfrm>
            <a:off x="685800" y="2468880"/>
            <a:ext cx="4375023" cy="82296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A task app that takes care of the rest. Made for our own studio first.</a:t>
            </a:r>
            <a:endParaRPr lang="en-US" sz="1800" dirty="0"/>
          </a:p>
        </p:txBody>
      </p:sp>
      <p:pic>
        <p:nvPicPr>
          <p:cNvPr id="6" name="Image 1" descr="/tmp/claude-0/-home-user-Claude-Works/c609e3f7-e17f-5f43-8424-4df30cb9a6a9/scratchpad/build/s/img/annan_waving.png">    </p:cNvPr>
          <p:cNvPicPr>
            <a:picLocks noChangeAspect="1"/>
          </p:cNvPicPr>
          <p:nvPr/>
        </p:nvPicPr>
        <p:blipFill>
          <a:blip r:embed="rId2"/>
          <a:stretch>
            <a:fillRect/>
          </a:stretch>
        </p:blipFill>
        <p:spPr>
          <a:xfrm>
            <a:off x="594360" y="4526280"/>
            <a:ext cx="1634234" cy="1645920"/>
          </a:xfrm>
          <a:prstGeom prst="rect">
            <a:avLst/>
          </a:prstGeom>
        </p:spPr>
      </p:pic>
      <p:pic>
        <p:nvPicPr>
          <p:cNvPr id="7" name="Image 2" descr="preencoded.png">    </p:cNvPr>
          <p:cNvPicPr>
            <a:picLocks noChangeAspect="1"/>
          </p:cNvPicPr>
          <p:nvPr/>
        </p:nvPicPr>
        <p:blipFill>
          <a:blip r:embed="rId3"/>
          <a:stretch>
            <a:fillRect/>
          </a:stretch>
        </p:blipFill>
        <p:spPr>
          <a:xfrm>
            <a:off x="424669" y="3444106"/>
            <a:ext cx="2638441" cy="1143000"/>
          </a:xfrm>
          <a:prstGeom prst="rect">
            <a:avLst/>
          </a:prstGeom>
        </p:spPr>
      </p:pic>
      <p:sp>
        <p:nvSpPr>
          <p:cNvPr id="8" name="Text 3"/>
          <p:cNvSpPr txBox="1"/>
          <p:nvPr/>
        </p:nvSpPr>
        <p:spPr>
          <a:xfrm>
            <a:off x="744709" y="3663562"/>
            <a:ext cx="2016649"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I'm Bod Annan.</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Leave the rest to me.</a:t>
            </a:r>
            <a:endParaRPr lang="en-US" sz="1500" dirty="0"/>
          </a:p>
        </p:txBody>
      </p:sp>
      <p:pic>
        <p:nvPicPr>
          <p:cNvPr id="9" name="Image 3" descr="/tmp/claude-0/-home-user-Claude-Works/c609e3f7-e17f-5f43-8424-4df30cb9a6a9/scratchpad/build/s/img/m_angL_tasks_dark.png">    </p:cNvPr>
          <p:cNvPicPr>
            <a:picLocks noChangeAspect="1"/>
          </p:cNvPicPr>
          <p:nvPr/>
        </p:nvPicPr>
        <p:blipFill>
          <a:blip r:embed="rId4"/>
          <a:stretch>
            <a:fillRect/>
          </a:stretch>
        </p:blipFill>
        <p:spPr>
          <a:xfrm>
            <a:off x="7039432" y="731520"/>
            <a:ext cx="2319650" cy="5486400"/>
          </a:xfrm>
          <a:prstGeom prst="rect">
            <a:avLst/>
          </a:prstGeom>
        </p:spPr>
      </p:pic>
      <p:pic>
        <p:nvPicPr>
          <p:cNvPr id="10" name="Image 4" descr="/tmp/claude-0/-home-user-Claude-Works/c609e3f7-e17f-5f43-8424-4df30cb9a6a9/scratchpad/build/s/img/m_angR_focus_light.png">    </p:cNvPr>
          <p:cNvPicPr>
            <a:picLocks noChangeAspect="1"/>
          </p:cNvPicPr>
          <p:nvPr/>
        </p:nvPicPr>
        <p:blipFill>
          <a:blip r:embed="rId5"/>
          <a:stretch>
            <a:fillRect/>
          </a:stretch>
        </p:blipFill>
        <p:spPr>
          <a:xfrm>
            <a:off x="9045976" y="960120"/>
            <a:ext cx="2338596" cy="5120640"/>
          </a:xfrm>
          <a:prstGeom prst="rect">
            <a:avLst/>
          </a:prstGeom>
        </p:spPr>
      </p:pic>
      <p:sp>
        <p:nvSpPr>
          <p:cNvPr id="11" name="Text 4"/>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12" name="Text 5"/>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5667832" y="-548640"/>
            <a:ext cx="6949440" cy="6949440"/>
          </a:xfrm>
          <a:prstGeom prst="rect">
            <a:avLst/>
          </a:prstGeom>
        </p:spPr>
      </p:pic>
      <p:sp>
        <p:nvSpPr>
          <p:cNvPr id="3" name="Text 0"/>
          <p:cNvSpPr txBox="1"/>
          <p:nvPr/>
        </p:nvSpPr>
        <p:spPr>
          <a:xfrm>
            <a:off x="685800" y="640080"/>
            <a:ext cx="45720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FOCUS QUEUE</a:t>
            </a:r>
            <a:endParaRPr lang="en-US" sz="1000" dirty="0"/>
          </a:p>
        </p:txBody>
      </p:sp>
      <p:sp>
        <p:nvSpPr>
          <p:cNvPr id="4" name="Text 1"/>
          <p:cNvSpPr txBox="1"/>
          <p:nvPr/>
        </p:nvSpPr>
        <p:spPr>
          <a:xfrm>
            <a:off x="685800" y="1005840"/>
            <a:ext cx="5295748"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Your day,</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already sorted.</a:t>
            </a:r>
            <a:endParaRPr lang="en-US" sz="4400" dirty="0"/>
          </a:p>
        </p:txBody>
      </p:sp>
      <p:sp>
        <p:nvSpPr>
          <p:cNvPr id="5" name="Text 2"/>
          <p:cNvSpPr txBox="1"/>
          <p:nvPr/>
        </p:nvSpPr>
        <p:spPr>
          <a:xfrm>
            <a:off x="685800" y="2468880"/>
            <a:ext cx="4375023" cy="91440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Overdue first, then what's due. Anything stuck waits at the bottom.</a:t>
            </a:r>
            <a:endParaRPr lang="en-US" sz="1800" dirty="0"/>
          </a:p>
        </p:txBody>
      </p:sp>
      <p:pic>
        <p:nvPicPr>
          <p:cNvPr id="6" name="Image 1" descr="/tmp/claude-0/-home-user-Claude-Works/c609e3f7-e17f-5f43-8424-4df30cb9a6a9/scratchpad/build/s/img/annan_pointing.png">    </p:cNvPr>
          <p:cNvPicPr>
            <a:picLocks noChangeAspect="1"/>
          </p:cNvPicPr>
          <p:nvPr/>
        </p:nvPicPr>
        <p:blipFill>
          <a:blip r:embed="rId2"/>
          <a:stretch>
            <a:fillRect/>
          </a:stretch>
        </p:blipFill>
        <p:spPr>
          <a:xfrm>
            <a:off x="594360" y="4526280"/>
            <a:ext cx="1635386" cy="1645920"/>
          </a:xfrm>
          <a:prstGeom prst="rect">
            <a:avLst/>
          </a:prstGeom>
        </p:spPr>
      </p:pic>
      <p:pic>
        <p:nvPicPr>
          <p:cNvPr id="7" name="Image 2" descr="preencoded.png">    </p:cNvPr>
          <p:cNvPicPr>
            <a:picLocks noChangeAspect="1"/>
          </p:cNvPicPr>
          <p:nvPr/>
        </p:nvPicPr>
        <p:blipFill>
          <a:blip r:embed="rId3"/>
          <a:stretch>
            <a:fillRect/>
          </a:stretch>
        </p:blipFill>
        <p:spPr>
          <a:xfrm>
            <a:off x="478890" y="3444106"/>
            <a:ext cx="2455938" cy="1143000"/>
          </a:xfrm>
          <a:prstGeom prst="rect">
            <a:avLst/>
          </a:prstGeom>
        </p:spPr>
      </p:pic>
      <p:sp>
        <p:nvSpPr>
          <p:cNvPr id="8" name="Text 3"/>
          <p:cNvSpPr txBox="1"/>
          <p:nvPr/>
        </p:nvSpPr>
        <p:spPr>
          <a:xfrm>
            <a:off x="798930" y="3663562"/>
            <a:ext cx="1834146"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Start with the</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reel. It's due today.</a:t>
            </a:r>
            <a:endParaRPr lang="en-US" sz="1500" dirty="0"/>
          </a:p>
        </p:txBody>
      </p:sp>
      <p:pic>
        <p:nvPicPr>
          <p:cNvPr id="9" name="Image 3" descr="/tmp/claude-0/-home-user-Claude-Works/c609e3f7-e17f-5f43-8424-4df30cb9a6a9/scratchpad/build/s/img/m_front_focus_light.png">    </p:cNvPr>
          <p:cNvPicPr>
            <a:picLocks noChangeAspect="1"/>
          </p:cNvPicPr>
          <p:nvPr/>
        </p:nvPicPr>
        <p:blipFill>
          <a:blip r:embed="rId4"/>
          <a:stretch>
            <a:fillRect/>
          </a:stretch>
        </p:blipFill>
        <p:spPr>
          <a:xfrm>
            <a:off x="9163669" y="1325880"/>
            <a:ext cx="2342226" cy="4846320"/>
          </a:xfrm>
          <a:prstGeom prst="rect">
            <a:avLst/>
          </a:prstGeom>
        </p:spPr>
      </p:pic>
      <p:pic>
        <p:nvPicPr>
          <p:cNvPr id="10" name="Image 4" descr="/tmp/claude-0/-home-user-Claude-Works/c609e3f7-e17f-5f43-8424-4df30cb9a6a9/scratchpad/build/s/img/m_front_focus_dark.png">    </p:cNvPr>
          <p:cNvPicPr>
            <a:picLocks noChangeAspect="1"/>
          </p:cNvPicPr>
          <p:nvPr/>
        </p:nvPicPr>
        <p:blipFill>
          <a:blip r:embed="rId5"/>
          <a:stretch>
            <a:fillRect/>
          </a:stretch>
        </p:blipFill>
        <p:spPr>
          <a:xfrm>
            <a:off x="7130872" y="685800"/>
            <a:ext cx="2651577" cy="5486400"/>
          </a:xfrm>
          <a:prstGeom prst="rect">
            <a:avLst/>
          </a:prstGeom>
        </p:spPr>
      </p:pic>
      <p:sp>
        <p:nvSpPr>
          <p:cNvPr id="11" name="Text 4"/>
          <p:cNvSpPr txBox="1"/>
          <p:nvPr/>
        </p:nvSpPr>
        <p:spPr>
          <a:xfrm>
            <a:off x="7130872" y="6355080"/>
            <a:ext cx="265157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DARK THEME</a:t>
            </a:r>
            <a:endParaRPr lang="en-US" sz="1000" dirty="0"/>
          </a:p>
        </p:txBody>
      </p:sp>
      <p:sp>
        <p:nvSpPr>
          <p:cNvPr id="12" name="Text 5"/>
          <p:cNvSpPr txBox="1"/>
          <p:nvPr/>
        </p:nvSpPr>
        <p:spPr>
          <a:xfrm>
            <a:off x="9782449" y="6355080"/>
            <a:ext cx="1723446"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LIGHT THEME</a:t>
            </a:r>
            <a:endParaRPr lang="en-US" sz="1000" dirty="0"/>
          </a:p>
        </p:txBody>
      </p:sp>
      <p:sp>
        <p:nvSpPr>
          <p:cNvPr id="13" name="Text 6"/>
          <p:cNvSpPr txBox="1"/>
          <p:nvPr/>
        </p:nvSpPr>
        <p:spPr>
          <a:xfrm>
            <a:off x="685800" y="6355080"/>
            <a:ext cx="50292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5667832" y="-548640"/>
            <a:ext cx="6949440" cy="6949440"/>
          </a:xfrm>
          <a:prstGeom prst="rect">
            <a:avLst/>
          </a:prstGeom>
        </p:spPr>
      </p:pic>
      <p:sp>
        <p:nvSpPr>
          <p:cNvPr id="3" name="Text 0"/>
          <p:cNvSpPr txBox="1"/>
          <p:nvPr/>
        </p:nvSpPr>
        <p:spPr>
          <a:xfrm>
            <a:off x="685800" y="640080"/>
            <a:ext cx="45720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AI CAPTURE</a:t>
            </a:r>
            <a:endParaRPr lang="en-US" sz="1000" dirty="0"/>
          </a:p>
        </p:txBody>
      </p:sp>
      <p:sp>
        <p:nvSpPr>
          <p:cNvPr id="4" name="Text 1"/>
          <p:cNvSpPr txBox="1"/>
          <p:nvPr/>
        </p:nvSpPr>
        <p:spPr>
          <a:xfrm>
            <a:off x="685800" y="1005840"/>
            <a:ext cx="5295748"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Just say what</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needs doing.</a:t>
            </a:r>
            <a:endParaRPr lang="en-US" sz="4400" dirty="0"/>
          </a:p>
        </p:txBody>
      </p:sp>
      <p:sp>
        <p:nvSpPr>
          <p:cNvPr id="5" name="Text 2"/>
          <p:cNvSpPr txBox="1"/>
          <p:nvPr/>
        </p:nvSpPr>
        <p:spPr>
          <a:xfrm>
            <a:off x="685800" y="2468880"/>
            <a:ext cx="4375023" cy="91440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Say it or type it. It becomes a task, with who, what and when filled in.</a:t>
            </a:r>
            <a:endParaRPr lang="en-US" sz="1800" dirty="0"/>
          </a:p>
        </p:txBody>
      </p:sp>
      <p:pic>
        <p:nvPicPr>
          <p:cNvPr id="6" name="Image 1" descr="/tmp/claude-0/-home-user-Claude-Works/c609e3f7-e17f-5f43-8424-4df30cb9a6a9/scratchpad/build/s/img/annan_listening.png">    </p:cNvPr>
          <p:cNvPicPr>
            <a:picLocks noChangeAspect="1"/>
          </p:cNvPicPr>
          <p:nvPr/>
        </p:nvPicPr>
        <p:blipFill>
          <a:blip r:embed="rId2"/>
          <a:stretch>
            <a:fillRect/>
          </a:stretch>
        </p:blipFill>
        <p:spPr>
          <a:xfrm>
            <a:off x="594360" y="4526280"/>
            <a:ext cx="1495483" cy="1645920"/>
          </a:xfrm>
          <a:prstGeom prst="rect">
            <a:avLst/>
          </a:prstGeom>
        </p:spPr>
      </p:pic>
      <p:pic>
        <p:nvPicPr>
          <p:cNvPr id="7" name="Image 2" descr="preencoded.png">    </p:cNvPr>
          <p:cNvPicPr>
            <a:picLocks noChangeAspect="1"/>
          </p:cNvPicPr>
          <p:nvPr/>
        </p:nvPicPr>
        <p:blipFill>
          <a:blip r:embed="rId3"/>
          <a:stretch>
            <a:fillRect/>
          </a:stretch>
        </p:blipFill>
        <p:spPr>
          <a:xfrm>
            <a:off x="610154" y="3444106"/>
            <a:ext cx="2020447" cy="1143000"/>
          </a:xfrm>
          <a:prstGeom prst="rect">
            <a:avLst/>
          </a:prstGeom>
        </p:spPr>
      </p:pic>
      <p:sp>
        <p:nvSpPr>
          <p:cNvPr id="8" name="Text 3"/>
          <p:cNvSpPr txBox="1"/>
          <p:nvPr/>
        </p:nvSpPr>
        <p:spPr>
          <a:xfrm>
            <a:off x="930194" y="3663562"/>
            <a:ext cx="1398655"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Heard you. It's</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on Priya's list.</a:t>
            </a:r>
            <a:endParaRPr lang="en-US" sz="1500" dirty="0"/>
          </a:p>
        </p:txBody>
      </p:sp>
      <p:pic>
        <p:nvPicPr>
          <p:cNvPr id="9" name="Image 3" descr="/tmp/claude-0/-home-user-Claude-Works/c609e3f7-e17f-5f43-8424-4df30cb9a6a9/scratchpad/build/s/img/m_front_ai_light.png">    </p:cNvPr>
          <p:cNvPicPr>
            <a:picLocks noChangeAspect="1"/>
          </p:cNvPicPr>
          <p:nvPr/>
        </p:nvPicPr>
        <p:blipFill>
          <a:blip r:embed="rId4"/>
          <a:stretch>
            <a:fillRect/>
          </a:stretch>
        </p:blipFill>
        <p:spPr>
          <a:xfrm>
            <a:off x="9163669" y="1325880"/>
            <a:ext cx="2342226" cy="4846320"/>
          </a:xfrm>
          <a:prstGeom prst="rect">
            <a:avLst/>
          </a:prstGeom>
        </p:spPr>
      </p:pic>
      <p:pic>
        <p:nvPicPr>
          <p:cNvPr id="10" name="Image 4" descr="/tmp/claude-0/-home-user-Claude-Works/c609e3f7-e17f-5f43-8424-4df30cb9a6a9/scratchpad/build/s/img/m_front_ai_dark.png">    </p:cNvPr>
          <p:cNvPicPr>
            <a:picLocks noChangeAspect="1"/>
          </p:cNvPicPr>
          <p:nvPr/>
        </p:nvPicPr>
        <p:blipFill>
          <a:blip r:embed="rId5"/>
          <a:stretch>
            <a:fillRect/>
          </a:stretch>
        </p:blipFill>
        <p:spPr>
          <a:xfrm>
            <a:off x="7130872" y="685800"/>
            <a:ext cx="2651577" cy="5486400"/>
          </a:xfrm>
          <a:prstGeom prst="rect">
            <a:avLst/>
          </a:prstGeom>
        </p:spPr>
      </p:pic>
      <p:sp>
        <p:nvSpPr>
          <p:cNvPr id="11" name="Text 4"/>
          <p:cNvSpPr txBox="1"/>
          <p:nvPr/>
        </p:nvSpPr>
        <p:spPr>
          <a:xfrm>
            <a:off x="7130872" y="6355080"/>
            <a:ext cx="265157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DARK THEME</a:t>
            </a:r>
            <a:endParaRPr lang="en-US" sz="1000" dirty="0"/>
          </a:p>
        </p:txBody>
      </p:sp>
      <p:sp>
        <p:nvSpPr>
          <p:cNvPr id="12" name="Text 5"/>
          <p:cNvSpPr txBox="1"/>
          <p:nvPr/>
        </p:nvSpPr>
        <p:spPr>
          <a:xfrm>
            <a:off x="9782449" y="6355080"/>
            <a:ext cx="1723446"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LIGHT THEME</a:t>
            </a:r>
            <a:endParaRPr lang="en-US" sz="1000" dirty="0"/>
          </a:p>
        </p:txBody>
      </p:sp>
      <p:sp>
        <p:nvSpPr>
          <p:cNvPr id="13" name="Text 6"/>
          <p:cNvSpPr txBox="1"/>
          <p:nvPr/>
        </p:nvSpPr>
        <p:spPr>
          <a:xfrm>
            <a:off x="685800" y="6355080"/>
            <a:ext cx="50292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5667832" y="-548640"/>
            <a:ext cx="6949440" cy="6949440"/>
          </a:xfrm>
          <a:prstGeom prst="rect">
            <a:avLst/>
          </a:prstGeom>
        </p:spPr>
      </p:pic>
      <p:sp>
        <p:nvSpPr>
          <p:cNvPr id="3" name="Text 0"/>
          <p:cNvSpPr txBox="1"/>
          <p:nvPr/>
        </p:nvSpPr>
        <p:spPr>
          <a:xfrm>
            <a:off x="685800" y="640080"/>
            <a:ext cx="45720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FOLLOW-UPS</a:t>
            </a:r>
            <a:endParaRPr lang="en-US" sz="1000" dirty="0"/>
          </a:p>
        </p:txBody>
      </p:sp>
      <p:sp>
        <p:nvSpPr>
          <p:cNvPr id="4" name="Text 1"/>
          <p:cNvSpPr txBox="1"/>
          <p:nvPr/>
        </p:nvSpPr>
        <p:spPr>
          <a:xfrm>
            <a:off x="685800" y="1005840"/>
            <a:ext cx="5295748"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The client's</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gone quiet.</a:t>
            </a:r>
            <a:endParaRPr lang="en-US" sz="4400" dirty="0"/>
          </a:p>
        </p:txBody>
      </p:sp>
      <p:sp>
        <p:nvSpPr>
          <p:cNvPr id="5" name="Text 2"/>
          <p:cNvSpPr txBox="1"/>
          <p:nvPr/>
        </p:nvSpPr>
        <p:spPr>
          <a:xfrm>
            <a:off x="685800" y="2468880"/>
            <a:ext cx="4375023" cy="91440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Bod App notices, and drafts the follow-up for you. You just send it.</a:t>
            </a:r>
            <a:endParaRPr lang="en-US" sz="1800" dirty="0"/>
          </a:p>
        </p:txBody>
      </p:sp>
      <p:pic>
        <p:nvPicPr>
          <p:cNvPr id="6" name="Image 1" descr="/tmp/claude-0/-home-user-Claude-Works/c609e3f7-e17f-5f43-8424-4df30cb9a6a9/scratchpad/build/s/img/annan_pointing.png">    </p:cNvPr>
          <p:cNvPicPr>
            <a:picLocks noChangeAspect="1"/>
          </p:cNvPicPr>
          <p:nvPr/>
        </p:nvPicPr>
        <p:blipFill>
          <a:blip r:embed="rId2"/>
          <a:stretch>
            <a:fillRect/>
          </a:stretch>
        </p:blipFill>
        <p:spPr>
          <a:xfrm>
            <a:off x="594360" y="4526280"/>
            <a:ext cx="1635386" cy="1645920"/>
          </a:xfrm>
          <a:prstGeom prst="rect">
            <a:avLst/>
          </a:prstGeom>
        </p:spPr>
      </p:pic>
      <p:pic>
        <p:nvPicPr>
          <p:cNvPr id="7" name="Image 2" descr="preencoded.png">    </p:cNvPr>
          <p:cNvPicPr>
            <a:picLocks noChangeAspect="1"/>
          </p:cNvPicPr>
          <p:nvPr/>
        </p:nvPicPr>
        <p:blipFill>
          <a:blip r:embed="rId3"/>
          <a:stretch>
            <a:fillRect/>
          </a:stretch>
        </p:blipFill>
        <p:spPr>
          <a:xfrm>
            <a:off x="313268" y="3444106"/>
            <a:ext cx="3008011" cy="1143000"/>
          </a:xfrm>
          <a:prstGeom prst="rect">
            <a:avLst/>
          </a:prstGeom>
        </p:spPr>
      </p:pic>
      <p:sp>
        <p:nvSpPr>
          <p:cNvPr id="8" name="Text 3"/>
          <p:cNvSpPr txBox="1"/>
          <p:nvPr/>
        </p:nvSpPr>
        <p:spPr>
          <a:xfrm>
            <a:off x="633308" y="3663562"/>
            <a:ext cx="2386219"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No reply yet? I've written</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the follow-up for you.</a:t>
            </a:r>
            <a:endParaRPr lang="en-US" sz="1500" dirty="0"/>
          </a:p>
        </p:txBody>
      </p:sp>
      <p:pic>
        <p:nvPicPr>
          <p:cNvPr id="9" name="Image 3" descr="/tmp/claude-0/-home-user-Claude-Works/c609e3f7-e17f-5f43-8424-4df30cb9a6a9/scratchpad/build/s/img/m_front_nudge_light.png">    </p:cNvPr>
          <p:cNvPicPr>
            <a:picLocks noChangeAspect="1"/>
          </p:cNvPicPr>
          <p:nvPr/>
        </p:nvPicPr>
        <p:blipFill>
          <a:blip r:embed="rId4"/>
          <a:stretch>
            <a:fillRect/>
          </a:stretch>
        </p:blipFill>
        <p:spPr>
          <a:xfrm>
            <a:off x="9163669" y="1325880"/>
            <a:ext cx="2342226" cy="4846320"/>
          </a:xfrm>
          <a:prstGeom prst="rect">
            <a:avLst/>
          </a:prstGeom>
        </p:spPr>
      </p:pic>
      <p:pic>
        <p:nvPicPr>
          <p:cNvPr id="10" name="Image 4" descr="/tmp/claude-0/-home-user-Claude-Works/c609e3f7-e17f-5f43-8424-4df30cb9a6a9/scratchpad/build/s/img/m_front_nudge_dark.png">    </p:cNvPr>
          <p:cNvPicPr>
            <a:picLocks noChangeAspect="1"/>
          </p:cNvPicPr>
          <p:nvPr/>
        </p:nvPicPr>
        <p:blipFill>
          <a:blip r:embed="rId5"/>
          <a:stretch>
            <a:fillRect/>
          </a:stretch>
        </p:blipFill>
        <p:spPr>
          <a:xfrm>
            <a:off x="7130872" y="685800"/>
            <a:ext cx="2651577" cy="5486400"/>
          </a:xfrm>
          <a:prstGeom prst="rect">
            <a:avLst/>
          </a:prstGeom>
        </p:spPr>
      </p:pic>
      <p:sp>
        <p:nvSpPr>
          <p:cNvPr id="11" name="Text 4"/>
          <p:cNvSpPr txBox="1"/>
          <p:nvPr/>
        </p:nvSpPr>
        <p:spPr>
          <a:xfrm>
            <a:off x="7130872" y="6355080"/>
            <a:ext cx="265157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DARK THEME</a:t>
            </a:r>
            <a:endParaRPr lang="en-US" sz="1000" dirty="0"/>
          </a:p>
        </p:txBody>
      </p:sp>
      <p:sp>
        <p:nvSpPr>
          <p:cNvPr id="12" name="Text 5"/>
          <p:cNvSpPr txBox="1"/>
          <p:nvPr/>
        </p:nvSpPr>
        <p:spPr>
          <a:xfrm>
            <a:off x="9782449" y="6355080"/>
            <a:ext cx="1723446"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LIGHT THEME</a:t>
            </a:r>
            <a:endParaRPr lang="en-US" sz="1000" dirty="0"/>
          </a:p>
        </p:txBody>
      </p:sp>
      <p:sp>
        <p:nvSpPr>
          <p:cNvPr id="13" name="Text 6"/>
          <p:cNvSpPr txBox="1"/>
          <p:nvPr/>
        </p:nvSpPr>
        <p:spPr>
          <a:xfrm>
            <a:off x="685800" y="6355080"/>
            <a:ext cx="50292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5667832" y="-548640"/>
            <a:ext cx="6949440" cy="6949440"/>
          </a:xfrm>
          <a:prstGeom prst="rect">
            <a:avLst/>
          </a:prstGeom>
        </p:spPr>
      </p:pic>
      <p:sp>
        <p:nvSpPr>
          <p:cNvPr id="3" name="Text 0"/>
          <p:cNvSpPr txBox="1"/>
          <p:nvPr/>
        </p:nvSpPr>
        <p:spPr>
          <a:xfrm>
            <a:off x="685800" y="640080"/>
            <a:ext cx="45720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STANDUP</a:t>
            </a:r>
            <a:endParaRPr lang="en-US" sz="1000" dirty="0"/>
          </a:p>
        </p:txBody>
      </p:sp>
      <p:sp>
        <p:nvSpPr>
          <p:cNvPr id="4" name="Text 1"/>
          <p:cNvSpPr txBox="1"/>
          <p:nvPr/>
        </p:nvSpPr>
        <p:spPr>
          <a:xfrm>
            <a:off x="685800" y="1005840"/>
            <a:ext cx="5295748"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The standup</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writes itself.</a:t>
            </a:r>
            <a:endParaRPr lang="en-US" sz="4400" dirty="0"/>
          </a:p>
        </p:txBody>
      </p:sp>
      <p:sp>
        <p:nvSpPr>
          <p:cNvPr id="5" name="Text 2"/>
          <p:cNvSpPr txBox="1"/>
          <p:nvPr/>
        </p:nvSpPr>
        <p:spPr>
          <a:xfrm>
            <a:off x="685800" y="2468880"/>
            <a:ext cx="4375023" cy="91440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What got done, what's moving and what's stuck. Read it, send it, go home.</a:t>
            </a:r>
            <a:endParaRPr lang="en-US" sz="1800" dirty="0"/>
          </a:p>
        </p:txBody>
      </p:sp>
      <p:pic>
        <p:nvPicPr>
          <p:cNvPr id="6" name="Image 1" descr="/tmp/claude-0/-home-user-Claude-Works/c609e3f7-e17f-5f43-8424-4df30cb9a6a9/scratchpad/build/s/img/annan_chai.png">    </p:cNvPr>
          <p:cNvPicPr>
            <a:picLocks noChangeAspect="1"/>
          </p:cNvPicPr>
          <p:nvPr/>
        </p:nvPicPr>
        <p:blipFill>
          <a:blip r:embed="rId2"/>
          <a:stretch>
            <a:fillRect/>
          </a:stretch>
        </p:blipFill>
        <p:spPr>
          <a:xfrm>
            <a:off x="594360" y="4526280"/>
            <a:ext cx="1514246" cy="1645920"/>
          </a:xfrm>
          <a:prstGeom prst="rect">
            <a:avLst/>
          </a:prstGeom>
        </p:spPr>
      </p:pic>
      <p:pic>
        <p:nvPicPr>
          <p:cNvPr id="7" name="Image 2" descr="preencoded.png">    </p:cNvPr>
          <p:cNvPicPr>
            <a:picLocks noChangeAspect="1"/>
          </p:cNvPicPr>
          <p:nvPr/>
        </p:nvPicPr>
        <p:blipFill>
          <a:blip r:embed="rId3"/>
          <a:stretch>
            <a:fillRect/>
          </a:stretch>
        </p:blipFill>
        <p:spPr>
          <a:xfrm>
            <a:off x="555033" y="3444106"/>
            <a:ext cx="2203704" cy="1143000"/>
          </a:xfrm>
          <a:prstGeom prst="rect">
            <a:avLst/>
          </a:prstGeom>
        </p:spPr>
      </p:pic>
      <p:sp>
        <p:nvSpPr>
          <p:cNvPr id="8" name="Text 3"/>
          <p:cNvSpPr txBox="1"/>
          <p:nvPr/>
        </p:nvSpPr>
        <p:spPr>
          <a:xfrm>
            <a:off x="875073" y="3663562"/>
            <a:ext cx="1581912"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Go home. I've</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got it from here.</a:t>
            </a:r>
            <a:endParaRPr lang="en-US" sz="1500" dirty="0"/>
          </a:p>
        </p:txBody>
      </p:sp>
      <p:pic>
        <p:nvPicPr>
          <p:cNvPr id="9" name="Image 3" descr="/tmp/claude-0/-home-user-Claude-Works/c609e3f7-e17f-5f43-8424-4df30cb9a6a9/scratchpad/build/s/img/m_front_standup_light.png">    </p:cNvPr>
          <p:cNvPicPr>
            <a:picLocks noChangeAspect="1"/>
          </p:cNvPicPr>
          <p:nvPr/>
        </p:nvPicPr>
        <p:blipFill>
          <a:blip r:embed="rId4"/>
          <a:stretch>
            <a:fillRect/>
          </a:stretch>
        </p:blipFill>
        <p:spPr>
          <a:xfrm>
            <a:off x="9163669" y="1325880"/>
            <a:ext cx="2342226" cy="4846320"/>
          </a:xfrm>
          <a:prstGeom prst="rect">
            <a:avLst/>
          </a:prstGeom>
        </p:spPr>
      </p:pic>
      <p:pic>
        <p:nvPicPr>
          <p:cNvPr id="10" name="Image 4" descr="/tmp/claude-0/-home-user-Claude-Works/c609e3f7-e17f-5f43-8424-4df30cb9a6a9/scratchpad/build/s/img/m_front_standup_dark.png">    </p:cNvPr>
          <p:cNvPicPr>
            <a:picLocks noChangeAspect="1"/>
          </p:cNvPicPr>
          <p:nvPr/>
        </p:nvPicPr>
        <p:blipFill>
          <a:blip r:embed="rId5"/>
          <a:stretch>
            <a:fillRect/>
          </a:stretch>
        </p:blipFill>
        <p:spPr>
          <a:xfrm>
            <a:off x="7130872" y="685800"/>
            <a:ext cx="2651577" cy="5486400"/>
          </a:xfrm>
          <a:prstGeom prst="rect">
            <a:avLst/>
          </a:prstGeom>
        </p:spPr>
      </p:pic>
      <p:sp>
        <p:nvSpPr>
          <p:cNvPr id="11" name="Text 4"/>
          <p:cNvSpPr txBox="1"/>
          <p:nvPr/>
        </p:nvSpPr>
        <p:spPr>
          <a:xfrm>
            <a:off x="7130872" y="6355080"/>
            <a:ext cx="265157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DARK THEME</a:t>
            </a:r>
            <a:endParaRPr lang="en-US" sz="1000" dirty="0"/>
          </a:p>
        </p:txBody>
      </p:sp>
      <p:sp>
        <p:nvSpPr>
          <p:cNvPr id="12" name="Text 5"/>
          <p:cNvSpPr txBox="1"/>
          <p:nvPr/>
        </p:nvSpPr>
        <p:spPr>
          <a:xfrm>
            <a:off x="9782449" y="6355080"/>
            <a:ext cx="1723446"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LIGHT THEME</a:t>
            </a:r>
            <a:endParaRPr lang="en-US" sz="1000" dirty="0"/>
          </a:p>
        </p:txBody>
      </p:sp>
      <p:sp>
        <p:nvSpPr>
          <p:cNvPr id="13" name="Text 6"/>
          <p:cNvSpPr txBox="1"/>
          <p:nvPr/>
        </p:nvSpPr>
        <p:spPr>
          <a:xfrm>
            <a:off x="685800" y="6355080"/>
            <a:ext cx="50292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5667832" y="-548640"/>
            <a:ext cx="6949440" cy="6949440"/>
          </a:xfrm>
          <a:prstGeom prst="rect">
            <a:avLst/>
          </a:prstGeom>
        </p:spPr>
      </p:pic>
      <p:sp>
        <p:nvSpPr>
          <p:cNvPr id="3" name="Text 0"/>
          <p:cNvSpPr txBox="1"/>
          <p:nvPr/>
        </p:nvSpPr>
        <p:spPr>
          <a:xfrm>
            <a:off x="685800" y="640080"/>
            <a:ext cx="45720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WEEKLY WINS</a:t>
            </a:r>
            <a:endParaRPr lang="en-US" sz="1000" dirty="0"/>
          </a:p>
        </p:txBody>
      </p:sp>
      <p:sp>
        <p:nvSpPr>
          <p:cNvPr id="4" name="Text 1"/>
          <p:cNvSpPr txBox="1"/>
          <p:nvPr/>
        </p:nvSpPr>
        <p:spPr>
          <a:xfrm>
            <a:off x="685800" y="1005840"/>
            <a:ext cx="5295748"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The week starts</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with a win.</a:t>
            </a:r>
            <a:endParaRPr lang="en-US" sz="4400" dirty="0"/>
          </a:p>
        </p:txBody>
      </p:sp>
      <p:sp>
        <p:nvSpPr>
          <p:cNvPr id="5" name="Text 2"/>
          <p:cNvSpPr txBox="1"/>
          <p:nvPr/>
        </p:nvSpPr>
        <p:spPr>
          <a:xfrm>
            <a:off x="685800" y="2468880"/>
            <a:ext cx="4375023" cy="91440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Every week opens with what your team shipped, so good work gets noticed.</a:t>
            </a:r>
            <a:endParaRPr lang="en-US" sz="1800" dirty="0"/>
          </a:p>
        </p:txBody>
      </p:sp>
      <p:pic>
        <p:nvPicPr>
          <p:cNvPr id="6" name="Image 1" descr="/tmp/claude-0/-home-user-Claude-Works/c609e3f7-e17f-5f43-8424-4df30cb9a6a9/scratchpad/build/s/img/annan_celebrating.png">    </p:cNvPr>
          <p:cNvPicPr>
            <a:picLocks noChangeAspect="1"/>
          </p:cNvPicPr>
          <p:nvPr/>
        </p:nvPicPr>
        <p:blipFill>
          <a:blip r:embed="rId2"/>
          <a:stretch>
            <a:fillRect/>
          </a:stretch>
        </p:blipFill>
        <p:spPr>
          <a:xfrm>
            <a:off x="594360" y="4526280"/>
            <a:ext cx="1669457" cy="1645920"/>
          </a:xfrm>
          <a:prstGeom prst="rect">
            <a:avLst/>
          </a:prstGeom>
        </p:spPr>
      </p:pic>
      <p:pic>
        <p:nvPicPr>
          <p:cNvPr id="7" name="Image 2" descr="preencoded.png">    </p:cNvPr>
          <p:cNvPicPr>
            <a:picLocks noChangeAspect="1"/>
          </p:cNvPicPr>
          <p:nvPr/>
        </p:nvPicPr>
        <p:blipFill>
          <a:blip r:embed="rId3"/>
          <a:stretch>
            <a:fillRect/>
          </a:stretch>
        </p:blipFill>
        <p:spPr>
          <a:xfrm>
            <a:off x="626396" y="3467643"/>
            <a:ext cx="2362037" cy="1143000"/>
          </a:xfrm>
          <a:prstGeom prst="rect">
            <a:avLst/>
          </a:prstGeom>
        </p:spPr>
      </p:pic>
      <p:sp>
        <p:nvSpPr>
          <p:cNvPr id="8" name="Text 3"/>
          <p:cNvSpPr txBox="1"/>
          <p:nvPr/>
        </p:nvSpPr>
        <p:spPr>
          <a:xfrm>
            <a:off x="946436" y="3687099"/>
            <a:ext cx="1740245"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Four deliverables.</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Proud of you lot.</a:t>
            </a:r>
            <a:endParaRPr lang="en-US" sz="1500" dirty="0"/>
          </a:p>
        </p:txBody>
      </p:sp>
      <p:pic>
        <p:nvPicPr>
          <p:cNvPr id="9" name="Image 3" descr="/tmp/claude-0/-home-user-Claude-Works/c609e3f7-e17f-5f43-8424-4df30cb9a6a9/scratchpad/build/s/img/m_front_home_light.png">    </p:cNvPr>
          <p:cNvPicPr>
            <a:picLocks noChangeAspect="1"/>
          </p:cNvPicPr>
          <p:nvPr/>
        </p:nvPicPr>
        <p:blipFill>
          <a:blip r:embed="rId4"/>
          <a:stretch>
            <a:fillRect/>
          </a:stretch>
        </p:blipFill>
        <p:spPr>
          <a:xfrm>
            <a:off x="9163669" y="1325880"/>
            <a:ext cx="2342226" cy="4846320"/>
          </a:xfrm>
          <a:prstGeom prst="rect">
            <a:avLst/>
          </a:prstGeom>
        </p:spPr>
      </p:pic>
      <p:pic>
        <p:nvPicPr>
          <p:cNvPr id="10" name="Image 4" descr="/tmp/claude-0/-home-user-Claude-Works/c609e3f7-e17f-5f43-8424-4df30cb9a6a9/scratchpad/build/s/img/m_front_home_dark.png">    </p:cNvPr>
          <p:cNvPicPr>
            <a:picLocks noChangeAspect="1"/>
          </p:cNvPicPr>
          <p:nvPr/>
        </p:nvPicPr>
        <p:blipFill>
          <a:blip r:embed="rId5"/>
          <a:stretch>
            <a:fillRect/>
          </a:stretch>
        </p:blipFill>
        <p:spPr>
          <a:xfrm>
            <a:off x="7130872" y="685800"/>
            <a:ext cx="2651577" cy="5486400"/>
          </a:xfrm>
          <a:prstGeom prst="rect">
            <a:avLst/>
          </a:prstGeom>
        </p:spPr>
      </p:pic>
      <p:sp>
        <p:nvSpPr>
          <p:cNvPr id="11" name="Text 4"/>
          <p:cNvSpPr txBox="1"/>
          <p:nvPr/>
        </p:nvSpPr>
        <p:spPr>
          <a:xfrm>
            <a:off x="7130872" y="6355080"/>
            <a:ext cx="265157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DARK THEME</a:t>
            </a:r>
            <a:endParaRPr lang="en-US" sz="1000" dirty="0"/>
          </a:p>
        </p:txBody>
      </p:sp>
      <p:sp>
        <p:nvSpPr>
          <p:cNvPr id="12" name="Text 5"/>
          <p:cNvSpPr txBox="1"/>
          <p:nvPr/>
        </p:nvSpPr>
        <p:spPr>
          <a:xfrm>
            <a:off x="9782449" y="6355080"/>
            <a:ext cx="1723446"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LIGHT THEME</a:t>
            </a:r>
            <a:endParaRPr lang="en-US" sz="1000" dirty="0"/>
          </a:p>
        </p:txBody>
      </p:sp>
      <p:sp>
        <p:nvSpPr>
          <p:cNvPr id="13" name="Text 6"/>
          <p:cNvSpPr txBox="1"/>
          <p:nvPr/>
        </p:nvSpPr>
        <p:spPr>
          <a:xfrm>
            <a:off x="685800" y="6355080"/>
            <a:ext cx="50292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annan_chai.png">    </p:cNvPr>
          <p:cNvPicPr>
            <a:picLocks noChangeAspect="1"/>
          </p:cNvPicPr>
          <p:nvPr/>
        </p:nvPicPr>
        <p:blipFill>
          <a:blip r:embed="rId1"/>
          <a:stretch>
            <a:fillRect/>
          </a:stretch>
        </p:blipFill>
        <p:spPr>
          <a:xfrm>
            <a:off x="8898026" y="3291840"/>
            <a:ext cx="2607869" cy="2834640"/>
          </a:xfrm>
          <a:prstGeom prst="rect">
            <a:avLst/>
          </a:prstGeom>
        </p:spPr>
      </p:pic>
      <p:pic>
        <p:nvPicPr>
          <p:cNvPr id="3" name="Image 1" descr="preencoded.png">    </p:cNvPr>
          <p:cNvPicPr>
            <a:picLocks noChangeAspect="1"/>
          </p:cNvPicPr>
          <p:nvPr/>
        </p:nvPicPr>
        <p:blipFill>
          <a:blip r:embed="rId2"/>
          <a:stretch>
            <a:fillRect/>
          </a:stretch>
        </p:blipFill>
        <p:spPr>
          <a:xfrm>
            <a:off x="9241065" y="2246992"/>
            <a:ext cx="2470067" cy="1143000"/>
          </a:xfrm>
          <a:prstGeom prst="rect">
            <a:avLst/>
          </a:prstGeom>
        </p:spPr>
      </p:pic>
      <p:sp>
        <p:nvSpPr>
          <p:cNvPr id="4" name="Text 0"/>
          <p:cNvSpPr txBox="1"/>
          <p:nvPr/>
        </p:nvSpPr>
        <p:spPr>
          <a:xfrm>
            <a:off x="9561105" y="2466448"/>
            <a:ext cx="1848275"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See? Less chasing.</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More making.</a:t>
            </a:r>
            <a:endParaRPr lang="en-US" sz="1500" dirty="0"/>
          </a:p>
        </p:txBody>
      </p:sp>
      <p:sp>
        <p:nvSpPr>
          <p:cNvPr id="5" name="Text 1"/>
          <p:cNvSpPr txBox="1"/>
          <p:nvPr/>
        </p:nvSpPr>
        <p:spPr>
          <a:xfrm>
            <a:off x="685800" y="1005840"/>
            <a:ext cx="7137197" cy="1737360"/>
          </a:xfrm>
          <a:prstGeom prst="rect">
            <a:avLst/>
          </a:prstGeom>
          <a:noFill/>
          <a:ln/>
        </p:spPr>
        <p:txBody>
          <a:bodyPr wrap="square" lIns="0" tIns="0" rIns="0" bIns="0" rtlCol="0" anchor="t"/>
          <a:lstStyle/>
          <a:p>
            <a:pPr indent="0" marL="0">
              <a:lnSpc>
                <a:spcPct val="100000"/>
              </a:lnSpc>
              <a:buNone/>
            </a:pPr>
            <a:r>
              <a:rPr lang="en-US" sz="5600" b="1" dirty="0">
                <a:solidFill>
                  <a:srgbClr val="F4F6F5"/>
                </a:solidFill>
                <a:latin typeface="Epilogue" pitchFamily="34" charset="0"/>
                <a:ea typeface="Epilogue" pitchFamily="34" charset="-122"/>
                <a:cs typeface="Epilogue" pitchFamily="34" charset="-120"/>
              </a:rPr>
              <a:t>The week</a:t>
            </a:r>
            <a:endParaRPr lang="en-US" sz="5600" dirty="0"/>
          </a:p>
          <a:p>
            <a:pPr indent="0" marL="0">
              <a:lnSpc>
                <a:spcPct val="100000"/>
              </a:lnSpc>
              <a:buNone/>
            </a:pPr>
            <a:r>
              <a:rPr lang="en-US" sz="5600" b="1" dirty="0">
                <a:solidFill>
                  <a:srgbClr val="F4F6F5"/>
                </a:solidFill>
                <a:latin typeface="Epilogue" pitchFamily="34" charset="0"/>
                <a:ea typeface="Epilogue" pitchFamily="34" charset="-122"/>
                <a:cs typeface="Epilogue" pitchFamily="34" charset="-120"/>
              </a:rPr>
              <a:t>feels lighter.</a:t>
            </a:r>
            <a:endParaRPr lang="en-US" sz="5600" dirty="0"/>
          </a:p>
        </p:txBody>
      </p:sp>
      <p:sp>
        <p:nvSpPr>
          <p:cNvPr id="6" name="Text 2"/>
          <p:cNvSpPr txBox="1"/>
          <p:nvPr/>
        </p:nvSpPr>
        <p:spPr>
          <a:xfrm>
            <a:off x="685800" y="3154680"/>
            <a:ext cx="3454298"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LESS OF</a:t>
            </a:r>
            <a:endParaRPr lang="en-US" sz="1000" dirty="0"/>
          </a:p>
        </p:txBody>
      </p:sp>
      <p:sp>
        <p:nvSpPr>
          <p:cNvPr id="7" name="Text 3"/>
          <p:cNvSpPr txBox="1"/>
          <p:nvPr/>
        </p:nvSpPr>
        <p:spPr>
          <a:xfrm>
            <a:off x="4368698" y="3154680"/>
            <a:ext cx="3454298"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MORE OF</a:t>
            </a:r>
            <a:endParaRPr lang="en-US" sz="1000" dirty="0"/>
          </a:p>
        </p:txBody>
      </p:sp>
      <p:sp>
        <p:nvSpPr>
          <p:cNvPr id="8" name="Text 4"/>
          <p:cNvSpPr txBox="1"/>
          <p:nvPr/>
        </p:nvSpPr>
        <p:spPr>
          <a:xfrm>
            <a:off x="685800" y="3520440"/>
            <a:ext cx="3454298" cy="457200"/>
          </a:xfrm>
          <a:prstGeom prst="rect">
            <a:avLst/>
          </a:prstGeom>
          <a:noFill/>
          <a:ln/>
        </p:spPr>
        <p:txBody>
          <a:bodyPr wrap="square" lIns="0" tIns="0" rIns="0" bIns="0" rtlCol="0" anchor="t"/>
          <a:lstStyle/>
          <a:p>
            <a:pPr indent="0" marL="0">
              <a:buNone/>
            </a:pPr>
            <a:r>
              <a:rPr lang="en-US" sz="2400" dirty="0">
                <a:solidFill>
                  <a:srgbClr val="6B7773"/>
                </a:solidFill>
                <a:latin typeface="Manrope" pitchFamily="34" charset="0"/>
                <a:ea typeface="Manrope" pitchFamily="34" charset="-122"/>
                <a:cs typeface="Manrope" pitchFamily="34" charset="-120"/>
              </a:rPr>
              <a:t>“Any update?”</a:t>
            </a:r>
            <a:endParaRPr lang="en-US" sz="2400" dirty="0"/>
          </a:p>
        </p:txBody>
      </p:sp>
      <p:sp>
        <p:nvSpPr>
          <p:cNvPr id="9" name="Text 5"/>
          <p:cNvSpPr txBox="1"/>
          <p:nvPr/>
        </p:nvSpPr>
        <p:spPr>
          <a:xfrm>
            <a:off x="4368698" y="3520440"/>
            <a:ext cx="3454298" cy="457200"/>
          </a:xfrm>
          <a:prstGeom prst="rect">
            <a:avLst/>
          </a:prstGeom>
          <a:noFill/>
          <a:ln/>
        </p:spPr>
        <p:txBody>
          <a:bodyPr wrap="square" lIns="0" tIns="0" rIns="0" bIns="0" rtlCol="0" anchor="t"/>
          <a:lstStyle/>
          <a:p>
            <a:pPr indent="0" marL="0">
              <a:buNone/>
            </a:pPr>
            <a:r>
              <a:rPr lang="en-US" sz="2400" b="1" dirty="0">
                <a:solidFill>
                  <a:srgbClr val="F4F6F5"/>
                </a:solidFill>
                <a:latin typeface="Manrope" pitchFamily="34" charset="0"/>
                <a:ea typeface="Manrope" pitchFamily="34" charset="-122"/>
                <a:cs typeface="Manrope" pitchFamily="34" charset="-120"/>
              </a:rPr>
              <a:t>The work itself.</a:t>
            </a:r>
            <a:endParaRPr lang="en-US" sz="2400" dirty="0"/>
          </a:p>
        </p:txBody>
      </p:sp>
      <p:sp>
        <p:nvSpPr>
          <p:cNvPr id="10" name="Text 6"/>
          <p:cNvSpPr txBox="1"/>
          <p:nvPr/>
        </p:nvSpPr>
        <p:spPr>
          <a:xfrm>
            <a:off x="685800" y="4087368"/>
            <a:ext cx="3454298" cy="457200"/>
          </a:xfrm>
          <a:prstGeom prst="rect">
            <a:avLst/>
          </a:prstGeom>
          <a:noFill/>
          <a:ln/>
        </p:spPr>
        <p:txBody>
          <a:bodyPr wrap="square" lIns="0" tIns="0" rIns="0" bIns="0" rtlCol="0" anchor="t"/>
          <a:lstStyle/>
          <a:p>
            <a:pPr indent="0" marL="0">
              <a:buNone/>
            </a:pPr>
            <a:r>
              <a:rPr lang="en-US" sz="2400" dirty="0">
                <a:solidFill>
                  <a:srgbClr val="6B7773"/>
                </a:solidFill>
                <a:latin typeface="Manrope" pitchFamily="34" charset="0"/>
                <a:ea typeface="Manrope" pitchFamily="34" charset="-122"/>
                <a:cs typeface="Manrope" pitchFamily="34" charset="-120"/>
              </a:rPr>
              <a:t>“Just following up.”</a:t>
            </a:r>
            <a:endParaRPr lang="en-US" sz="2400" dirty="0"/>
          </a:p>
        </p:txBody>
      </p:sp>
      <p:sp>
        <p:nvSpPr>
          <p:cNvPr id="11" name="Text 7"/>
          <p:cNvSpPr txBox="1"/>
          <p:nvPr/>
        </p:nvSpPr>
        <p:spPr>
          <a:xfrm>
            <a:off x="4368698" y="4087368"/>
            <a:ext cx="3454298" cy="457200"/>
          </a:xfrm>
          <a:prstGeom prst="rect">
            <a:avLst/>
          </a:prstGeom>
          <a:noFill/>
          <a:ln/>
        </p:spPr>
        <p:txBody>
          <a:bodyPr wrap="square" lIns="0" tIns="0" rIns="0" bIns="0" rtlCol="0" anchor="t"/>
          <a:lstStyle/>
          <a:p>
            <a:pPr indent="0" marL="0">
              <a:buNone/>
            </a:pPr>
            <a:r>
              <a:rPr lang="en-US" sz="2400" b="1" dirty="0">
                <a:solidFill>
                  <a:srgbClr val="F4F6F5"/>
                </a:solidFill>
                <a:latin typeface="Manrope" pitchFamily="34" charset="0"/>
                <a:ea typeface="Manrope" pitchFamily="34" charset="-122"/>
                <a:cs typeface="Manrope" pitchFamily="34" charset="-120"/>
              </a:rPr>
              <a:t>Clear heads.</a:t>
            </a:r>
            <a:endParaRPr lang="en-US" sz="2400" dirty="0"/>
          </a:p>
        </p:txBody>
      </p:sp>
      <p:sp>
        <p:nvSpPr>
          <p:cNvPr id="12" name="Text 8"/>
          <p:cNvSpPr txBox="1"/>
          <p:nvPr/>
        </p:nvSpPr>
        <p:spPr>
          <a:xfrm>
            <a:off x="685800" y="4654296"/>
            <a:ext cx="3454298" cy="457200"/>
          </a:xfrm>
          <a:prstGeom prst="rect">
            <a:avLst/>
          </a:prstGeom>
          <a:noFill/>
          <a:ln/>
        </p:spPr>
        <p:txBody>
          <a:bodyPr wrap="square" lIns="0" tIns="0" rIns="0" bIns="0" rtlCol="0" anchor="t"/>
          <a:lstStyle/>
          <a:p>
            <a:pPr indent="0" marL="0">
              <a:buNone/>
            </a:pPr>
            <a:r>
              <a:rPr lang="en-US" sz="2400" dirty="0">
                <a:solidFill>
                  <a:srgbClr val="6B7773"/>
                </a:solidFill>
                <a:latin typeface="Manrope" pitchFamily="34" charset="0"/>
                <a:ea typeface="Manrope" pitchFamily="34" charset="-122"/>
                <a:cs typeface="Manrope" pitchFamily="34" charset="-120"/>
              </a:rPr>
              <a:t>“Who's on this?”</a:t>
            </a:r>
            <a:endParaRPr lang="en-US" sz="2400" dirty="0"/>
          </a:p>
        </p:txBody>
      </p:sp>
      <p:sp>
        <p:nvSpPr>
          <p:cNvPr id="13" name="Text 9"/>
          <p:cNvSpPr txBox="1"/>
          <p:nvPr/>
        </p:nvSpPr>
        <p:spPr>
          <a:xfrm>
            <a:off x="4368698" y="4654296"/>
            <a:ext cx="3454298" cy="457200"/>
          </a:xfrm>
          <a:prstGeom prst="rect">
            <a:avLst/>
          </a:prstGeom>
          <a:noFill/>
          <a:ln/>
        </p:spPr>
        <p:txBody>
          <a:bodyPr wrap="square" lIns="0" tIns="0" rIns="0" bIns="0" rtlCol="0" anchor="t"/>
          <a:lstStyle/>
          <a:p>
            <a:pPr indent="0" marL="0">
              <a:buNone/>
            </a:pPr>
            <a:r>
              <a:rPr lang="en-US" sz="2400" b="1" dirty="0">
                <a:solidFill>
                  <a:srgbClr val="F4F6F5"/>
                </a:solidFill>
                <a:latin typeface="Manrope" pitchFamily="34" charset="0"/>
                <a:ea typeface="Manrope" pitchFamily="34" charset="-122"/>
                <a:cs typeface="Manrope" pitchFamily="34" charset="-120"/>
              </a:rPr>
              <a:t>Leaving on time.</a:t>
            </a:r>
            <a:endParaRPr lang="en-US" sz="2400" dirty="0"/>
          </a:p>
        </p:txBody>
      </p:sp>
      <p:sp>
        <p:nvSpPr>
          <p:cNvPr id="14" name="Text 10"/>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15" name="Text 11"/>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685800" y="640080"/>
            <a:ext cx="36576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HOW IT WORKS</a:t>
            </a:r>
            <a:endParaRPr lang="en-US" sz="1000" dirty="0"/>
          </a:p>
        </p:txBody>
      </p:sp>
      <p:sp>
        <p:nvSpPr>
          <p:cNvPr id="3" name="Text 1"/>
          <p:cNvSpPr txBox="1"/>
          <p:nvPr/>
        </p:nvSpPr>
        <p:spPr>
          <a:xfrm>
            <a:off x="685800" y="1005840"/>
            <a:ext cx="7137197" cy="731520"/>
          </a:xfrm>
          <a:prstGeom prst="rect">
            <a:avLst/>
          </a:prstGeom>
          <a:noFill/>
          <a:ln/>
        </p:spPr>
        <p:txBody>
          <a:bodyPr wrap="square" lIns="0" tIns="0" rIns="0" bIns="0" rtlCol="0" anchor="t"/>
          <a:lstStyle/>
          <a:p>
            <a:pPr indent="0" marL="0">
              <a:buNone/>
            </a:pPr>
            <a:r>
              <a:rPr lang="en-US" sz="4400" b="1" dirty="0">
                <a:solidFill>
                  <a:srgbClr val="F4F6F5"/>
                </a:solidFill>
                <a:latin typeface="Epilogue" pitchFamily="34" charset="0"/>
                <a:ea typeface="Epilogue" pitchFamily="34" charset="-122"/>
                <a:cs typeface="Epilogue" pitchFamily="34" charset="-120"/>
              </a:rPr>
              <a:t>From brief to invoice.</a:t>
            </a:r>
            <a:endParaRPr lang="en-US" sz="4400" dirty="0"/>
          </a:p>
        </p:txBody>
      </p:sp>
      <p:sp>
        <p:nvSpPr>
          <p:cNvPr id="4" name="Text 2"/>
          <p:cNvSpPr txBox="1"/>
          <p:nvPr/>
        </p:nvSpPr>
        <p:spPr>
          <a:xfrm>
            <a:off x="685800" y="1783080"/>
            <a:ext cx="7137197" cy="411480"/>
          </a:xfrm>
          <a:prstGeom prst="rect">
            <a:avLst/>
          </a:prstGeom>
          <a:noFill/>
          <a:ln/>
        </p:spPr>
        <p:txBody>
          <a:bodyPr wrap="square" lIns="0" tIns="0" rIns="0" bIns="0" rtlCol="0" anchor="t"/>
          <a:lstStyle/>
          <a:p>
            <a:pPr indent="0" marL="0">
              <a:buNone/>
            </a:pPr>
            <a:r>
              <a:rPr lang="en-US" sz="1800" dirty="0">
                <a:solidFill>
                  <a:srgbClr val="9AA7A2"/>
                </a:solidFill>
                <a:latin typeface="Manrope" pitchFamily="34" charset="0"/>
                <a:ea typeface="Manrope" pitchFamily="34" charset="-122"/>
                <a:cs typeface="Manrope" pitchFamily="34" charset="-120"/>
              </a:rPr>
              <a:t>Every job takes the same five steps.</a:t>
            </a:r>
            <a:endParaRPr lang="en-US" sz="1800" dirty="0"/>
          </a:p>
        </p:txBody>
      </p:sp>
      <p:sp>
        <p:nvSpPr>
          <p:cNvPr id="5" name="Shape 3"/>
          <p:cNvSpPr/>
          <p:nvPr/>
        </p:nvSpPr>
        <p:spPr>
          <a:xfrm>
            <a:off x="1554480" y="3543300"/>
            <a:ext cx="8912108" cy="0"/>
          </a:xfrm>
          <a:prstGeom prst="line">
            <a:avLst/>
          </a:prstGeom>
          <a:noFill/>
          <a:ln w="19050">
            <a:solidFill>
              <a:srgbClr val="262C2E"/>
            </a:solidFill>
            <a:prstDash val="solid"/>
          </a:ln>
        </p:spPr>
      </p:sp>
      <p:sp>
        <p:nvSpPr>
          <p:cNvPr id="6" name="Shape 4"/>
          <p:cNvSpPr/>
          <p:nvPr/>
        </p:nvSpPr>
        <p:spPr>
          <a:xfrm>
            <a:off x="685800" y="3108960"/>
            <a:ext cx="868680" cy="868680"/>
          </a:xfrm>
          <a:prstGeom prst="ellipse">
            <a:avLst/>
          </a:prstGeom>
          <a:solidFill>
            <a:srgbClr val="15191A"/>
          </a:solidFill>
          <a:ln w="12700">
            <a:solidFill>
              <a:srgbClr val="262C2E"/>
            </a:solidFill>
            <a:prstDash val="solid"/>
          </a:ln>
        </p:spPr>
      </p:sp>
      <p:pic>
        <p:nvPicPr>
          <p:cNvPr id="7" name="Image 0" descr="preencoded.png">    </p:cNvPr>
          <p:cNvPicPr>
            <a:picLocks noChangeAspect="1"/>
          </p:cNvPicPr>
          <p:nvPr/>
        </p:nvPicPr>
        <p:blipFill>
          <a:blip r:embed="rId1"/>
          <a:stretch>
            <a:fillRect/>
          </a:stretch>
        </p:blipFill>
        <p:spPr>
          <a:xfrm>
            <a:off x="929030" y="3352190"/>
            <a:ext cx="382219" cy="382219"/>
          </a:xfrm>
          <a:prstGeom prst="rect">
            <a:avLst/>
          </a:prstGeom>
        </p:spPr>
      </p:pic>
      <p:sp>
        <p:nvSpPr>
          <p:cNvPr id="8" name="Text 5"/>
          <p:cNvSpPr txBox="1"/>
          <p:nvPr/>
        </p:nvSpPr>
        <p:spPr>
          <a:xfrm>
            <a:off x="685800" y="429768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1</a:t>
            </a:r>
            <a:endParaRPr lang="en-US" sz="1000" dirty="0"/>
          </a:p>
        </p:txBody>
      </p:sp>
      <p:sp>
        <p:nvSpPr>
          <p:cNvPr id="9" name="Text 6"/>
          <p:cNvSpPr txBox="1"/>
          <p:nvPr/>
        </p:nvSpPr>
        <p:spPr>
          <a:xfrm>
            <a:off x="685800" y="457200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Brief comes in</a:t>
            </a:r>
            <a:endParaRPr lang="en-US" sz="2200" dirty="0"/>
          </a:p>
        </p:txBody>
      </p:sp>
      <p:sp>
        <p:nvSpPr>
          <p:cNvPr id="10" name="Text 7"/>
          <p:cNvSpPr txBox="1"/>
          <p:nvPr/>
        </p:nvSpPr>
        <p:spPr>
          <a:xfrm>
            <a:off x="685800" y="539496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Say it, type it or drop the PDF.</a:t>
            </a:r>
            <a:endParaRPr lang="en-US" sz="1500" dirty="0"/>
          </a:p>
        </p:txBody>
      </p:sp>
      <p:sp>
        <p:nvSpPr>
          <p:cNvPr id="11" name="Shape 8"/>
          <p:cNvSpPr/>
          <p:nvPr/>
        </p:nvSpPr>
        <p:spPr>
          <a:xfrm>
            <a:off x="2913827" y="3108960"/>
            <a:ext cx="868680" cy="868680"/>
          </a:xfrm>
          <a:prstGeom prst="ellipse">
            <a:avLst/>
          </a:prstGeom>
          <a:solidFill>
            <a:srgbClr val="15191A"/>
          </a:solidFill>
          <a:ln w="12700">
            <a:solidFill>
              <a:srgbClr val="262C2E"/>
            </a:solidFill>
            <a:prstDash val="solid"/>
          </a:ln>
        </p:spPr>
      </p:sp>
      <p:pic>
        <p:nvPicPr>
          <p:cNvPr id="12" name="Image 1" descr="preencoded.png">    </p:cNvPr>
          <p:cNvPicPr>
            <a:picLocks noChangeAspect="1"/>
          </p:cNvPicPr>
          <p:nvPr/>
        </p:nvPicPr>
        <p:blipFill>
          <a:blip r:embed="rId2"/>
          <a:stretch>
            <a:fillRect/>
          </a:stretch>
        </p:blipFill>
        <p:spPr>
          <a:xfrm>
            <a:off x="3157057" y="3352190"/>
            <a:ext cx="382219" cy="382219"/>
          </a:xfrm>
          <a:prstGeom prst="rect">
            <a:avLst/>
          </a:prstGeom>
        </p:spPr>
      </p:pic>
      <p:sp>
        <p:nvSpPr>
          <p:cNvPr id="13" name="Text 9"/>
          <p:cNvSpPr txBox="1"/>
          <p:nvPr/>
        </p:nvSpPr>
        <p:spPr>
          <a:xfrm>
            <a:off x="2913827" y="429768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2</a:t>
            </a:r>
            <a:endParaRPr lang="en-US" sz="1000" dirty="0"/>
          </a:p>
        </p:txBody>
      </p:sp>
      <p:sp>
        <p:nvSpPr>
          <p:cNvPr id="14" name="Text 10"/>
          <p:cNvSpPr txBox="1"/>
          <p:nvPr/>
        </p:nvSpPr>
        <p:spPr>
          <a:xfrm>
            <a:off x="2913827" y="457200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Gets assigned</a:t>
            </a:r>
            <a:endParaRPr lang="en-US" sz="2200" dirty="0"/>
          </a:p>
        </p:txBody>
      </p:sp>
      <p:sp>
        <p:nvSpPr>
          <p:cNvPr id="15" name="Text 11"/>
          <p:cNvSpPr txBox="1"/>
          <p:nvPr/>
        </p:nvSpPr>
        <p:spPr>
          <a:xfrm>
            <a:off x="2913827" y="539496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The PM approves it once.</a:t>
            </a:r>
            <a:endParaRPr lang="en-US" sz="1500" dirty="0"/>
          </a:p>
        </p:txBody>
      </p:sp>
      <p:sp>
        <p:nvSpPr>
          <p:cNvPr id="16" name="Shape 12"/>
          <p:cNvSpPr/>
          <p:nvPr/>
        </p:nvSpPr>
        <p:spPr>
          <a:xfrm>
            <a:off x="5141854" y="3108960"/>
            <a:ext cx="868680" cy="868680"/>
          </a:xfrm>
          <a:prstGeom prst="ellipse">
            <a:avLst/>
          </a:prstGeom>
          <a:solidFill>
            <a:srgbClr val="15191A"/>
          </a:solidFill>
          <a:ln w="12700">
            <a:solidFill>
              <a:srgbClr val="262C2E"/>
            </a:solidFill>
            <a:prstDash val="solid"/>
          </a:ln>
        </p:spPr>
      </p:sp>
      <p:pic>
        <p:nvPicPr>
          <p:cNvPr id="17" name="Image 2" descr="preencoded.png">    </p:cNvPr>
          <p:cNvPicPr>
            <a:picLocks noChangeAspect="1"/>
          </p:cNvPicPr>
          <p:nvPr/>
        </p:nvPicPr>
        <p:blipFill>
          <a:blip r:embed="rId3"/>
          <a:stretch>
            <a:fillRect/>
          </a:stretch>
        </p:blipFill>
        <p:spPr>
          <a:xfrm>
            <a:off x="5385084" y="3352190"/>
            <a:ext cx="382219" cy="382219"/>
          </a:xfrm>
          <a:prstGeom prst="rect">
            <a:avLst/>
          </a:prstGeom>
        </p:spPr>
      </p:pic>
      <p:sp>
        <p:nvSpPr>
          <p:cNvPr id="18" name="Text 13"/>
          <p:cNvSpPr txBox="1"/>
          <p:nvPr/>
        </p:nvSpPr>
        <p:spPr>
          <a:xfrm>
            <a:off x="5141854" y="429768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3</a:t>
            </a:r>
            <a:endParaRPr lang="en-US" sz="1000" dirty="0"/>
          </a:p>
        </p:txBody>
      </p:sp>
      <p:sp>
        <p:nvSpPr>
          <p:cNvPr id="19" name="Text 14"/>
          <p:cNvSpPr txBox="1"/>
          <p:nvPr/>
        </p:nvSpPr>
        <p:spPr>
          <a:xfrm>
            <a:off x="5141854" y="457200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Work happens</a:t>
            </a:r>
            <a:endParaRPr lang="en-US" sz="2200" dirty="0"/>
          </a:p>
        </p:txBody>
      </p:sp>
      <p:sp>
        <p:nvSpPr>
          <p:cNvPr id="20" name="Text 15"/>
          <p:cNvSpPr txBox="1"/>
          <p:nvPr/>
        </p:nvSpPr>
        <p:spPr>
          <a:xfrm>
            <a:off x="5141854" y="539496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Everyone can see where it's at.</a:t>
            </a:r>
            <a:endParaRPr lang="en-US" sz="1500" dirty="0"/>
          </a:p>
        </p:txBody>
      </p:sp>
      <p:sp>
        <p:nvSpPr>
          <p:cNvPr id="21" name="Shape 16"/>
          <p:cNvSpPr/>
          <p:nvPr/>
        </p:nvSpPr>
        <p:spPr>
          <a:xfrm>
            <a:off x="7369881" y="3108960"/>
            <a:ext cx="868680" cy="868680"/>
          </a:xfrm>
          <a:prstGeom prst="ellipse">
            <a:avLst/>
          </a:prstGeom>
          <a:solidFill>
            <a:srgbClr val="15191A"/>
          </a:solidFill>
          <a:ln w="12700">
            <a:solidFill>
              <a:srgbClr val="262C2E"/>
            </a:solidFill>
            <a:prstDash val="solid"/>
          </a:ln>
        </p:spPr>
      </p:sp>
      <p:pic>
        <p:nvPicPr>
          <p:cNvPr id="22" name="Image 3" descr="preencoded.png">    </p:cNvPr>
          <p:cNvPicPr>
            <a:picLocks noChangeAspect="1"/>
          </p:cNvPicPr>
          <p:nvPr/>
        </p:nvPicPr>
        <p:blipFill>
          <a:blip r:embed="rId4"/>
          <a:stretch>
            <a:fillRect/>
          </a:stretch>
        </p:blipFill>
        <p:spPr>
          <a:xfrm>
            <a:off x="7613112" y="3352190"/>
            <a:ext cx="382219" cy="382219"/>
          </a:xfrm>
          <a:prstGeom prst="rect">
            <a:avLst/>
          </a:prstGeom>
        </p:spPr>
      </p:pic>
      <p:sp>
        <p:nvSpPr>
          <p:cNvPr id="23" name="Text 17"/>
          <p:cNvSpPr txBox="1"/>
          <p:nvPr/>
        </p:nvSpPr>
        <p:spPr>
          <a:xfrm>
            <a:off x="7369881" y="429768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4</a:t>
            </a:r>
            <a:endParaRPr lang="en-US" sz="1000" dirty="0"/>
          </a:p>
        </p:txBody>
      </p:sp>
      <p:sp>
        <p:nvSpPr>
          <p:cNvPr id="24" name="Text 18"/>
          <p:cNvSpPr txBox="1"/>
          <p:nvPr/>
        </p:nvSpPr>
        <p:spPr>
          <a:xfrm>
            <a:off x="7369881" y="457200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Client nudged</a:t>
            </a:r>
            <a:endParaRPr lang="en-US" sz="2200" dirty="0"/>
          </a:p>
        </p:txBody>
      </p:sp>
      <p:sp>
        <p:nvSpPr>
          <p:cNvPr id="25" name="Text 19"/>
          <p:cNvSpPr txBox="1"/>
          <p:nvPr/>
        </p:nvSpPr>
        <p:spPr>
          <a:xfrm>
            <a:off x="7369881" y="539496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Gone quiet? It drafts the follow-up.</a:t>
            </a:r>
            <a:endParaRPr lang="en-US" sz="1500" dirty="0"/>
          </a:p>
        </p:txBody>
      </p:sp>
      <p:sp>
        <p:nvSpPr>
          <p:cNvPr id="26" name="Shape 20"/>
          <p:cNvSpPr/>
          <p:nvPr/>
        </p:nvSpPr>
        <p:spPr>
          <a:xfrm>
            <a:off x="9597908" y="3108960"/>
            <a:ext cx="868680" cy="868680"/>
          </a:xfrm>
          <a:prstGeom prst="ellipse">
            <a:avLst/>
          </a:prstGeom>
          <a:solidFill>
            <a:srgbClr val="B8E62E"/>
          </a:solidFill>
          <a:ln w="12700">
            <a:solidFill>
              <a:srgbClr val="B8E62E"/>
            </a:solidFill>
            <a:prstDash val="solid"/>
          </a:ln>
        </p:spPr>
      </p:sp>
      <p:pic>
        <p:nvPicPr>
          <p:cNvPr id="27" name="Image 4" descr="preencoded.png">    </p:cNvPr>
          <p:cNvPicPr>
            <a:picLocks noChangeAspect="1"/>
          </p:cNvPicPr>
          <p:nvPr/>
        </p:nvPicPr>
        <p:blipFill>
          <a:blip r:embed="rId5"/>
          <a:stretch>
            <a:fillRect/>
          </a:stretch>
        </p:blipFill>
        <p:spPr>
          <a:xfrm>
            <a:off x="9841139" y="3352190"/>
            <a:ext cx="382219" cy="382219"/>
          </a:xfrm>
          <a:prstGeom prst="rect">
            <a:avLst/>
          </a:prstGeom>
        </p:spPr>
      </p:pic>
      <p:sp>
        <p:nvSpPr>
          <p:cNvPr id="28" name="Text 21"/>
          <p:cNvSpPr txBox="1"/>
          <p:nvPr/>
        </p:nvSpPr>
        <p:spPr>
          <a:xfrm>
            <a:off x="9597908" y="4297680"/>
            <a:ext cx="1907987"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STEP 5</a:t>
            </a:r>
            <a:endParaRPr lang="en-US" sz="1000" dirty="0"/>
          </a:p>
        </p:txBody>
      </p:sp>
      <p:sp>
        <p:nvSpPr>
          <p:cNvPr id="29" name="Text 22"/>
          <p:cNvSpPr txBox="1"/>
          <p:nvPr/>
        </p:nvSpPr>
        <p:spPr>
          <a:xfrm>
            <a:off x="9597908" y="4572000"/>
            <a:ext cx="1907987" cy="731520"/>
          </a:xfrm>
          <a:prstGeom prst="rect">
            <a:avLst/>
          </a:prstGeom>
          <a:noFill/>
          <a:ln/>
        </p:spPr>
        <p:txBody>
          <a:bodyPr wrap="square" lIns="0" tIns="0" rIns="0" bIns="0" rtlCol="0" anchor="t"/>
          <a:lstStyle/>
          <a:p>
            <a:pPr indent="0" marL="0">
              <a:lnSpc>
                <a:spcPct val="100000"/>
              </a:lnSpc>
              <a:buNone/>
            </a:pPr>
            <a:r>
              <a:rPr lang="en-US" sz="2200" b="1" dirty="0">
                <a:solidFill>
                  <a:srgbClr val="F4F6F5"/>
                </a:solidFill>
                <a:latin typeface="Epilogue" pitchFamily="34" charset="0"/>
                <a:ea typeface="Epilogue" pitchFamily="34" charset="-122"/>
                <a:cs typeface="Epilogue" pitchFamily="34" charset="-120"/>
              </a:rPr>
              <a:t>Billed</a:t>
            </a:r>
            <a:endParaRPr lang="en-US" sz="2200" dirty="0"/>
          </a:p>
        </p:txBody>
      </p:sp>
      <p:sp>
        <p:nvSpPr>
          <p:cNvPr id="30" name="Text 23"/>
          <p:cNvSpPr txBox="1"/>
          <p:nvPr/>
        </p:nvSpPr>
        <p:spPr>
          <a:xfrm>
            <a:off x="9597908" y="5394960"/>
            <a:ext cx="1907987" cy="640080"/>
          </a:xfrm>
          <a:prstGeom prst="rect">
            <a:avLst/>
          </a:prstGeom>
          <a:noFill/>
          <a:ln/>
        </p:spPr>
        <p:txBody>
          <a:bodyPr wrap="square" lIns="0" tIns="0" rIns="0" bIns="0" rtlCol="0" anchor="t"/>
          <a:lstStyle/>
          <a:p>
            <a:pPr indent="0" marL="0">
              <a:lnSpc>
                <a:spcPct val="125000"/>
              </a:lnSpc>
              <a:buNone/>
            </a:pPr>
            <a:r>
              <a:rPr lang="en-US" sz="1500" dirty="0">
                <a:solidFill>
                  <a:srgbClr val="9AA7A2"/>
                </a:solidFill>
                <a:latin typeface="Manrope" pitchFamily="34" charset="0"/>
                <a:ea typeface="Manrope" pitchFamily="34" charset="-122"/>
                <a:cs typeface="Manrope" pitchFamily="34" charset="-120"/>
              </a:rPr>
              <a:t>Done work goes straight to billing.</a:t>
            </a:r>
            <a:endParaRPr lang="en-US" sz="1500" dirty="0"/>
          </a:p>
        </p:txBody>
      </p:sp>
      <p:pic>
        <p:nvPicPr>
          <p:cNvPr id="31" name="Image 5" descr="/tmp/claude-0/-home-user-Claude-Works/c609e3f7-e17f-5f43-8424-4df30cb9a6a9/scratchpad/build/s/img/annan_proud.png">    </p:cNvPr>
          <p:cNvPicPr>
            <a:picLocks noChangeAspect="1"/>
          </p:cNvPicPr>
          <p:nvPr/>
        </p:nvPicPr>
        <p:blipFill>
          <a:blip r:embed="rId6"/>
          <a:stretch>
            <a:fillRect/>
          </a:stretch>
        </p:blipFill>
        <p:spPr>
          <a:xfrm>
            <a:off x="10457947" y="1572768"/>
            <a:ext cx="1139388" cy="1371600"/>
          </a:xfrm>
          <a:prstGeom prst="rect">
            <a:avLst/>
          </a:prstGeom>
        </p:spPr>
      </p:pic>
      <p:pic>
        <p:nvPicPr>
          <p:cNvPr id="32" name="Image 6" descr="preencoded.png">    </p:cNvPr>
          <p:cNvPicPr>
            <a:picLocks noChangeAspect="1"/>
          </p:cNvPicPr>
          <p:nvPr/>
        </p:nvPicPr>
        <p:blipFill>
          <a:blip r:embed="rId7"/>
          <a:stretch>
            <a:fillRect/>
          </a:stretch>
        </p:blipFill>
        <p:spPr>
          <a:xfrm>
            <a:off x="8194918" y="481980"/>
            <a:ext cx="2741501" cy="1143000"/>
          </a:xfrm>
          <a:prstGeom prst="rect">
            <a:avLst/>
          </a:prstGeom>
        </p:spPr>
      </p:pic>
      <p:sp>
        <p:nvSpPr>
          <p:cNvPr id="33" name="Text 24"/>
          <p:cNvSpPr txBox="1"/>
          <p:nvPr/>
        </p:nvSpPr>
        <p:spPr>
          <a:xfrm>
            <a:off x="8514958" y="701436"/>
            <a:ext cx="2055701"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Every job, same path.</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I watch every step.</a:t>
            </a:r>
            <a:endParaRPr lang="en-US" sz="1500" dirty="0"/>
          </a:p>
        </p:txBody>
      </p:sp>
      <p:sp>
        <p:nvSpPr>
          <p:cNvPr id="34" name="Text 25"/>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35" name="Text 26"/>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685800" y="640080"/>
            <a:ext cx="36576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WHAT'S INSIDE</a:t>
            </a:r>
            <a:endParaRPr lang="en-US" sz="1000" dirty="0"/>
          </a:p>
        </p:txBody>
      </p:sp>
      <p:sp>
        <p:nvSpPr>
          <p:cNvPr id="3" name="Text 1"/>
          <p:cNvSpPr txBox="1"/>
          <p:nvPr/>
        </p:nvSpPr>
        <p:spPr>
          <a:xfrm>
            <a:off x="685800" y="1005840"/>
            <a:ext cx="7137197" cy="731520"/>
          </a:xfrm>
          <a:prstGeom prst="rect">
            <a:avLst/>
          </a:prstGeom>
          <a:noFill/>
          <a:ln/>
        </p:spPr>
        <p:txBody>
          <a:bodyPr wrap="square" lIns="0" tIns="0" rIns="0" bIns="0" rtlCol="0" anchor="t"/>
          <a:lstStyle/>
          <a:p>
            <a:pPr indent="0" marL="0">
              <a:buNone/>
            </a:pPr>
            <a:r>
              <a:rPr lang="en-US" sz="4400" b="1" dirty="0">
                <a:solidFill>
                  <a:srgbClr val="F4F6F5"/>
                </a:solidFill>
                <a:latin typeface="Epilogue" pitchFamily="34" charset="0"/>
                <a:ea typeface="Epilogue" pitchFamily="34" charset="-122"/>
                <a:cs typeface="Epilogue" pitchFamily="34" charset="-120"/>
              </a:rPr>
              <a:t>Everything in Bod App.</a:t>
            </a:r>
            <a:endParaRPr lang="en-US" sz="4400" dirty="0"/>
          </a:p>
        </p:txBody>
      </p:sp>
      <p:sp>
        <p:nvSpPr>
          <p:cNvPr id="4" name="Shape 2"/>
          <p:cNvSpPr/>
          <p:nvPr/>
        </p:nvSpPr>
        <p:spPr>
          <a:xfrm>
            <a:off x="685800" y="2011680"/>
            <a:ext cx="1891036" cy="676656"/>
          </a:xfrm>
          <a:prstGeom prst="roundRect">
            <a:avLst>
              <a:gd name="adj" fmla="val 18919"/>
            </a:avLst>
          </a:prstGeom>
          <a:solidFill>
            <a:srgbClr val="15191A"/>
          </a:solidFill>
          <a:ln w="9525">
            <a:solidFill>
              <a:srgbClr val="262C2E"/>
            </a:solidFill>
            <a:prstDash val="solid"/>
          </a:ln>
        </p:spPr>
      </p:sp>
      <p:pic>
        <p:nvPicPr>
          <p:cNvPr id="5" name="Image 0" descr="preencoded.png">    </p:cNvPr>
          <p:cNvPicPr>
            <a:picLocks noChangeAspect="1"/>
          </p:cNvPicPr>
          <p:nvPr/>
        </p:nvPicPr>
        <p:blipFill>
          <a:blip r:embed="rId1"/>
          <a:stretch>
            <a:fillRect/>
          </a:stretch>
        </p:blipFill>
        <p:spPr>
          <a:xfrm>
            <a:off x="886968" y="2212848"/>
            <a:ext cx="274320" cy="274320"/>
          </a:xfrm>
          <a:prstGeom prst="rect">
            <a:avLst/>
          </a:prstGeom>
        </p:spPr>
      </p:pic>
      <p:sp>
        <p:nvSpPr>
          <p:cNvPr id="6" name="Text 3"/>
          <p:cNvSpPr txBox="1"/>
          <p:nvPr/>
        </p:nvSpPr>
        <p:spPr>
          <a:xfrm>
            <a:off x="1252728" y="2011680"/>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Tasks and boards</a:t>
            </a:r>
            <a:endParaRPr lang="en-US" sz="1300" dirty="0"/>
          </a:p>
        </p:txBody>
      </p:sp>
      <p:sp>
        <p:nvSpPr>
          <p:cNvPr id="7" name="Shape 4"/>
          <p:cNvSpPr/>
          <p:nvPr/>
        </p:nvSpPr>
        <p:spPr>
          <a:xfrm>
            <a:off x="2741428" y="2011680"/>
            <a:ext cx="1891036" cy="676656"/>
          </a:xfrm>
          <a:prstGeom prst="roundRect">
            <a:avLst>
              <a:gd name="adj" fmla="val 18919"/>
            </a:avLst>
          </a:prstGeom>
          <a:solidFill>
            <a:srgbClr val="15191A"/>
          </a:solidFill>
          <a:ln w="9525">
            <a:solidFill>
              <a:srgbClr val="262C2E"/>
            </a:solidFill>
            <a:prstDash val="solid"/>
          </a:ln>
        </p:spPr>
      </p:sp>
      <p:pic>
        <p:nvPicPr>
          <p:cNvPr id="8" name="Image 1" descr="preencoded.png">    </p:cNvPr>
          <p:cNvPicPr>
            <a:picLocks noChangeAspect="1"/>
          </p:cNvPicPr>
          <p:nvPr/>
        </p:nvPicPr>
        <p:blipFill>
          <a:blip r:embed="rId2"/>
          <a:stretch>
            <a:fillRect/>
          </a:stretch>
        </p:blipFill>
        <p:spPr>
          <a:xfrm>
            <a:off x="2942596" y="2212848"/>
            <a:ext cx="274320" cy="274320"/>
          </a:xfrm>
          <a:prstGeom prst="rect">
            <a:avLst/>
          </a:prstGeom>
        </p:spPr>
      </p:pic>
      <p:sp>
        <p:nvSpPr>
          <p:cNvPr id="9" name="Text 5"/>
          <p:cNvSpPr txBox="1"/>
          <p:nvPr/>
        </p:nvSpPr>
        <p:spPr>
          <a:xfrm>
            <a:off x="3308356" y="2011680"/>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Focus Queue</a:t>
            </a:r>
            <a:endParaRPr lang="en-US" sz="1300" dirty="0"/>
          </a:p>
        </p:txBody>
      </p:sp>
      <p:sp>
        <p:nvSpPr>
          <p:cNvPr id="10" name="Shape 6"/>
          <p:cNvSpPr/>
          <p:nvPr/>
        </p:nvSpPr>
        <p:spPr>
          <a:xfrm>
            <a:off x="4797057" y="2011680"/>
            <a:ext cx="1891036" cy="676656"/>
          </a:xfrm>
          <a:prstGeom prst="roundRect">
            <a:avLst>
              <a:gd name="adj" fmla="val 18919"/>
            </a:avLst>
          </a:prstGeom>
          <a:solidFill>
            <a:srgbClr val="15191A"/>
          </a:solidFill>
          <a:ln w="9525">
            <a:solidFill>
              <a:srgbClr val="262C2E"/>
            </a:solidFill>
            <a:prstDash val="solid"/>
          </a:ln>
        </p:spPr>
      </p:sp>
      <p:pic>
        <p:nvPicPr>
          <p:cNvPr id="11" name="Image 2" descr="preencoded.png">    </p:cNvPr>
          <p:cNvPicPr>
            <a:picLocks noChangeAspect="1"/>
          </p:cNvPicPr>
          <p:nvPr/>
        </p:nvPicPr>
        <p:blipFill>
          <a:blip r:embed="rId3"/>
          <a:stretch>
            <a:fillRect/>
          </a:stretch>
        </p:blipFill>
        <p:spPr>
          <a:xfrm>
            <a:off x="4998225" y="2212848"/>
            <a:ext cx="274320" cy="274320"/>
          </a:xfrm>
          <a:prstGeom prst="rect">
            <a:avLst/>
          </a:prstGeom>
        </p:spPr>
      </p:pic>
      <p:sp>
        <p:nvSpPr>
          <p:cNvPr id="12" name="Text 7"/>
          <p:cNvSpPr txBox="1"/>
          <p:nvPr/>
        </p:nvSpPr>
        <p:spPr>
          <a:xfrm>
            <a:off x="5363985" y="2011680"/>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Voice to task</a:t>
            </a:r>
            <a:endParaRPr lang="en-US" sz="1300" dirty="0"/>
          </a:p>
        </p:txBody>
      </p:sp>
      <p:sp>
        <p:nvSpPr>
          <p:cNvPr id="13" name="Shape 8"/>
          <p:cNvSpPr/>
          <p:nvPr/>
        </p:nvSpPr>
        <p:spPr>
          <a:xfrm>
            <a:off x="6852685" y="2011680"/>
            <a:ext cx="1891036" cy="676656"/>
          </a:xfrm>
          <a:prstGeom prst="roundRect">
            <a:avLst>
              <a:gd name="adj" fmla="val 18919"/>
            </a:avLst>
          </a:prstGeom>
          <a:solidFill>
            <a:srgbClr val="15191A"/>
          </a:solidFill>
          <a:ln w="9525">
            <a:solidFill>
              <a:srgbClr val="262C2E"/>
            </a:solidFill>
            <a:prstDash val="solid"/>
          </a:ln>
        </p:spPr>
      </p:sp>
      <p:pic>
        <p:nvPicPr>
          <p:cNvPr id="14" name="Image 3" descr="preencoded.png">    </p:cNvPr>
          <p:cNvPicPr>
            <a:picLocks noChangeAspect="1"/>
          </p:cNvPicPr>
          <p:nvPr/>
        </p:nvPicPr>
        <p:blipFill>
          <a:blip r:embed="rId4"/>
          <a:stretch>
            <a:fillRect/>
          </a:stretch>
        </p:blipFill>
        <p:spPr>
          <a:xfrm>
            <a:off x="7053853" y="2212848"/>
            <a:ext cx="274320" cy="274320"/>
          </a:xfrm>
          <a:prstGeom prst="rect">
            <a:avLst/>
          </a:prstGeom>
        </p:spPr>
      </p:pic>
      <p:sp>
        <p:nvSpPr>
          <p:cNvPr id="15" name="Text 9"/>
          <p:cNvSpPr txBox="1"/>
          <p:nvPr/>
        </p:nvSpPr>
        <p:spPr>
          <a:xfrm>
            <a:off x="7419613" y="2011680"/>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Notes and PDFs to tasks</a:t>
            </a:r>
            <a:endParaRPr lang="en-US" sz="1300" dirty="0"/>
          </a:p>
        </p:txBody>
      </p:sp>
      <p:sp>
        <p:nvSpPr>
          <p:cNvPr id="16" name="Shape 10"/>
          <p:cNvSpPr/>
          <p:nvPr/>
        </p:nvSpPr>
        <p:spPr>
          <a:xfrm>
            <a:off x="685800" y="2816352"/>
            <a:ext cx="1891036" cy="676656"/>
          </a:xfrm>
          <a:prstGeom prst="roundRect">
            <a:avLst>
              <a:gd name="adj" fmla="val 18919"/>
            </a:avLst>
          </a:prstGeom>
          <a:solidFill>
            <a:srgbClr val="15191A"/>
          </a:solidFill>
          <a:ln w="9525">
            <a:solidFill>
              <a:srgbClr val="262C2E"/>
            </a:solidFill>
            <a:prstDash val="solid"/>
          </a:ln>
        </p:spPr>
      </p:sp>
      <p:pic>
        <p:nvPicPr>
          <p:cNvPr id="17" name="Image 4" descr="preencoded.png">    </p:cNvPr>
          <p:cNvPicPr>
            <a:picLocks noChangeAspect="1"/>
          </p:cNvPicPr>
          <p:nvPr/>
        </p:nvPicPr>
        <p:blipFill>
          <a:blip r:embed="rId5"/>
          <a:stretch>
            <a:fillRect/>
          </a:stretch>
        </p:blipFill>
        <p:spPr>
          <a:xfrm>
            <a:off x="886968" y="3017520"/>
            <a:ext cx="274320" cy="274320"/>
          </a:xfrm>
          <a:prstGeom prst="rect">
            <a:avLst/>
          </a:prstGeom>
        </p:spPr>
      </p:pic>
      <p:sp>
        <p:nvSpPr>
          <p:cNvPr id="18" name="Text 11"/>
          <p:cNvSpPr txBox="1"/>
          <p:nvPr/>
        </p:nvSpPr>
        <p:spPr>
          <a:xfrm>
            <a:off x="1252728" y="2816352"/>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Approvals</a:t>
            </a:r>
            <a:endParaRPr lang="en-US" sz="1300" dirty="0"/>
          </a:p>
        </p:txBody>
      </p:sp>
      <p:sp>
        <p:nvSpPr>
          <p:cNvPr id="19" name="Shape 12"/>
          <p:cNvSpPr/>
          <p:nvPr/>
        </p:nvSpPr>
        <p:spPr>
          <a:xfrm>
            <a:off x="2741428" y="2816352"/>
            <a:ext cx="1891036" cy="676656"/>
          </a:xfrm>
          <a:prstGeom prst="roundRect">
            <a:avLst>
              <a:gd name="adj" fmla="val 18919"/>
            </a:avLst>
          </a:prstGeom>
          <a:solidFill>
            <a:srgbClr val="15191A"/>
          </a:solidFill>
          <a:ln w="9525">
            <a:solidFill>
              <a:srgbClr val="262C2E"/>
            </a:solidFill>
            <a:prstDash val="solid"/>
          </a:ln>
        </p:spPr>
      </p:sp>
      <p:pic>
        <p:nvPicPr>
          <p:cNvPr id="20" name="Image 5" descr="preencoded.png">    </p:cNvPr>
          <p:cNvPicPr>
            <a:picLocks noChangeAspect="1"/>
          </p:cNvPicPr>
          <p:nvPr/>
        </p:nvPicPr>
        <p:blipFill>
          <a:blip r:embed="rId6"/>
          <a:stretch>
            <a:fillRect/>
          </a:stretch>
        </p:blipFill>
        <p:spPr>
          <a:xfrm>
            <a:off x="2942596" y="3017520"/>
            <a:ext cx="274320" cy="274320"/>
          </a:xfrm>
          <a:prstGeom prst="rect">
            <a:avLst/>
          </a:prstGeom>
        </p:spPr>
      </p:pic>
      <p:sp>
        <p:nvSpPr>
          <p:cNvPr id="21" name="Text 13"/>
          <p:cNvSpPr txBox="1"/>
          <p:nvPr/>
        </p:nvSpPr>
        <p:spPr>
          <a:xfrm>
            <a:off x="3308356" y="2816352"/>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Task vibes</a:t>
            </a:r>
            <a:endParaRPr lang="en-US" sz="1300" dirty="0"/>
          </a:p>
        </p:txBody>
      </p:sp>
      <p:sp>
        <p:nvSpPr>
          <p:cNvPr id="22" name="Shape 14"/>
          <p:cNvSpPr/>
          <p:nvPr/>
        </p:nvSpPr>
        <p:spPr>
          <a:xfrm>
            <a:off x="4797057" y="2816352"/>
            <a:ext cx="1891036" cy="676656"/>
          </a:xfrm>
          <a:prstGeom prst="roundRect">
            <a:avLst>
              <a:gd name="adj" fmla="val 18919"/>
            </a:avLst>
          </a:prstGeom>
          <a:solidFill>
            <a:srgbClr val="15191A"/>
          </a:solidFill>
          <a:ln w="9525">
            <a:solidFill>
              <a:srgbClr val="262C2E"/>
            </a:solidFill>
            <a:prstDash val="solid"/>
          </a:ln>
        </p:spPr>
      </p:sp>
      <p:pic>
        <p:nvPicPr>
          <p:cNvPr id="23" name="Image 6" descr="preencoded.png">    </p:cNvPr>
          <p:cNvPicPr>
            <a:picLocks noChangeAspect="1"/>
          </p:cNvPicPr>
          <p:nvPr/>
        </p:nvPicPr>
        <p:blipFill>
          <a:blip r:embed="rId7"/>
          <a:stretch>
            <a:fillRect/>
          </a:stretch>
        </p:blipFill>
        <p:spPr>
          <a:xfrm>
            <a:off x="4998225" y="3017520"/>
            <a:ext cx="274320" cy="274320"/>
          </a:xfrm>
          <a:prstGeom prst="rect">
            <a:avLst/>
          </a:prstGeom>
        </p:spPr>
      </p:pic>
      <p:sp>
        <p:nvSpPr>
          <p:cNvPr id="24" name="Text 15"/>
          <p:cNvSpPr txBox="1"/>
          <p:nvPr/>
        </p:nvSpPr>
        <p:spPr>
          <a:xfrm>
            <a:off x="5363985" y="2816352"/>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Client colours</a:t>
            </a:r>
            <a:endParaRPr lang="en-US" sz="1300" dirty="0"/>
          </a:p>
        </p:txBody>
      </p:sp>
      <p:sp>
        <p:nvSpPr>
          <p:cNvPr id="25" name="Shape 16"/>
          <p:cNvSpPr/>
          <p:nvPr/>
        </p:nvSpPr>
        <p:spPr>
          <a:xfrm>
            <a:off x="6852685" y="2816352"/>
            <a:ext cx="1891036" cy="676656"/>
          </a:xfrm>
          <a:prstGeom prst="roundRect">
            <a:avLst>
              <a:gd name="adj" fmla="val 18919"/>
            </a:avLst>
          </a:prstGeom>
          <a:solidFill>
            <a:srgbClr val="15191A"/>
          </a:solidFill>
          <a:ln w="9525">
            <a:solidFill>
              <a:srgbClr val="262C2E"/>
            </a:solidFill>
            <a:prstDash val="solid"/>
          </a:ln>
        </p:spPr>
      </p:sp>
      <p:pic>
        <p:nvPicPr>
          <p:cNvPr id="26" name="Image 7" descr="preencoded.png">    </p:cNvPr>
          <p:cNvPicPr>
            <a:picLocks noChangeAspect="1"/>
          </p:cNvPicPr>
          <p:nvPr/>
        </p:nvPicPr>
        <p:blipFill>
          <a:blip r:embed="rId8"/>
          <a:stretch>
            <a:fillRect/>
          </a:stretch>
        </p:blipFill>
        <p:spPr>
          <a:xfrm>
            <a:off x="7053853" y="3017520"/>
            <a:ext cx="274320" cy="274320"/>
          </a:xfrm>
          <a:prstGeom prst="rect">
            <a:avLst/>
          </a:prstGeom>
        </p:spPr>
      </p:pic>
      <p:sp>
        <p:nvSpPr>
          <p:cNvPr id="27" name="Text 17"/>
          <p:cNvSpPr txBox="1"/>
          <p:nvPr/>
        </p:nvSpPr>
        <p:spPr>
          <a:xfrm>
            <a:off x="7419613" y="2816352"/>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Follow-up nudges</a:t>
            </a:r>
            <a:endParaRPr lang="en-US" sz="1300" dirty="0"/>
          </a:p>
        </p:txBody>
      </p:sp>
      <p:sp>
        <p:nvSpPr>
          <p:cNvPr id="28" name="Shape 18"/>
          <p:cNvSpPr/>
          <p:nvPr/>
        </p:nvSpPr>
        <p:spPr>
          <a:xfrm>
            <a:off x="685800" y="3621024"/>
            <a:ext cx="1891036" cy="676656"/>
          </a:xfrm>
          <a:prstGeom prst="roundRect">
            <a:avLst>
              <a:gd name="adj" fmla="val 18919"/>
            </a:avLst>
          </a:prstGeom>
          <a:solidFill>
            <a:srgbClr val="15191A"/>
          </a:solidFill>
          <a:ln w="9525">
            <a:solidFill>
              <a:srgbClr val="262C2E"/>
            </a:solidFill>
            <a:prstDash val="solid"/>
          </a:ln>
        </p:spPr>
      </p:sp>
      <p:pic>
        <p:nvPicPr>
          <p:cNvPr id="29" name="Image 8" descr="preencoded.png">    </p:cNvPr>
          <p:cNvPicPr>
            <a:picLocks noChangeAspect="1"/>
          </p:cNvPicPr>
          <p:nvPr/>
        </p:nvPicPr>
        <p:blipFill>
          <a:blip r:embed="rId9"/>
          <a:stretch>
            <a:fillRect/>
          </a:stretch>
        </p:blipFill>
        <p:spPr>
          <a:xfrm>
            <a:off x="886968" y="3822192"/>
            <a:ext cx="274320" cy="274320"/>
          </a:xfrm>
          <a:prstGeom prst="rect">
            <a:avLst/>
          </a:prstGeom>
        </p:spPr>
      </p:pic>
      <p:sp>
        <p:nvSpPr>
          <p:cNvPr id="30" name="Text 19"/>
          <p:cNvSpPr txBox="1"/>
          <p:nvPr/>
        </p:nvSpPr>
        <p:spPr>
          <a:xfrm>
            <a:off x="1252728" y="3621024"/>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Team and task chat</a:t>
            </a:r>
            <a:endParaRPr lang="en-US" sz="1300" dirty="0"/>
          </a:p>
        </p:txBody>
      </p:sp>
      <p:sp>
        <p:nvSpPr>
          <p:cNvPr id="31" name="Shape 20"/>
          <p:cNvSpPr/>
          <p:nvPr/>
        </p:nvSpPr>
        <p:spPr>
          <a:xfrm>
            <a:off x="2741428" y="3621024"/>
            <a:ext cx="1891036" cy="676656"/>
          </a:xfrm>
          <a:prstGeom prst="roundRect">
            <a:avLst>
              <a:gd name="adj" fmla="val 18919"/>
            </a:avLst>
          </a:prstGeom>
          <a:solidFill>
            <a:srgbClr val="15191A"/>
          </a:solidFill>
          <a:ln w="9525">
            <a:solidFill>
              <a:srgbClr val="262C2E"/>
            </a:solidFill>
            <a:prstDash val="solid"/>
          </a:ln>
        </p:spPr>
      </p:sp>
      <p:pic>
        <p:nvPicPr>
          <p:cNvPr id="32" name="Image 9" descr="preencoded.png">    </p:cNvPr>
          <p:cNvPicPr>
            <a:picLocks noChangeAspect="1"/>
          </p:cNvPicPr>
          <p:nvPr/>
        </p:nvPicPr>
        <p:blipFill>
          <a:blip r:embed="rId10"/>
          <a:stretch>
            <a:fillRect/>
          </a:stretch>
        </p:blipFill>
        <p:spPr>
          <a:xfrm>
            <a:off x="2942596" y="3822192"/>
            <a:ext cx="274320" cy="274320"/>
          </a:xfrm>
          <a:prstGeom prst="rect">
            <a:avLst/>
          </a:prstGeom>
        </p:spPr>
      </p:pic>
      <p:sp>
        <p:nvSpPr>
          <p:cNvPr id="33" name="Text 21"/>
          <p:cNvSpPr txBox="1"/>
          <p:nvPr/>
        </p:nvSpPr>
        <p:spPr>
          <a:xfrm>
            <a:off x="3308356" y="3621024"/>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Daily AI summary</a:t>
            </a:r>
            <a:endParaRPr lang="en-US" sz="1300" dirty="0"/>
          </a:p>
        </p:txBody>
      </p:sp>
      <p:sp>
        <p:nvSpPr>
          <p:cNvPr id="34" name="Shape 22"/>
          <p:cNvSpPr/>
          <p:nvPr/>
        </p:nvSpPr>
        <p:spPr>
          <a:xfrm>
            <a:off x="4797057" y="3621024"/>
            <a:ext cx="1891036" cy="676656"/>
          </a:xfrm>
          <a:prstGeom prst="roundRect">
            <a:avLst>
              <a:gd name="adj" fmla="val 18919"/>
            </a:avLst>
          </a:prstGeom>
          <a:solidFill>
            <a:srgbClr val="15191A"/>
          </a:solidFill>
          <a:ln w="9525">
            <a:solidFill>
              <a:srgbClr val="262C2E"/>
            </a:solidFill>
            <a:prstDash val="solid"/>
          </a:ln>
        </p:spPr>
      </p:sp>
      <p:pic>
        <p:nvPicPr>
          <p:cNvPr id="35" name="Image 10" descr="preencoded.png">    </p:cNvPr>
          <p:cNvPicPr>
            <a:picLocks noChangeAspect="1"/>
          </p:cNvPicPr>
          <p:nvPr/>
        </p:nvPicPr>
        <p:blipFill>
          <a:blip r:embed="rId11"/>
          <a:stretch>
            <a:fillRect/>
          </a:stretch>
        </p:blipFill>
        <p:spPr>
          <a:xfrm>
            <a:off x="4998225" y="3822192"/>
            <a:ext cx="274320" cy="274320"/>
          </a:xfrm>
          <a:prstGeom prst="rect">
            <a:avLst/>
          </a:prstGeom>
        </p:spPr>
      </p:pic>
      <p:sp>
        <p:nvSpPr>
          <p:cNvPr id="36" name="Text 23"/>
          <p:cNvSpPr txBox="1"/>
          <p:nvPr/>
        </p:nvSpPr>
        <p:spPr>
          <a:xfrm>
            <a:off x="5363985" y="3621024"/>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“What's next?”</a:t>
            </a:r>
            <a:endParaRPr lang="en-US" sz="1300" dirty="0"/>
          </a:p>
        </p:txBody>
      </p:sp>
      <p:sp>
        <p:nvSpPr>
          <p:cNvPr id="37" name="Shape 24"/>
          <p:cNvSpPr/>
          <p:nvPr/>
        </p:nvSpPr>
        <p:spPr>
          <a:xfrm>
            <a:off x="6852685" y="3621024"/>
            <a:ext cx="1891036" cy="676656"/>
          </a:xfrm>
          <a:prstGeom prst="roundRect">
            <a:avLst>
              <a:gd name="adj" fmla="val 18919"/>
            </a:avLst>
          </a:prstGeom>
          <a:solidFill>
            <a:srgbClr val="15191A"/>
          </a:solidFill>
          <a:ln w="9525">
            <a:solidFill>
              <a:srgbClr val="262C2E"/>
            </a:solidFill>
            <a:prstDash val="solid"/>
          </a:ln>
        </p:spPr>
      </p:sp>
      <p:pic>
        <p:nvPicPr>
          <p:cNvPr id="38" name="Image 11" descr="preencoded.png">    </p:cNvPr>
          <p:cNvPicPr>
            <a:picLocks noChangeAspect="1"/>
          </p:cNvPicPr>
          <p:nvPr/>
        </p:nvPicPr>
        <p:blipFill>
          <a:blip r:embed="rId12"/>
          <a:stretch>
            <a:fillRect/>
          </a:stretch>
        </p:blipFill>
        <p:spPr>
          <a:xfrm>
            <a:off x="7053853" y="3822192"/>
            <a:ext cx="274320" cy="274320"/>
          </a:xfrm>
          <a:prstGeom prst="rect">
            <a:avLst/>
          </a:prstGeom>
        </p:spPr>
      </p:pic>
      <p:sp>
        <p:nvSpPr>
          <p:cNvPr id="39" name="Text 25"/>
          <p:cNvSpPr txBox="1"/>
          <p:nvPr/>
        </p:nvSpPr>
        <p:spPr>
          <a:xfrm>
            <a:off x="7419613" y="3621024"/>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Auto standup</a:t>
            </a:r>
            <a:endParaRPr lang="en-US" sz="1300" dirty="0"/>
          </a:p>
        </p:txBody>
      </p:sp>
      <p:sp>
        <p:nvSpPr>
          <p:cNvPr id="40" name="Shape 26"/>
          <p:cNvSpPr/>
          <p:nvPr/>
        </p:nvSpPr>
        <p:spPr>
          <a:xfrm>
            <a:off x="685800" y="4425696"/>
            <a:ext cx="1891036" cy="676656"/>
          </a:xfrm>
          <a:prstGeom prst="roundRect">
            <a:avLst>
              <a:gd name="adj" fmla="val 18919"/>
            </a:avLst>
          </a:prstGeom>
          <a:solidFill>
            <a:srgbClr val="15191A"/>
          </a:solidFill>
          <a:ln w="9525">
            <a:solidFill>
              <a:srgbClr val="262C2E"/>
            </a:solidFill>
            <a:prstDash val="solid"/>
          </a:ln>
        </p:spPr>
      </p:sp>
      <p:pic>
        <p:nvPicPr>
          <p:cNvPr id="41" name="Image 12" descr="preencoded.png">    </p:cNvPr>
          <p:cNvPicPr>
            <a:picLocks noChangeAspect="1"/>
          </p:cNvPicPr>
          <p:nvPr/>
        </p:nvPicPr>
        <p:blipFill>
          <a:blip r:embed="rId13"/>
          <a:stretch>
            <a:fillRect/>
          </a:stretch>
        </p:blipFill>
        <p:spPr>
          <a:xfrm>
            <a:off x="886968" y="4626864"/>
            <a:ext cx="274320" cy="274320"/>
          </a:xfrm>
          <a:prstGeom prst="rect">
            <a:avLst/>
          </a:prstGeom>
        </p:spPr>
      </p:pic>
      <p:sp>
        <p:nvSpPr>
          <p:cNvPr id="42" name="Text 27"/>
          <p:cNvSpPr txBox="1"/>
          <p:nvPr/>
        </p:nvSpPr>
        <p:spPr>
          <a:xfrm>
            <a:off x="1252728" y="4425696"/>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Weekly wins</a:t>
            </a:r>
            <a:endParaRPr lang="en-US" sz="1300" dirty="0"/>
          </a:p>
        </p:txBody>
      </p:sp>
      <p:sp>
        <p:nvSpPr>
          <p:cNvPr id="43" name="Shape 28"/>
          <p:cNvSpPr/>
          <p:nvPr/>
        </p:nvSpPr>
        <p:spPr>
          <a:xfrm>
            <a:off x="2741428" y="4425696"/>
            <a:ext cx="1891036" cy="676656"/>
          </a:xfrm>
          <a:prstGeom prst="roundRect">
            <a:avLst>
              <a:gd name="adj" fmla="val 18919"/>
            </a:avLst>
          </a:prstGeom>
          <a:solidFill>
            <a:srgbClr val="15191A"/>
          </a:solidFill>
          <a:ln w="9525">
            <a:solidFill>
              <a:srgbClr val="262C2E"/>
            </a:solidFill>
            <a:prstDash val="solid"/>
          </a:ln>
        </p:spPr>
      </p:sp>
      <p:pic>
        <p:nvPicPr>
          <p:cNvPr id="44" name="Image 13" descr="preencoded.png">    </p:cNvPr>
          <p:cNvPicPr>
            <a:picLocks noChangeAspect="1"/>
          </p:cNvPicPr>
          <p:nvPr/>
        </p:nvPicPr>
        <p:blipFill>
          <a:blip r:embed="rId14"/>
          <a:stretch>
            <a:fillRect/>
          </a:stretch>
        </p:blipFill>
        <p:spPr>
          <a:xfrm>
            <a:off x="2942596" y="4626864"/>
            <a:ext cx="274320" cy="274320"/>
          </a:xfrm>
          <a:prstGeom prst="rect">
            <a:avLst/>
          </a:prstGeom>
        </p:spPr>
      </p:pic>
      <p:sp>
        <p:nvSpPr>
          <p:cNvPr id="45" name="Text 29"/>
          <p:cNvSpPr txBox="1"/>
          <p:nvPr/>
        </p:nvSpPr>
        <p:spPr>
          <a:xfrm>
            <a:off x="3308356" y="4425696"/>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Analytics</a:t>
            </a:r>
            <a:endParaRPr lang="en-US" sz="1300" dirty="0"/>
          </a:p>
        </p:txBody>
      </p:sp>
      <p:sp>
        <p:nvSpPr>
          <p:cNvPr id="46" name="Shape 30"/>
          <p:cNvSpPr/>
          <p:nvPr/>
        </p:nvSpPr>
        <p:spPr>
          <a:xfrm>
            <a:off x="4797057" y="4425696"/>
            <a:ext cx="1891036" cy="676656"/>
          </a:xfrm>
          <a:prstGeom prst="roundRect">
            <a:avLst>
              <a:gd name="adj" fmla="val 18919"/>
            </a:avLst>
          </a:prstGeom>
          <a:solidFill>
            <a:srgbClr val="15191A"/>
          </a:solidFill>
          <a:ln w="9525">
            <a:solidFill>
              <a:srgbClr val="262C2E"/>
            </a:solidFill>
            <a:prstDash val="solid"/>
          </a:ln>
        </p:spPr>
      </p:sp>
      <p:pic>
        <p:nvPicPr>
          <p:cNvPr id="47" name="Image 14" descr="preencoded.png">    </p:cNvPr>
          <p:cNvPicPr>
            <a:picLocks noChangeAspect="1"/>
          </p:cNvPicPr>
          <p:nvPr/>
        </p:nvPicPr>
        <p:blipFill>
          <a:blip r:embed="rId15"/>
          <a:stretch>
            <a:fillRect/>
          </a:stretch>
        </p:blipFill>
        <p:spPr>
          <a:xfrm>
            <a:off x="4998225" y="4626864"/>
            <a:ext cx="274320" cy="274320"/>
          </a:xfrm>
          <a:prstGeom prst="rect">
            <a:avLst/>
          </a:prstGeom>
        </p:spPr>
      </p:pic>
      <p:sp>
        <p:nvSpPr>
          <p:cNvPr id="48" name="Text 31"/>
          <p:cNvSpPr txBox="1"/>
          <p:nvPr/>
        </p:nvSpPr>
        <p:spPr>
          <a:xfrm>
            <a:off x="5363985" y="4425696"/>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Ready to bill</a:t>
            </a:r>
            <a:endParaRPr lang="en-US" sz="1300" dirty="0"/>
          </a:p>
        </p:txBody>
      </p:sp>
      <p:sp>
        <p:nvSpPr>
          <p:cNvPr id="49" name="Shape 32"/>
          <p:cNvSpPr/>
          <p:nvPr/>
        </p:nvSpPr>
        <p:spPr>
          <a:xfrm>
            <a:off x="6852685" y="4425696"/>
            <a:ext cx="1891036" cy="676656"/>
          </a:xfrm>
          <a:prstGeom prst="roundRect">
            <a:avLst>
              <a:gd name="adj" fmla="val 18919"/>
            </a:avLst>
          </a:prstGeom>
          <a:solidFill>
            <a:srgbClr val="15191A"/>
          </a:solidFill>
          <a:ln w="9525">
            <a:solidFill>
              <a:srgbClr val="262C2E"/>
            </a:solidFill>
            <a:prstDash val="solid"/>
          </a:ln>
        </p:spPr>
      </p:sp>
      <p:pic>
        <p:nvPicPr>
          <p:cNvPr id="50" name="Image 15" descr="preencoded.png">    </p:cNvPr>
          <p:cNvPicPr>
            <a:picLocks noChangeAspect="1"/>
          </p:cNvPicPr>
          <p:nvPr/>
        </p:nvPicPr>
        <p:blipFill>
          <a:blip r:embed="rId16"/>
          <a:stretch>
            <a:fillRect/>
          </a:stretch>
        </p:blipFill>
        <p:spPr>
          <a:xfrm>
            <a:off x="7053853" y="4626864"/>
            <a:ext cx="274320" cy="274320"/>
          </a:xfrm>
          <a:prstGeom prst="rect">
            <a:avLst/>
          </a:prstGeom>
        </p:spPr>
      </p:pic>
      <p:sp>
        <p:nvSpPr>
          <p:cNvPr id="51" name="Text 33"/>
          <p:cNvSpPr txBox="1"/>
          <p:nvPr/>
        </p:nvSpPr>
        <p:spPr>
          <a:xfrm>
            <a:off x="7419613" y="4425696"/>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Leave and HR</a:t>
            </a:r>
            <a:endParaRPr lang="en-US" sz="1300" dirty="0"/>
          </a:p>
        </p:txBody>
      </p:sp>
      <p:sp>
        <p:nvSpPr>
          <p:cNvPr id="52" name="Shape 34"/>
          <p:cNvSpPr/>
          <p:nvPr/>
        </p:nvSpPr>
        <p:spPr>
          <a:xfrm>
            <a:off x="685800" y="5230368"/>
            <a:ext cx="1891036" cy="676656"/>
          </a:xfrm>
          <a:prstGeom prst="roundRect">
            <a:avLst>
              <a:gd name="adj" fmla="val 18919"/>
            </a:avLst>
          </a:prstGeom>
          <a:solidFill>
            <a:srgbClr val="15191A"/>
          </a:solidFill>
          <a:ln w="9525">
            <a:solidFill>
              <a:srgbClr val="262C2E"/>
            </a:solidFill>
            <a:prstDash val="solid"/>
          </a:ln>
        </p:spPr>
      </p:sp>
      <p:pic>
        <p:nvPicPr>
          <p:cNvPr id="53" name="Image 16" descr="preencoded.png">    </p:cNvPr>
          <p:cNvPicPr>
            <a:picLocks noChangeAspect="1"/>
          </p:cNvPicPr>
          <p:nvPr/>
        </p:nvPicPr>
        <p:blipFill>
          <a:blip r:embed="rId17"/>
          <a:stretch>
            <a:fillRect/>
          </a:stretch>
        </p:blipFill>
        <p:spPr>
          <a:xfrm>
            <a:off x="886968" y="5431536"/>
            <a:ext cx="274320" cy="274320"/>
          </a:xfrm>
          <a:prstGeom prst="rect">
            <a:avLst/>
          </a:prstGeom>
        </p:spPr>
      </p:pic>
      <p:sp>
        <p:nvSpPr>
          <p:cNvPr id="54" name="Text 35"/>
          <p:cNvSpPr txBox="1"/>
          <p:nvPr/>
        </p:nvSpPr>
        <p:spPr>
          <a:xfrm>
            <a:off x="1252728" y="5230368"/>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Google Sheets sync</a:t>
            </a:r>
            <a:endParaRPr lang="en-US" sz="1300" dirty="0"/>
          </a:p>
        </p:txBody>
      </p:sp>
      <p:sp>
        <p:nvSpPr>
          <p:cNvPr id="55" name="Shape 36"/>
          <p:cNvSpPr/>
          <p:nvPr/>
        </p:nvSpPr>
        <p:spPr>
          <a:xfrm>
            <a:off x="2741428" y="5230368"/>
            <a:ext cx="1891036" cy="676656"/>
          </a:xfrm>
          <a:prstGeom prst="roundRect">
            <a:avLst>
              <a:gd name="adj" fmla="val 18919"/>
            </a:avLst>
          </a:prstGeom>
          <a:solidFill>
            <a:srgbClr val="15191A"/>
          </a:solidFill>
          <a:ln w="9525">
            <a:solidFill>
              <a:srgbClr val="262C2E"/>
            </a:solidFill>
            <a:prstDash val="solid"/>
          </a:ln>
        </p:spPr>
      </p:sp>
      <p:pic>
        <p:nvPicPr>
          <p:cNvPr id="56" name="Image 17" descr="preencoded.png">    </p:cNvPr>
          <p:cNvPicPr>
            <a:picLocks noChangeAspect="1"/>
          </p:cNvPicPr>
          <p:nvPr/>
        </p:nvPicPr>
        <p:blipFill>
          <a:blip r:embed="rId18"/>
          <a:stretch>
            <a:fillRect/>
          </a:stretch>
        </p:blipFill>
        <p:spPr>
          <a:xfrm>
            <a:off x="2942596" y="5431536"/>
            <a:ext cx="274320" cy="274320"/>
          </a:xfrm>
          <a:prstGeom prst="rect">
            <a:avLst/>
          </a:prstGeom>
        </p:spPr>
      </p:pic>
      <p:sp>
        <p:nvSpPr>
          <p:cNvPr id="57" name="Text 37"/>
          <p:cNvSpPr txBox="1"/>
          <p:nvPr/>
        </p:nvSpPr>
        <p:spPr>
          <a:xfrm>
            <a:off x="3308356" y="5230368"/>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Roles and permissions</a:t>
            </a:r>
            <a:endParaRPr lang="en-US" sz="1300" dirty="0"/>
          </a:p>
        </p:txBody>
      </p:sp>
      <p:sp>
        <p:nvSpPr>
          <p:cNvPr id="58" name="Shape 38"/>
          <p:cNvSpPr/>
          <p:nvPr/>
        </p:nvSpPr>
        <p:spPr>
          <a:xfrm>
            <a:off x="4797057" y="5230368"/>
            <a:ext cx="1891036" cy="676656"/>
          </a:xfrm>
          <a:prstGeom prst="roundRect">
            <a:avLst>
              <a:gd name="adj" fmla="val 18919"/>
            </a:avLst>
          </a:prstGeom>
          <a:solidFill>
            <a:srgbClr val="15191A"/>
          </a:solidFill>
          <a:ln w="9525">
            <a:solidFill>
              <a:srgbClr val="262C2E"/>
            </a:solidFill>
            <a:prstDash val="solid"/>
          </a:ln>
        </p:spPr>
      </p:sp>
      <p:pic>
        <p:nvPicPr>
          <p:cNvPr id="59" name="Image 18" descr="preencoded.png">    </p:cNvPr>
          <p:cNvPicPr>
            <a:picLocks noChangeAspect="1"/>
          </p:cNvPicPr>
          <p:nvPr/>
        </p:nvPicPr>
        <p:blipFill>
          <a:blip r:embed="rId19"/>
          <a:stretch>
            <a:fillRect/>
          </a:stretch>
        </p:blipFill>
        <p:spPr>
          <a:xfrm>
            <a:off x="4998225" y="5431536"/>
            <a:ext cx="274320" cy="274320"/>
          </a:xfrm>
          <a:prstGeom prst="rect">
            <a:avLst/>
          </a:prstGeom>
        </p:spPr>
      </p:pic>
      <p:sp>
        <p:nvSpPr>
          <p:cNvPr id="60" name="Text 39"/>
          <p:cNvSpPr txBox="1"/>
          <p:nvPr/>
        </p:nvSpPr>
        <p:spPr>
          <a:xfrm>
            <a:off x="5363985" y="5230368"/>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Widgets and alerts</a:t>
            </a:r>
            <a:endParaRPr lang="en-US" sz="1300" dirty="0"/>
          </a:p>
        </p:txBody>
      </p:sp>
      <p:sp>
        <p:nvSpPr>
          <p:cNvPr id="61" name="Shape 40"/>
          <p:cNvSpPr/>
          <p:nvPr/>
        </p:nvSpPr>
        <p:spPr>
          <a:xfrm>
            <a:off x="6852685" y="5230368"/>
            <a:ext cx="1891036" cy="676656"/>
          </a:xfrm>
          <a:prstGeom prst="roundRect">
            <a:avLst>
              <a:gd name="adj" fmla="val 18919"/>
            </a:avLst>
          </a:prstGeom>
          <a:solidFill>
            <a:srgbClr val="15191A"/>
          </a:solidFill>
          <a:ln w="9525">
            <a:solidFill>
              <a:srgbClr val="262C2E"/>
            </a:solidFill>
            <a:prstDash val="solid"/>
          </a:ln>
        </p:spPr>
      </p:sp>
      <p:pic>
        <p:nvPicPr>
          <p:cNvPr id="62" name="Image 19" descr="preencoded.png">    </p:cNvPr>
          <p:cNvPicPr>
            <a:picLocks noChangeAspect="1"/>
          </p:cNvPicPr>
          <p:nvPr/>
        </p:nvPicPr>
        <p:blipFill>
          <a:blip r:embed="rId20"/>
          <a:stretch>
            <a:fillRect/>
          </a:stretch>
        </p:blipFill>
        <p:spPr>
          <a:xfrm>
            <a:off x="7053853" y="5431536"/>
            <a:ext cx="274320" cy="274320"/>
          </a:xfrm>
          <a:prstGeom prst="rect">
            <a:avLst/>
          </a:prstGeom>
        </p:spPr>
      </p:pic>
      <p:sp>
        <p:nvSpPr>
          <p:cNvPr id="63" name="Text 41"/>
          <p:cNvSpPr txBox="1"/>
          <p:nvPr/>
        </p:nvSpPr>
        <p:spPr>
          <a:xfrm>
            <a:off x="7419613" y="5230368"/>
            <a:ext cx="1232668" cy="676656"/>
          </a:xfrm>
          <a:prstGeom prst="rect">
            <a:avLst/>
          </a:prstGeom>
          <a:noFill/>
          <a:ln/>
        </p:spPr>
        <p:txBody>
          <a:bodyPr wrap="square" lIns="0" tIns="0" rIns="0" bIns="0" rtlCol="0" anchor="ctr"/>
          <a:lstStyle/>
          <a:p>
            <a:pPr indent="0" marL="0">
              <a:lnSpc>
                <a:spcPct val="105000"/>
              </a:lnSpc>
              <a:buNone/>
            </a:pPr>
            <a:r>
              <a:rPr lang="en-US" sz="1300" b="1" dirty="0">
                <a:solidFill>
                  <a:srgbClr val="F4F6F5"/>
                </a:solidFill>
                <a:latin typeface="Manrope" pitchFamily="34" charset="0"/>
                <a:ea typeface="Manrope" pitchFamily="34" charset="-122"/>
                <a:cs typeface="Manrope" pitchFamily="34" charset="-120"/>
              </a:rPr>
              <a:t>iOS, Android and web</a:t>
            </a:r>
            <a:endParaRPr lang="en-US" sz="1300" dirty="0"/>
          </a:p>
        </p:txBody>
      </p:sp>
      <p:pic>
        <p:nvPicPr>
          <p:cNvPr id="64" name="Image 20" descr="/tmp/claude-0/-home-user-Claude-Works/c609e3f7-e17f-5f43-8424-4df30cb9a6a9/scratchpad/build/s/img/annan_proud.png">    </p:cNvPr>
          <p:cNvPicPr>
            <a:picLocks noChangeAspect="1"/>
          </p:cNvPicPr>
          <p:nvPr/>
        </p:nvPicPr>
        <p:blipFill>
          <a:blip r:embed="rId21"/>
          <a:stretch>
            <a:fillRect/>
          </a:stretch>
        </p:blipFill>
        <p:spPr>
          <a:xfrm>
            <a:off x="9698355" y="3840480"/>
            <a:ext cx="1898980" cy="2286000"/>
          </a:xfrm>
          <a:prstGeom prst="rect">
            <a:avLst/>
          </a:prstGeom>
        </p:spPr>
      </p:pic>
      <p:pic>
        <p:nvPicPr>
          <p:cNvPr id="65" name="Image 21" descr="preencoded.png">    </p:cNvPr>
          <p:cNvPicPr>
            <a:picLocks noChangeAspect="1"/>
          </p:cNvPicPr>
          <p:nvPr/>
        </p:nvPicPr>
        <p:blipFill>
          <a:blip r:embed="rId22"/>
          <a:stretch>
            <a:fillRect/>
          </a:stretch>
        </p:blipFill>
        <p:spPr>
          <a:xfrm>
            <a:off x="9226476" y="2778404"/>
            <a:ext cx="2451751" cy="1143000"/>
          </a:xfrm>
          <a:prstGeom prst="rect">
            <a:avLst/>
          </a:prstGeom>
        </p:spPr>
      </p:pic>
      <p:sp>
        <p:nvSpPr>
          <p:cNvPr id="66" name="Text 42"/>
          <p:cNvSpPr txBox="1"/>
          <p:nvPr/>
        </p:nvSpPr>
        <p:spPr>
          <a:xfrm>
            <a:off x="9546516" y="2997860"/>
            <a:ext cx="1829959"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All of this. Quietly,</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in the background.</a:t>
            </a:r>
            <a:endParaRPr lang="en-US" sz="1500" dirty="0"/>
          </a:p>
        </p:txBody>
      </p:sp>
      <p:sp>
        <p:nvSpPr>
          <p:cNvPr id="67" name="Text 43"/>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68" name="Text 44"/>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6400800" y="-731520"/>
            <a:ext cx="6949440" cy="6949440"/>
          </a:xfrm>
          <a:prstGeom prst="rect">
            <a:avLst/>
          </a:prstGeom>
        </p:spPr>
      </p:pic>
      <p:sp>
        <p:nvSpPr>
          <p:cNvPr id="3" name="Text 0"/>
          <p:cNvSpPr txBox="1"/>
          <p:nvPr/>
        </p:nvSpPr>
        <p:spPr>
          <a:xfrm>
            <a:off x="685800" y="640080"/>
            <a:ext cx="45720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MADE FOR YOUR STUDIO</a:t>
            </a:r>
            <a:endParaRPr lang="en-US" sz="1000" dirty="0"/>
          </a:p>
        </p:txBody>
      </p:sp>
      <p:sp>
        <p:nvSpPr>
          <p:cNvPr id="4" name="Text 1"/>
          <p:cNvSpPr txBox="1"/>
          <p:nvPr/>
        </p:nvSpPr>
        <p:spPr>
          <a:xfrm>
            <a:off x="685800" y="1005840"/>
            <a:ext cx="5295748"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Your look,</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your way.</a:t>
            </a:r>
            <a:endParaRPr lang="en-US" sz="4400" dirty="0"/>
          </a:p>
        </p:txBody>
      </p:sp>
      <p:sp>
        <p:nvSpPr>
          <p:cNvPr id="5" name="Text 2"/>
          <p:cNvSpPr txBox="1"/>
          <p:nvPr/>
        </p:nvSpPr>
        <p:spPr>
          <a:xfrm>
            <a:off x="685800" y="2468880"/>
            <a:ext cx="4375023" cy="1188720"/>
          </a:xfrm>
          <a:prstGeom prst="rect">
            <a:avLst/>
          </a:prstGeom>
          <a:noFill/>
          <a:ln/>
        </p:spPr>
        <p:txBody>
          <a:bodyPr wrap="square" lIns="0" tIns="0" rIns="0" bIns="0" rtlCol="0" anchor="t"/>
          <a:lstStyle/>
          <a:p>
            <a:pPr indent="0" marL="0">
              <a:lnSpc>
                <a:spcPct val="125000"/>
              </a:lnSpc>
              <a:buNone/>
            </a:pPr>
            <a:r>
              <a:rPr lang="en-US" sz="1800" dirty="0">
                <a:solidFill>
                  <a:srgbClr val="9AA7A2"/>
                </a:solidFill>
                <a:latin typeface="Manrope" pitchFamily="34" charset="0"/>
                <a:ea typeface="Manrope" pitchFamily="34" charset="-122"/>
                <a:cs typeface="Manrope" pitchFamily="34" charset="-120"/>
              </a:rPr>
              <a:t>Light or dark, in your colours and logo, with your pipeline, categories and roles. We can set it all up for you.</a:t>
            </a:r>
            <a:endParaRPr lang="en-US" sz="1800" dirty="0"/>
          </a:p>
        </p:txBody>
      </p:sp>
      <p:pic>
        <p:nvPicPr>
          <p:cNvPr id="6" name="Image 1" descr="/tmp/claude-0/-home-user-Claude-Works/c609e3f7-e17f-5f43-8424-4df30cb9a6a9/scratchpad/build/s/img/annan_proud.png">    </p:cNvPr>
          <p:cNvPicPr>
            <a:picLocks noChangeAspect="1"/>
          </p:cNvPicPr>
          <p:nvPr/>
        </p:nvPicPr>
        <p:blipFill>
          <a:blip r:embed="rId2"/>
          <a:stretch>
            <a:fillRect/>
          </a:stretch>
        </p:blipFill>
        <p:spPr>
          <a:xfrm>
            <a:off x="594360" y="4434840"/>
            <a:ext cx="1443225" cy="1737360"/>
          </a:xfrm>
          <a:prstGeom prst="rect">
            <a:avLst/>
          </a:prstGeom>
        </p:spPr>
      </p:pic>
      <p:pic>
        <p:nvPicPr>
          <p:cNvPr id="7" name="Image 2" descr="preencoded.png">    </p:cNvPr>
          <p:cNvPicPr>
            <a:picLocks noChangeAspect="1"/>
          </p:cNvPicPr>
          <p:nvPr/>
        </p:nvPicPr>
        <p:blipFill>
          <a:blip r:embed="rId3"/>
          <a:stretch>
            <a:fillRect/>
          </a:stretch>
        </p:blipFill>
        <p:spPr>
          <a:xfrm>
            <a:off x="444238" y="3588709"/>
            <a:ext cx="2648541" cy="909828"/>
          </a:xfrm>
          <a:prstGeom prst="rect">
            <a:avLst/>
          </a:prstGeom>
        </p:spPr>
      </p:pic>
      <p:sp>
        <p:nvSpPr>
          <p:cNvPr id="8" name="Text 3"/>
          <p:cNvSpPr txBox="1"/>
          <p:nvPr/>
        </p:nvSpPr>
        <p:spPr>
          <a:xfrm>
            <a:off x="764278" y="3808165"/>
            <a:ext cx="2026749" cy="233172"/>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Your colours suit me.</a:t>
            </a:r>
            <a:endParaRPr lang="en-US" sz="1500" dirty="0"/>
          </a:p>
        </p:txBody>
      </p:sp>
      <p:pic>
        <p:nvPicPr>
          <p:cNvPr id="9" name="Image 3" descr="/tmp/claude-0/-home-user-Claude-Works/c609e3f7-e17f-5f43-8424-4df30cb9a6a9/scratchpad/build/s/img/m_front_home_dark.png">    </p:cNvPr>
          <p:cNvPicPr>
            <a:picLocks noChangeAspect="1"/>
          </p:cNvPicPr>
          <p:nvPr/>
        </p:nvPicPr>
        <p:blipFill>
          <a:blip r:embed="rId4"/>
          <a:stretch>
            <a:fillRect/>
          </a:stretch>
        </p:blipFill>
        <p:spPr>
          <a:xfrm>
            <a:off x="6301588" y="1681594"/>
            <a:ext cx="1600657" cy="3311933"/>
          </a:xfrm>
          <a:prstGeom prst="rect">
            <a:avLst/>
          </a:prstGeom>
        </p:spPr>
      </p:pic>
      <p:sp>
        <p:nvSpPr>
          <p:cNvPr id="10" name="Text 4"/>
          <p:cNvSpPr txBox="1"/>
          <p:nvPr/>
        </p:nvSpPr>
        <p:spPr>
          <a:xfrm>
            <a:off x="6301588" y="5176406"/>
            <a:ext cx="160065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DARK</a:t>
            </a:r>
            <a:endParaRPr lang="en-US" sz="1000" dirty="0"/>
          </a:p>
        </p:txBody>
      </p:sp>
      <p:pic>
        <p:nvPicPr>
          <p:cNvPr id="11" name="Image 4" descr="/tmp/claude-0/-home-user-Claude-Works/c609e3f7-e17f-5f43-8424-4df30cb9a6a9/scratchpad/build/s/img/m_front_home_light.png">    </p:cNvPr>
          <p:cNvPicPr>
            <a:picLocks noChangeAspect="1"/>
          </p:cNvPicPr>
          <p:nvPr/>
        </p:nvPicPr>
        <p:blipFill>
          <a:blip r:embed="rId5"/>
          <a:stretch>
            <a:fillRect/>
          </a:stretch>
        </p:blipFill>
        <p:spPr>
          <a:xfrm>
            <a:off x="8103413" y="1681594"/>
            <a:ext cx="1600657" cy="3311933"/>
          </a:xfrm>
          <a:prstGeom prst="rect">
            <a:avLst/>
          </a:prstGeom>
        </p:spPr>
      </p:pic>
      <p:sp>
        <p:nvSpPr>
          <p:cNvPr id="12" name="Text 5"/>
          <p:cNvSpPr txBox="1"/>
          <p:nvPr/>
        </p:nvSpPr>
        <p:spPr>
          <a:xfrm>
            <a:off x="8103413" y="5176406"/>
            <a:ext cx="1600657" cy="201168"/>
          </a:xfrm>
          <a:prstGeom prst="rect">
            <a:avLst/>
          </a:prstGeom>
          <a:noFill/>
          <a:ln/>
        </p:spPr>
        <p:txBody>
          <a:bodyPr wrap="square" lIns="0" tIns="0" rIns="0" bIns="0" rtlCol="0" anchor="t"/>
          <a:lstStyle/>
          <a:p>
            <a:pPr algn="ct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LIGHT</a:t>
            </a:r>
            <a:endParaRPr lang="en-US" sz="1000" dirty="0"/>
          </a:p>
        </p:txBody>
      </p:sp>
      <p:pic>
        <p:nvPicPr>
          <p:cNvPr id="13" name="Image 5" descr="/tmp/claude-0/-home-user-Claude-Works/c609e3f7-e17f-5f43-8424-4df30cb9a6a9/scratchpad/build/s/img/m_front_home_custom.png">    </p:cNvPr>
          <p:cNvPicPr>
            <a:picLocks noChangeAspect="1"/>
          </p:cNvPicPr>
          <p:nvPr/>
        </p:nvPicPr>
        <p:blipFill>
          <a:blip r:embed="rId6"/>
          <a:stretch>
            <a:fillRect/>
          </a:stretch>
        </p:blipFill>
        <p:spPr>
          <a:xfrm>
            <a:off x="9905238" y="1681594"/>
            <a:ext cx="1600657" cy="3311933"/>
          </a:xfrm>
          <a:prstGeom prst="rect">
            <a:avLst/>
          </a:prstGeom>
        </p:spPr>
      </p:pic>
      <p:sp>
        <p:nvSpPr>
          <p:cNvPr id="14" name="Text 6"/>
          <p:cNvSpPr txBox="1"/>
          <p:nvPr/>
        </p:nvSpPr>
        <p:spPr>
          <a:xfrm>
            <a:off x="9905238" y="5176406"/>
            <a:ext cx="1600657" cy="201168"/>
          </a:xfrm>
          <a:prstGeom prst="rect">
            <a:avLst/>
          </a:prstGeom>
          <a:noFill/>
          <a:ln/>
        </p:spPr>
        <p:txBody>
          <a:bodyPr wrap="square" lIns="0" tIns="0" rIns="0" bIns="0" rtlCol="0" anchor="t"/>
          <a:lstStyle/>
          <a:p>
            <a:pPr algn="ct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YOUR BRAND</a:t>
            </a:r>
            <a:endParaRPr lang="en-US" sz="1000" dirty="0"/>
          </a:p>
        </p:txBody>
      </p:sp>
      <p:sp>
        <p:nvSpPr>
          <p:cNvPr id="15" name="Text 7"/>
          <p:cNvSpPr txBox="1"/>
          <p:nvPr/>
        </p:nvSpPr>
        <p:spPr>
          <a:xfrm>
            <a:off x="685800" y="6355080"/>
            <a:ext cx="50292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685800" y="640080"/>
            <a:ext cx="36576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GET STARTED</a:t>
            </a:r>
            <a:endParaRPr lang="en-US" sz="1000" dirty="0"/>
          </a:p>
        </p:txBody>
      </p:sp>
      <p:sp>
        <p:nvSpPr>
          <p:cNvPr id="3" name="Text 1"/>
          <p:cNvSpPr txBox="1"/>
          <p:nvPr/>
        </p:nvSpPr>
        <p:spPr>
          <a:xfrm>
            <a:off x="685800" y="1005840"/>
            <a:ext cx="8057921" cy="731520"/>
          </a:xfrm>
          <a:prstGeom prst="rect">
            <a:avLst/>
          </a:prstGeom>
          <a:noFill/>
          <a:ln/>
        </p:spPr>
        <p:txBody>
          <a:bodyPr wrap="square" lIns="0" tIns="0" rIns="0" bIns="0" rtlCol="0" anchor="t"/>
          <a:lstStyle/>
          <a:p>
            <a:pPr indent="0" marL="0">
              <a:buNone/>
            </a:pPr>
            <a:r>
              <a:rPr lang="en-US" sz="4400" b="1" dirty="0">
                <a:solidFill>
                  <a:srgbClr val="F4F6F5"/>
                </a:solidFill>
                <a:latin typeface="Epilogue" pitchFamily="34" charset="0"/>
                <a:ea typeface="Epilogue" pitchFamily="34" charset="-122"/>
                <a:cs typeface="Epilogue" pitchFamily="34" charset="-120"/>
              </a:rPr>
              <a:t>Start with a month free.</a:t>
            </a:r>
            <a:endParaRPr lang="en-US" sz="4400" dirty="0"/>
          </a:p>
        </p:txBody>
      </p:sp>
      <p:sp>
        <p:nvSpPr>
          <p:cNvPr id="4" name="Text 2"/>
          <p:cNvSpPr txBox="1"/>
          <p:nvPr/>
        </p:nvSpPr>
        <p:spPr>
          <a:xfrm>
            <a:off x="685800" y="1783080"/>
            <a:ext cx="7137197" cy="411480"/>
          </a:xfrm>
          <a:prstGeom prst="rect">
            <a:avLst/>
          </a:prstGeom>
          <a:noFill/>
          <a:ln/>
        </p:spPr>
        <p:txBody>
          <a:bodyPr wrap="square" lIns="0" tIns="0" rIns="0" bIns="0" rtlCol="0" anchor="t"/>
          <a:lstStyle/>
          <a:p>
            <a:pPr indent="0" marL="0">
              <a:buNone/>
            </a:pPr>
            <a:r>
              <a:rPr lang="en-US" sz="1800" dirty="0">
                <a:solidFill>
                  <a:srgbClr val="9AA7A2"/>
                </a:solidFill>
                <a:latin typeface="Manrope" pitchFamily="34" charset="0"/>
                <a:ea typeface="Manrope" pitchFamily="34" charset="-122"/>
                <a:cs typeface="Manrope" pitchFamily="34" charset="-120"/>
              </a:rPr>
              <a:t>Up to 3 people, basic setup, on us. Then pick the plan that fits.</a:t>
            </a:r>
            <a:endParaRPr lang="en-US" sz="1800" dirty="0"/>
          </a:p>
        </p:txBody>
      </p:sp>
      <p:pic>
        <p:nvPicPr>
          <p:cNvPr id="5" name="Image 0" descr="/tmp/claude-0/-home-user-Claude-Works/c609e3f7-e17f-5f43-8424-4df30cb9a6a9/scratchpad/build/s/img/annan_celebrating.png">    </p:cNvPr>
          <p:cNvPicPr>
            <a:picLocks noChangeAspect="1"/>
          </p:cNvPicPr>
          <p:nvPr/>
        </p:nvPicPr>
        <p:blipFill>
          <a:blip r:embed="rId1"/>
          <a:stretch>
            <a:fillRect/>
          </a:stretch>
        </p:blipFill>
        <p:spPr>
          <a:xfrm>
            <a:off x="10160401" y="1737360"/>
            <a:ext cx="1391214" cy="1371600"/>
          </a:xfrm>
          <a:prstGeom prst="rect">
            <a:avLst/>
          </a:prstGeom>
        </p:spPr>
      </p:pic>
      <p:pic>
        <p:nvPicPr>
          <p:cNvPr id="6" name="Image 1" descr="preencoded.png">    </p:cNvPr>
          <p:cNvPicPr>
            <a:picLocks noChangeAspect="1"/>
          </p:cNvPicPr>
          <p:nvPr/>
        </p:nvPicPr>
        <p:blipFill>
          <a:blip r:embed="rId2"/>
          <a:stretch>
            <a:fillRect/>
          </a:stretch>
        </p:blipFill>
        <p:spPr>
          <a:xfrm>
            <a:off x="8170273" y="666186"/>
            <a:ext cx="2583188" cy="1143000"/>
          </a:xfrm>
          <a:prstGeom prst="rect">
            <a:avLst/>
          </a:prstGeom>
        </p:spPr>
      </p:pic>
      <p:sp>
        <p:nvSpPr>
          <p:cNvPr id="7" name="Text 3"/>
          <p:cNvSpPr txBox="1"/>
          <p:nvPr/>
        </p:nvSpPr>
        <p:spPr>
          <a:xfrm>
            <a:off x="8490313" y="885642"/>
            <a:ext cx="1897388"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Bring the team.</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First month's on us.</a:t>
            </a:r>
            <a:endParaRPr lang="en-US" sz="1500" dirty="0"/>
          </a:p>
        </p:txBody>
      </p:sp>
      <p:sp>
        <p:nvSpPr>
          <p:cNvPr id="8" name="Shape 4"/>
          <p:cNvSpPr/>
          <p:nvPr/>
        </p:nvSpPr>
        <p:spPr>
          <a:xfrm>
            <a:off x="685800" y="3246120"/>
            <a:ext cx="3454298" cy="2331720"/>
          </a:xfrm>
          <a:prstGeom prst="roundRect">
            <a:avLst>
              <a:gd name="adj" fmla="val 7843"/>
            </a:avLst>
          </a:prstGeom>
          <a:solidFill>
            <a:srgbClr val="15191A"/>
          </a:solidFill>
          <a:ln w="9525">
            <a:solidFill>
              <a:srgbClr val="262C2E"/>
            </a:solidFill>
            <a:prstDash val="solid"/>
          </a:ln>
        </p:spPr>
      </p:sp>
      <p:sp>
        <p:nvSpPr>
          <p:cNvPr id="9" name="Text 5"/>
          <p:cNvSpPr txBox="1"/>
          <p:nvPr/>
        </p:nvSpPr>
        <p:spPr>
          <a:xfrm>
            <a:off x="1051560" y="3593592"/>
            <a:ext cx="2722778"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BASIC</a:t>
            </a:r>
            <a:endParaRPr lang="en-US" sz="1000" dirty="0"/>
          </a:p>
        </p:txBody>
      </p:sp>
      <p:sp>
        <p:nvSpPr>
          <p:cNvPr id="10" name="Text 6"/>
          <p:cNvSpPr txBox="1"/>
          <p:nvPr/>
        </p:nvSpPr>
        <p:spPr>
          <a:xfrm>
            <a:off x="1051560" y="3904488"/>
            <a:ext cx="2722778" cy="777240"/>
          </a:xfrm>
          <a:prstGeom prst="rect">
            <a:avLst/>
          </a:prstGeom>
          <a:noFill/>
          <a:ln/>
        </p:spPr>
        <p:txBody>
          <a:bodyPr wrap="square" lIns="0" tIns="0" rIns="0" bIns="0" rtlCol="0" anchor="t"/>
          <a:lstStyle/>
          <a:p>
            <a:pPr indent="0" marL="0">
              <a:buNone/>
            </a:pPr>
            <a:r>
              <a:rPr lang="en-US" sz="4800" b="1" dirty="0">
                <a:solidFill>
                  <a:srgbClr val="F4F6F5"/>
                </a:solidFill>
                <a:latin typeface="Epilogue" pitchFamily="34" charset="0"/>
                <a:ea typeface="Epilogue" pitchFamily="34" charset="-122"/>
                <a:cs typeface="Epilogue" pitchFamily="34" charset="-120"/>
              </a:rPr>
              <a:t>₹199</a:t>
            </a:r>
            <a:endParaRPr lang="en-US" sz="4800" dirty="0"/>
          </a:p>
        </p:txBody>
      </p:sp>
      <p:sp>
        <p:nvSpPr>
          <p:cNvPr id="11" name="Text 7"/>
          <p:cNvSpPr txBox="1"/>
          <p:nvPr/>
        </p:nvSpPr>
        <p:spPr>
          <a:xfrm>
            <a:off x="1051560" y="4663440"/>
            <a:ext cx="2722778" cy="274320"/>
          </a:xfrm>
          <a:prstGeom prst="rect">
            <a:avLst/>
          </a:prstGeom>
          <a:noFill/>
          <a:ln/>
        </p:spPr>
        <p:txBody>
          <a:bodyPr wrap="square" lIns="0" tIns="0" rIns="0" bIns="0" rtlCol="0" anchor="t"/>
          <a:lstStyle/>
          <a:p>
            <a:pPr indent="0" marL="0">
              <a:buNone/>
            </a:pPr>
            <a:r>
              <a:rPr lang="en-US" sz="1300" dirty="0">
                <a:solidFill>
                  <a:srgbClr val="9AA7A2"/>
                </a:solidFill>
                <a:latin typeface="Manrope" pitchFamily="34" charset="0"/>
                <a:ea typeface="Manrope" pitchFamily="34" charset="-122"/>
                <a:cs typeface="Manrope" pitchFamily="34" charset="-120"/>
              </a:rPr>
              <a:t>per person, per month</a:t>
            </a:r>
            <a:endParaRPr lang="en-US" sz="1300" dirty="0"/>
          </a:p>
        </p:txBody>
      </p:sp>
      <p:sp>
        <p:nvSpPr>
          <p:cNvPr id="12" name="Text 8"/>
          <p:cNvSpPr txBox="1"/>
          <p:nvPr/>
        </p:nvSpPr>
        <p:spPr>
          <a:xfrm>
            <a:off x="1051560" y="5029200"/>
            <a:ext cx="2722778" cy="320040"/>
          </a:xfrm>
          <a:prstGeom prst="rect">
            <a:avLst/>
          </a:prstGeom>
          <a:noFill/>
          <a:ln/>
        </p:spPr>
        <p:txBody>
          <a:bodyPr wrap="square" lIns="0" tIns="0" rIns="0" bIns="0" rtlCol="0" anchor="t"/>
          <a:lstStyle/>
          <a:p>
            <a:pPr indent="0" marL="0">
              <a:buNone/>
            </a:pPr>
            <a:r>
              <a:rPr lang="en-US" sz="1500" b="1" dirty="0">
                <a:solidFill>
                  <a:srgbClr val="F4F6F5"/>
                </a:solidFill>
                <a:latin typeface="Manrope" pitchFamily="34" charset="0"/>
                <a:ea typeface="Manrope" pitchFamily="34" charset="-122"/>
                <a:cs typeface="Manrope" pitchFamily="34" charset="-120"/>
              </a:rPr>
              <a:t>The essentials for a small team.</a:t>
            </a:r>
            <a:endParaRPr lang="en-US" sz="1500" dirty="0"/>
          </a:p>
        </p:txBody>
      </p:sp>
      <p:sp>
        <p:nvSpPr>
          <p:cNvPr id="13" name="Shape 9"/>
          <p:cNvSpPr/>
          <p:nvPr/>
        </p:nvSpPr>
        <p:spPr>
          <a:xfrm>
            <a:off x="4368698" y="3246120"/>
            <a:ext cx="3454298" cy="2331720"/>
          </a:xfrm>
          <a:prstGeom prst="roundRect">
            <a:avLst>
              <a:gd name="adj" fmla="val 7843"/>
            </a:avLst>
          </a:prstGeom>
          <a:solidFill>
            <a:srgbClr val="B8E62E"/>
          </a:solidFill>
          <a:ln/>
        </p:spPr>
      </p:sp>
      <p:sp>
        <p:nvSpPr>
          <p:cNvPr id="14" name="Text 10"/>
          <p:cNvSpPr txBox="1"/>
          <p:nvPr/>
        </p:nvSpPr>
        <p:spPr>
          <a:xfrm>
            <a:off x="4734458" y="3593592"/>
            <a:ext cx="2722778" cy="201168"/>
          </a:xfrm>
          <a:prstGeom prst="rect">
            <a:avLst/>
          </a:prstGeom>
          <a:noFill/>
          <a:ln/>
        </p:spPr>
        <p:txBody>
          <a:bodyPr wrap="square" lIns="0" tIns="0" rIns="0" bIns="0" rtlCol="0" anchor="t"/>
          <a:lstStyle/>
          <a:p>
            <a:pPr indent="0" marL="0">
              <a:buNone/>
            </a:pPr>
            <a:r>
              <a:rPr lang="en-US" sz="1000" b="1" spc="200" kern="0" dirty="0">
                <a:solidFill>
                  <a:srgbClr val="0B0D0C"/>
                </a:solidFill>
                <a:latin typeface="Plus Jakarta Sans" pitchFamily="34" charset="0"/>
                <a:ea typeface="Plus Jakarta Sans" pitchFamily="34" charset="-122"/>
                <a:cs typeface="Plus Jakarta Sans" pitchFamily="34" charset="-120"/>
              </a:rPr>
              <a:t>ADVANCED</a:t>
            </a:r>
            <a:endParaRPr lang="en-US" sz="1000" dirty="0"/>
          </a:p>
        </p:txBody>
      </p:sp>
      <p:sp>
        <p:nvSpPr>
          <p:cNvPr id="15" name="Text 11"/>
          <p:cNvSpPr txBox="1"/>
          <p:nvPr/>
        </p:nvSpPr>
        <p:spPr>
          <a:xfrm>
            <a:off x="4734458" y="3904488"/>
            <a:ext cx="2722778" cy="777240"/>
          </a:xfrm>
          <a:prstGeom prst="rect">
            <a:avLst/>
          </a:prstGeom>
          <a:noFill/>
          <a:ln/>
        </p:spPr>
        <p:txBody>
          <a:bodyPr wrap="square" lIns="0" tIns="0" rIns="0" bIns="0" rtlCol="0" anchor="t"/>
          <a:lstStyle/>
          <a:p>
            <a:pPr indent="0" marL="0">
              <a:buNone/>
            </a:pPr>
            <a:r>
              <a:rPr lang="en-US" sz="4800" b="1" dirty="0">
                <a:solidFill>
                  <a:srgbClr val="0B0D0C"/>
                </a:solidFill>
                <a:latin typeface="Epilogue" pitchFamily="34" charset="0"/>
                <a:ea typeface="Epilogue" pitchFamily="34" charset="-122"/>
                <a:cs typeface="Epilogue" pitchFamily="34" charset="-120"/>
              </a:rPr>
              <a:t>₹299</a:t>
            </a:r>
            <a:endParaRPr lang="en-US" sz="4800" dirty="0"/>
          </a:p>
        </p:txBody>
      </p:sp>
      <p:sp>
        <p:nvSpPr>
          <p:cNvPr id="16" name="Text 12"/>
          <p:cNvSpPr txBox="1"/>
          <p:nvPr/>
        </p:nvSpPr>
        <p:spPr>
          <a:xfrm>
            <a:off x="4734458" y="4663440"/>
            <a:ext cx="2722778" cy="274320"/>
          </a:xfrm>
          <a:prstGeom prst="rect">
            <a:avLst/>
          </a:prstGeom>
          <a:noFill/>
          <a:ln/>
        </p:spPr>
        <p:txBody>
          <a:bodyPr wrap="square" lIns="0" tIns="0" rIns="0" bIns="0" rtlCol="0" anchor="t"/>
          <a:lstStyle/>
          <a:p>
            <a:pPr indent="0" marL="0">
              <a:buNone/>
            </a:pPr>
            <a:r>
              <a:rPr lang="en-US" sz="1300" dirty="0">
                <a:solidFill>
                  <a:srgbClr val="3A4A10"/>
                </a:solidFill>
                <a:latin typeface="Manrope" pitchFamily="34" charset="0"/>
                <a:ea typeface="Manrope" pitchFamily="34" charset="-122"/>
                <a:cs typeface="Manrope" pitchFamily="34" charset="-120"/>
              </a:rPr>
              <a:t>per person, per month</a:t>
            </a:r>
            <a:endParaRPr lang="en-US" sz="1300" dirty="0"/>
          </a:p>
        </p:txBody>
      </p:sp>
      <p:sp>
        <p:nvSpPr>
          <p:cNvPr id="17" name="Text 13"/>
          <p:cNvSpPr txBox="1"/>
          <p:nvPr/>
        </p:nvSpPr>
        <p:spPr>
          <a:xfrm>
            <a:off x="4734458" y="5029200"/>
            <a:ext cx="2722778" cy="320040"/>
          </a:xfrm>
          <a:prstGeom prst="rect">
            <a:avLst/>
          </a:prstGeom>
          <a:noFill/>
          <a:ln/>
        </p:spPr>
        <p:txBody>
          <a:bodyPr wrap="square" lIns="0" tIns="0" rIns="0" bIns="0" rtlCol="0" anchor="t"/>
          <a:lstStyle/>
          <a:p>
            <a:pPr indent="0" marL="0">
              <a:buNone/>
            </a:pPr>
            <a:r>
              <a:rPr lang="en-US" sz="1500" b="1" dirty="0">
                <a:solidFill>
                  <a:srgbClr val="0B0D0C"/>
                </a:solidFill>
                <a:latin typeface="Manrope" pitchFamily="34" charset="0"/>
                <a:ea typeface="Manrope" pitchFamily="34" charset="-122"/>
                <a:cs typeface="Manrope" pitchFamily="34" charset="-120"/>
              </a:rPr>
              <a:t>Everything we use at Storibod.</a:t>
            </a:r>
            <a:endParaRPr lang="en-US" sz="1500" dirty="0"/>
          </a:p>
        </p:txBody>
      </p:sp>
      <p:sp>
        <p:nvSpPr>
          <p:cNvPr id="18" name="Shape 14"/>
          <p:cNvSpPr/>
          <p:nvPr/>
        </p:nvSpPr>
        <p:spPr>
          <a:xfrm>
            <a:off x="8051597" y="3246120"/>
            <a:ext cx="3454298" cy="2331720"/>
          </a:xfrm>
          <a:prstGeom prst="roundRect">
            <a:avLst>
              <a:gd name="adj" fmla="val 7843"/>
            </a:avLst>
          </a:prstGeom>
          <a:solidFill>
            <a:srgbClr val="15191A"/>
          </a:solidFill>
          <a:ln w="9525">
            <a:solidFill>
              <a:srgbClr val="262C2E"/>
            </a:solidFill>
            <a:prstDash val="solid"/>
          </a:ln>
        </p:spPr>
      </p:sp>
      <p:sp>
        <p:nvSpPr>
          <p:cNvPr id="19" name="Text 15"/>
          <p:cNvSpPr txBox="1"/>
          <p:nvPr/>
        </p:nvSpPr>
        <p:spPr>
          <a:xfrm>
            <a:off x="8417357" y="3593592"/>
            <a:ext cx="2722778"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PREMIUM</a:t>
            </a:r>
            <a:endParaRPr lang="en-US" sz="1000" dirty="0"/>
          </a:p>
        </p:txBody>
      </p:sp>
      <p:sp>
        <p:nvSpPr>
          <p:cNvPr id="20" name="Text 16"/>
          <p:cNvSpPr txBox="1"/>
          <p:nvPr/>
        </p:nvSpPr>
        <p:spPr>
          <a:xfrm>
            <a:off x="8417357" y="3904488"/>
            <a:ext cx="2722778" cy="777240"/>
          </a:xfrm>
          <a:prstGeom prst="rect">
            <a:avLst/>
          </a:prstGeom>
          <a:noFill/>
          <a:ln/>
        </p:spPr>
        <p:txBody>
          <a:bodyPr wrap="square" lIns="0" tIns="0" rIns="0" bIns="0" rtlCol="0" anchor="t"/>
          <a:lstStyle/>
          <a:p>
            <a:pPr indent="0" marL="0">
              <a:buNone/>
            </a:pPr>
            <a:r>
              <a:rPr lang="en-US" sz="4800" b="1" dirty="0">
                <a:solidFill>
                  <a:srgbClr val="F4F6F5"/>
                </a:solidFill>
                <a:latin typeface="Epilogue" pitchFamily="34" charset="0"/>
                <a:ea typeface="Epilogue" pitchFamily="34" charset="-122"/>
                <a:cs typeface="Epilogue" pitchFamily="34" charset="-120"/>
              </a:rPr>
              <a:t>₹499</a:t>
            </a:r>
            <a:endParaRPr lang="en-US" sz="4800" dirty="0"/>
          </a:p>
        </p:txBody>
      </p:sp>
      <p:sp>
        <p:nvSpPr>
          <p:cNvPr id="21" name="Text 17"/>
          <p:cNvSpPr txBox="1"/>
          <p:nvPr/>
        </p:nvSpPr>
        <p:spPr>
          <a:xfrm>
            <a:off x="8417357" y="4663440"/>
            <a:ext cx="2722778" cy="274320"/>
          </a:xfrm>
          <a:prstGeom prst="rect">
            <a:avLst/>
          </a:prstGeom>
          <a:noFill/>
          <a:ln/>
        </p:spPr>
        <p:txBody>
          <a:bodyPr wrap="square" lIns="0" tIns="0" rIns="0" bIns="0" rtlCol="0" anchor="t"/>
          <a:lstStyle/>
          <a:p>
            <a:pPr indent="0" marL="0">
              <a:buNone/>
            </a:pPr>
            <a:r>
              <a:rPr lang="en-US" sz="1300" dirty="0">
                <a:solidFill>
                  <a:srgbClr val="9AA7A2"/>
                </a:solidFill>
                <a:latin typeface="Manrope" pitchFamily="34" charset="0"/>
                <a:ea typeface="Manrope" pitchFamily="34" charset="-122"/>
                <a:cs typeface="Manrope" pitchFamily="34" charset="-120"/>
              </a:rPr>
              <a:t>per person, per month</a:t>
            </a:r>
            <a:endParaRPr lang="en-US" sz="1300" dirty="0"/>
          </a:p>
        </p:txBody>
      </p:sp>
      <p:sp>
        <p:nvSpPr>
          <p:cNvPr id="22" name="Text 18"/>
          <p:cNvSpPr txBox="1"/>
          <p:nvPr/>
        </p:nvSpPr>
        <p:spPr>
          <a:xfrm>
            <a:off x="8417357" y="5029200"/>
            <a:ext cx="2722778" cy="320040"/>
          </a:xfrm>
          <a:prstGeom prst="rect">
            <a:avLst/>
          </a:prstGeom>
          <a:noFill/>
          <a:ln/>
        </p:spPr>
        <p:txBody>
          <a:bodyPr wrap="square" lIns="0" tIns="0" rIns="0" bIns="0" rtlCol="0" anchor="t"/>
          <a:lstStyle/>
          <a:p>
            <a:pPr indent="0" marL="0">
              <a:buNone/>
            </a:pPr>
            <a:r>
              <a:rPr lang="en-US" sz="1500" b="1" dirty="0">
                <a:solidFill>
                  <a:srgbClr val="F4F6F5"/>
                </a:solidFill>
                <a:latin typeface="Manrope" pitchFamily="34" charset="0"/>
                <a:ea typeface="Manrope" pitchFamily="34" charset="-122"/>
                <a:cs typeface="Manrope" pitchFamily="34" charset="-120"/>
              </a:rPr>
              <a:t>Set up around your own workflow.</a:t>
            </a:r>
            <a:endParaRPr lang="en-US" sz="1500" dirty="0"/>
          </a:p>
        </p:txBody>
      </p:sp>
      <p:sp>
        <p:nvSpPr>
          <p:cNvPr id="23" name="Text 19"/>
          <p:cNvSpPr txBox="1"/>
          <p:nvPr/>
        </p:nvSpPr>
        <p:spPr>
          <a:xfrm>
            <a:off x="685800" y="6355080"/>
            <a:ext cx="640080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BOD APP  ·  THE TASK APP FOR CREATIVE AGENCIES</a:t>
            </a:r>
            <a:endParaRPr lang="en-US" sz="1000" dirty="0"/>
          </a:p>
        </p:txBody>
      </p:sp>
      <p:sp>
        <p:nvSpPr>
          <p:cNvPr id="24" name="Text 20"/>
          <p:cNvSpPr txBox="1"/>
          <p:nvPr/>
        </p:nvSpPr>
        <p:spPr>
          <a:xfrm>
            <a:off x="10591495" y="6355080"/>
            <a:ext cx="914400" cy="201168"/>
          </a:xfrm>
          <a:prstGeom prst="rect">
            <a:avLst/>
          </a:prstGeom>
          <a:noFill/>
          <a:ln/>
        </p:spPr>
        <p:txBody>
          <a:bodyPr wrap="square" lIns="0" tIns="0" rIns="0" bIns="0" rtlCol="0" anchor="t"/>
          <a:lstStyle/>
          <a:p>
            <a:pPr algn="r" indent="0" marL="0">
              <a:buNone/>
            </a:pPr>
            <a:r>
              <a:rPr lang="en-US" sz="1000" b="1" dirty="0">
                <a:solidFill>
                  <a:srgbClr val="6B7773"/>
                </a:solidFill>
                <a:latin typeface="Plus Jakarta Sans" pitchFamily="34" charset="0"/>
                <a:ea typeface="Plus Jakarta Sans" pitchFamily="34" charset="-122"/>
                <a:cs typeface="Plus Jakarta Sans"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s/img/glow.png">    </p:cNvPr>
          <p:cNvPicPr>
            <a:picLocks noChangeAspect="1"/>
          </p:cNvPicPr>
          <p:nvPr/>
        </p:nvPicPr>
        <p:blipFill>
          <a:blip r:embed="rId1"/>
          <a:stretch>
            <a:fillRect/>
          </a:stretch>
        </p:blipFill>
        <p:spPr>
          <a:xfrm>
            <a:off x="6763936" y="-548640"/>
            <a:ext cx="6936520" cy="6936520"/>
          </a:xfrm>
          <a:prstGeom prst="rect">
            <a:avLst/>
          </a:prstGeom>
        </p:spPr>
      </p:pic>
      <p:sp>
        <p:nvSpPr>
          <p:cNvPr id="3" name="Text 0"/>
          <p:cNvSpPr txBox="1"/>
          <p:nvPr/>
        </p:nvSpPr>
        <p:spPr>
          <a:xfrm>
            <a:off x="685800" y="640080"/>
            <a:ext cx="3657600" cy="201168"/>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LET'S TALK</a:t>
            </a:r>
            <a:endParaRPr lang="en-US" sz="1000" dirty="0"/>
          </a:p>
        </p:txBody>
      </p:sp>
      <p:sp>
        <p:nvSpPr>
          <p:cNvPr id="4" name="Text 1"/>
          <p:cNvSpPr txBox="1"/>
          <p:nvPr/>
        </p:nvSpPr>
        <p:spPr>
          <a:xfrm>
            <a:off x="685800" y="1005840"/>
            <a:ext cx="6216472" cy="1417320"/>
          </a:xfrm>
          <a:prstGeom prst="rect">
            <a:avLst/>
          </a:prstGeom>
          <a:noFill/>
          <a:ln/>
        </p:spPr>
        <p:txBody>
          <a:bodyPr wrap="square" lIns="0" tIns="0" rIns="0" bIns="0" rtlCol="0" anchor="t"/>
          <a:lstStyle/>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Come see</a:t>
            </a:r>
            <a:endParaRPr lang="en-US" sz="4400" dirty="0"/>
          </a:p>
          <a:p>
            <a:pPr indent="0" marL="0">
              <a:lnSpc>
                <a:spcPct val="100000"/>
              </a:lnSpc>
              <a:buNone/>
            </a:pPr>
            <a:r>
              <a:rPr lang="en-US" sz="4400" b="1" dirty="0">
                <a:solidFill>
                  <a:srgbClr val="F4F6F5"/>
                </a:solidFill>
                <a:latin typeface="Epilogue" pitchFamily="34" charset="0"/>
                <a:ea typeface="Epilogue" pitchFamily="34" charset="-122"/>
                <a:cs typeface="Epilogue" pitchFamily="34" charset="-120"/>
              </a:rPr>
              <a:t>how it feels.</a:t>
            </a:r>
            <a:endParaRPr lang="en-US" sz="4400" dirty="0"/>
          </a:p>
        </p:txBody>
      </p:sp>
      <p:sp>
        <p:nvSpPr>
          <p:cNvPr id="5" name="Text 2"/>
          <p:cNvSpPr txBox="1"/>
          <p:nvPr/>
        </p:nvSpPr>
        <p:spPr>
          <a:xfrm>
            <a:off x="685800" y="2468880"/>
            <a:ext cx="5295748" cy="411480"/>
          </a:xfrm>
          <a:prstGeom prst="rect">
            <a:avLst/>
          </a:prstGeom>
          <a:noFill/>
          <a:ln/>
        </p:spPr>
        <p:txBody>
          <a:bodyPr wrap="square" lIns="0" tIns="0" rIns="0" bIns="0" rtlCol="0" anchor="t"/>
          <a:lstStyle/>
          <a:p>
            <a:pPr indent="0" marL="0">
              <a:buNone/>
            </a:pPr>
            <a:r>
              <a:rPr lang="en-US" sz="1800" dirty="0">
                <a:solidFill>
                  <a:srgbClr val="9AA7A2"/>
                </a:solidFill>
                <a:latin typeface="Manrope" pitchFamily="34" charset="0"/>
                <a:ea typeface="Manrope" pitchFamily="34" charset="-122"/>
                <a:cs typeface="Manrope" pitchFamily="34" charset="-120"/>
              </a:rPr>
              <a:t>A 20-minute walkthrough on your own workflow.</a:t>
            </a:r>
            <a:endParaRPr lang="en-US" sz="1800" dirty="0"/>
          </a:p>
        </p:txBody>
      </p:sp>
      <p:sp>
        <p:nvSpPr>
          <p:cNvPr id="6" name="Text 3"/>
          <p:cNvSpPr txBox="1"/>
          <p:nvPr/>
        </p:nvSpPr>
        <p:spPr>
          <a:xfrm>
            <a:off x="685800" y="3429000"/>
            <a:ext cx="5295748" cy="594360"/>
          </a:xfrm>
          <a:prstGeom prst="rect">
            <a:avLst/>
          </a:prstGeom>
          <a:noFill/>
          <a:ln/>
        </p:spPr>
        <p:txBody>
          <a:bodyPr wrap="square" lIns="0" tIns="0" rIns="0" bIns="0" rtlCol="0" anchor="t"/>
          <a:lstStyle/>
          <a:p>
            <a:pPr indent="0" marL="0">
              <a:buNone/>
            </a:pPr>
            <a:r>
              <a:rPr lang="en-US" sz="3600" b="1" dirty="0">
                <a:solidFill>
                  <a:srgbClr val="B8E62E"/>
                </a:solidFill>
                <a:latin typeface="Epilogue" pitchFamily="34" charset="0"/>
                <a:ea typeface="Epilogue" pitchFamily="34" charset="-122"/>
                <a:cs typeface="Epilogue" pitchFamily="34" charset="-120"/>
              </a:rPr>
              <a:t>bodstudio.com</a:t>
            </a:r>
            <a:endParaRPr lang="en-US" sz="3600" dirty="0"/>
          </a:p>
        </p:txBody>
      </p:sp>
      <p:sp>
        <p:nvSpPr>
          <p:cNvPr id="7" name="Text 4"/>
          <p:cNvSpPr txBox="1"/>
          <p:nvPr/>
        </p:nvSpPr>
        <p:spPr>
          <a:xfrm>
            <a:off x="685800" y="4306824"/>
            <a:ext cx="128016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SALES</a:t>
            </a:r>
            <a:endParaRPr lang="en-US" sz="1000" dirty="0"/>
          </a:p>
        </p:txBody>
      </p:sp>
      <p:sp>
        <p:nvSpPr>
          <p:cNvPr id="8" name="Text 5"/>
          <p:cNvSpPr txBox="1"/>
          <p:nvPr/>
        </p:nvSpPr>
        <p:spPr>
          <a:xfrm>
            <a:off x="2057400" y="4251960"/>
            <a:ext cx="3924148" cy="310896"/>
          </a:xfrm>
          <a:prstGeom prst="rect">
            <a:avLst/>
          </a:prstGeom>
          <a:noFill/>
          <a:ln/>
        </p:spPr>
        <p:txBody>
          <a:bodyPr wrap="square" lIns="0" tIns="0" rIns="0" bIns="0" rtlCol="0" anchor="ctr"/>
          <a:lstStyle/>
          <a:p>
            <a:pPr indent="0" marL="0">
              <a:buNone/>
            </a:pPr>
            <a:r>
              <a:rPr lang="en-US" sz="1800" b="1" dirty="0">
                <a:solidFill>
                  <a:srgbClr val="F4F6F5"/>
                </a:solidFill>
                <a:latin typeface="Manrope" pitchFamily="34" charset="0"/>
                <a:ea typeface="Manrope" pitchFamily="34" charset="-122"/>
                <a:cs typeface="Manrope" pitchFamily="34" charset="-120"/>
              </a:rPr>
              <a:t>+91 7356 333 965</a:t>
            </a:r>
            <a:endParaRPr lang="en-US" sz="1800" dirty="0"/>
          </a:p>
        </p:txBody>
      </p:sp>
      <p:sp>
        <p:nvSpPr>
          <p:cNvPr id="9" name="Text 6"/>
          <p:cNvSpPr txBox="1"/>
          <p:nvPr/>
        </p:nvSpPr>
        <p:spPr>
          <a:xfrm>
            <a:off x="685800" y="4764024"/>
            <a:ext cx="128016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EMAIL</a:t>
            </a:r>
            <a:endParaRPr lang="en-US" sz="1000" dirty="0"/>
          </a:p>
        </p:txBody>
      </p:sp>
      <p:sp>
        <p:nvSpPr>
          <p:cNvPr id="10" name="Text 7"/>
          <p:cNvSpPr txBox="1"/>
          <p:nvPr/>
        </p:nvSpPr>
        <p:spPr>
          <a:xfrm>
            <a:off x="2057400" y="4709160"/>
            <a:ext cx="3924148" cy="310896"/>
          </a:xfrm>
          <a:prstGeom prst="rect">
            <a:avLst/>
          </a:prstGeom>
          <a:noFill/>
          <a:ln/>
        </p:spPr>
        <p:txBody>
          <a:bodyPr wrap="square" lIns="0" tIns="0" rIns="0" bIns="0" rtlCol="0" anchor="ctr"/>
          <a:lstStyle/>
          <a:p>
            <a:pPr indent="0" marL="0">
              <a:buNone/>
            </a:pPr>
            <a:r>
              <a:rPr lang="en-US" sz="1800" b="1" dirty="0">
                <a:solidFill>
                  <a:srgbClr val="F4F6F5"/>
                </a:solidFill>
                <a:latin typeface="Manrope" pitchFamily="34" charset="0"/>
                <a:ea typeface="Manrope" pitchFamily="34" charset="-122"/>
                <a:cs typeface="Manrope" pitchFamily="34" charset="-120"/>
              </a:rPr>
              <a:t>info@storibodcreatives.com</a:t>
            </a:r>
            <a:endParaRPr lang="en-US" sz="1800" dirty="0"/>
          </a:p>
        </p:txBody>
      </p:sp>
      <p:sp>
        <p:nvSpPr>
          <p:cNvPr id="11" name="Text 8"/>
          <p:cNvSpPr txBox="1"/>
          <p:nvPr/>
        </p:nvSpPr>
        <p:spPr>
          <a:xfrm>
            <a:off x="685800" y="5221224"/>
            <a:ext cx="1280160" cy="201168"/>
          </a:xfrm>
          <a:prstGeom prst="rect">
            <a:avLst/>
          </a:prstGeom>
          <a:noFill/>
          <a:ln/>
        </p:spPr>
        <p:txBody>
          <a:bodyPr wrap="square" lIns="0" tIns="0" rIns="0" bIns="0" rtlCol="0" anchor="t"/>
          <a:lstStyle/>
          <a:p>
            <a:pPr indent="0" marL="0">
              <a:buNone/>
            </a:pPr>
            <a:r>
              <a:rPr lang="en-US" sz="1000" b="1" spc="200" kern="0" dirty="0">
                <a:solidFill>
                  <a:srgbClr val="6B7773"/>
                </a:solidFill>
                <a:latin typeface="Plus Jakarta Sans" pitchFamily="34" charset="0"/>
                <a:ea typeface="Plus Jakarta Sans" pitchFamily="34" charset="-122"/>
                <a:cs typeface="Plus Jakarta Sans" pitchFamily="34" charset="-120"/>
              </a:rPr>
              <a:t>INSTAGRAM</a:t>
            </a:r>
            <a:endParaRPr lang="en-US" sz="1000" dirty="0"/>
          </a:p>
        </p:txBody>
      </p:sp>
      <p:sp>
        <p:nvSpPr>
          <p:cNvPr id="12" name="Text 9"/>
          <p:cNvSpPr txBox="1"/>
          <p:nvPr/>
        </p:nvSpPr>
        <p:spPr>
          <a:xfrm>
            <a:off x="2057400" y="5166360"/>
            <a:ext cx="3924148" cy="310896"/>
          </a:xfrm>
          <a:prstGeom prst="rect">
            <a:avLst/>
          </a:prstGeom>
          <a:noFill/>
          <a:ln/>
        </p:spPr>
        <p:txBody>
          <a:bodyPr wrap="square" lIns="0" tIns="0" rIns="0" bIns="0" rtlCol="0" anchor="ctr"/>
          <a:lstStyle/>
          <a:p>
            <a:pPr indent="0" marL="0">
              <a:buNone/>
            </a:pPr>
            <a:r>
              <a:rPr lang="en-US" sz="1800" b="1" dirty="0">
                <a:solidFill>
                  <a:srgbClr val="F4F6F5"/>
                </a:solidFill>
                <a:latin typeface="Manrope" pitchFamily="34" charset="0"/>
                <a:ea typeface="Manrope" pitchFamily="34" charset="-122"/>
                <a:cs typeface="Manrope" pitchFamily="34" charset="-120"/>
              </a:rPr>
              <a:t>@storibodstudio</a:t>
            </a:r>
            <a:endParaRPr lang="en-US" sz="1800" dirty="0"/>
          </a:p>
        </p:txBody>
      </p:sp>
      <p:pic>
        <p:nvPicPr>
          <p:cNvPr id="13" name="Image 1" descr="preencoded.png">    </p:cNvPr>
          <p:cNvPicPr>
            <a:picLocks noChangeAspect="1"/>
          </p:cNvPicPr>
          <p:nvPr/>
        </p:nvPicPr>
        <p:blipFill>
          <a:blip r:embed="rId2"/>
          <a:stretch>
            <a:fillRect/>
          </a:stretch>
        </p:blipFill>
        <p:spPr>
          <a:xfrm>
            <a:off x="685800" y="6245352"/>
            <a:ext cx="365760" cy="365760"/>
          </a:xfrm>
          <a:prstGeom prst="rect">
            <a:avLst/>
          </a:prstGeom>
        </p:spPr>
      </p:pic>
      <p:sp>
        <p:nvSpPr>
          <p:cNvPr id="14" name="Text 10"/>
          <p:cNvSpPr txBox="1"/>
          <p:nvPr/>
        </p:nvSpPr>
        <p:spPr>
          <a:xfrm>
            <a:off x="1188720" y="6355080"/>
            <a:ext cx="3657600" cy="201168"/>
          </a:xfrm>
          <a:prstGeom prst="rect">
            <a:avLst/>
          </a:prstGeom>
          <a:noFill/>
          <a:ln/>
        </p:spPr>
        <p:txBody>
          <a:bodyPr wrap="square" lIns="0" tIns="0" rIns="0" bIns="0" rtlCol="0" anchor="t"/>
          <a:lstStyle/>
          <a:p>
            <a:pPr indent="0" marL="0">
              <a:buNone/>
            </a:pPr>
            <a:r>
              <a:rPr lang="en-US" sz="1000" b="1" spc="200" kern="0" dirty="0">
                <a:solidFill>
                  <a:srgbClr val="9AA7A2"/>
                </a:solidFill>
                <a:latin typeface="Plus Jakarta Sans" pitchFamily="34" charset="0"/>
                <a:ea typeface="Plus Jakarta Sans" pitchFamily="34" charset="-122"/>
                <a:cs typeface="Plus Jakarta Sans" pitchFamily="34" charset="-120"/>
              </a:rPr>
              <a:t>POWERED BY BOD STUDIO</a:t>
            </a:r>
            <a:endParaRPr lang="en-US" sz="1000" dirty="0"/>
          </a:p>
        </p:txBody>
      </p:sp>
      <p:pic>
        <p:nvPicPr>
          <p:cNvPr id="15" name="Image 2" descr="/tmp/claude-0/-home-user-Claude-Works/c609e3f7-e17f-5f43-8424-4df30cb9a6a9/scratchpad/build/s/img/m_angR_focus_light.png">    </p:cNvPr>
          <p:cNvPicPr>
            <a:picLocks noChangeAspect="1"/>
          </p:cNvPicPr>
          <p:nvPr/>
        </p:nvPicPr>
        <p:blipFill>
          <a:blip r:embed="rId3"/>
          <a:stretch>
            <a:fillRect/>
          </a:stretch>
        </p:blipFill>
        <p:spPr>
          <a:xfrm>
            <a:off x="8958496" y="640080"/>
            <a:ext cx="2547400" cy="5577840"/>
          </a:xfrm>
          <a:prstGeom prst="rect">
            <a:avLst/>
          </a:prstGeom>
        </p:spPr>
      </p:pic>
      <p:pic>
        <p:nvPicPr>
          <p:cNvPr id="16" name="Image 3" descr="/tmp/claude-0/-home-user-Claude-Works/c609e3f7-e17f-5f43-8424-4df30cb9a6a9/scratchpad/build/s/img/annan_waving.png">    </p:cNvPr>
          <p:cNvPicPr>
            <a:picLocks noChangeAspect="1"/>
          </p:cNvPicPr>
          <p:nvPr/>
        </p:nvPicPr>
        <p:blipFill>
          <a:blip r:embed="rId4"/>
          <a:stretch>
            <a:fillRect/>
          </a:stretch>
        </p:blipFill>
        <p:spPr>
          <a:xfrm>
            <a:off x="7008766" y="3931920"/>
            <a:ext cx="2269769" cy="2286000"/>
          </a:xfrm>
          <a:prstGeom prst="rect">
            <a:avLst/>
          </a:prstGeom>
        </p:spPr>
      </p:pic>
      <p:pic>
        <p:nvPicPr>
          <p:cNvPr id="17" name="Image 4" descr="preencoded.png">    </p:cNvPr>
          <p:cNvPicPr>
            <a:picLocks noChangeAspect="1"/>
          </p:cNvPicPr>
          <p:nvPr/>
        </p:nvPicPr>
        <p:blipFill>
          <a:blip r:embed="rId5"/>
          <a:stretch>
            <a:fillRect/>
          </a:stretch>
        </p:blipFill>
        <p:spPr>
          <a:xfrm>
            <a:off x="7289947" y="2869844"/>
            <a:ext cx="2340110" cy="1143000"/>
          </a:xfrm>
          <a:prstGeom prst="rect">
            <a:avLst/>
          </a:prstGeom>
        </p:spPr>
      </p:pic>
      <p:sp>
        <p:nvSpPr>
          <p:cNvPr id="18" name="Text 11"/>
          <p:cNvSpPr txBox="1"/>
          <p:nvPr/>
        </p:nvSpPr>
        <p:spPr>
          <a:xfrm>
            <a:off x="7609987" y="3089300"/>
            <a:ext cx="1718318" cy="466344"/>
          </a:xfrm>
          <a:prstGeom prst="rect">
            <a:avLst/>
          </a:prstGeom>
          <a:noFill/>
          <a:ln/>
        </p:spPr>
        <p:txBody>
          <a:bodyPr wrap="square" lIns="0" tIns="0" rIns="0" bIns="0" rtlCol="0" anchor="ctr"/>
          <a:lstStyle/>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Come by. I'll</a:t>
            </a:r>
            <a:endParaRPr lang="en-US" sz="1500" dirty="0"/>
          </a:p>
          <a:p>
            <a:pPr indent="0" marL="0">
              <a:lnSpc>
                <a:spcPts val="1840"/>
              </a:lnSpc>
              <a:buNone/>
            </a:pPr>
            <a:r>
              <a:rPr lang="en-US" sz="1500" b="1" dirty="0">
                <a:solidFill>
                  <a:srgbClr val="0B0D0C"/>
                </a:solidFill>
                <a:latin typeface="Manrope" pitchFamily="34" charset="0"/>
                <a:ea typeface="Manrope" pitchFamily="34" charset="-122"/>
                <a:cs typeface="Manrope" pitchFamily="34" charset="-120"/>
              </a:rPr>
              <a:t>show you around.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Bod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 App — Sales Deck</dc:title>
  <dc:subject>PptxGenJS Presentation</dc:subject>
  <dc:creator>Bod Studio · Storibod Creatives</dc:creator>
  <cp:lastModifiedBy>Bod Studio · Storibod Creatives</cp:lastModifiedBy>
  <cp:revision>1</cp:revision>
  <dcterms:created xsi:type="dcterms:W3CDTF">2026-09-26T16:43:54Z</dcterms:created>
  <dcterms:modified xsi:type="dcterms:W3CDTF">2026-09-26T16:43:54Z</dcterms:modified>
</cp:coreProperties>
</file>