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feeling, not the feature list. Bod App is a task app people want to open, because it does the boring half of work for them and makes the rest feel lighter.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creative team has a boring half: updating status, chasing follow-ups, standups, billing checks, reports. It costs about 30 minutes a person a day, and it's why project tools get abandoned. They add to the homework instead of removing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pitch in one slide. The app takes the clerical work off people's plates, so the team spends its time on the work clients actually pay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makes Bod App different from every other task tool. Like Duolingo, it makes coming back feel good: a weekly win from Bod Annan, a vibe on every task, and copy that encourages instead of nagging. Bod Annan appears at about one in five moments, so it stays charming, not annoying.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a real day. Notice that nobody on the team updates a tracker, writes a standup or chases a client by hand. The app does it, and the team's attention stays on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promise for team members: you never have to decide what to work on. The Focus Queue sorts the day, the AI answers 'what's next?', and the widget puts it on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this out loud if you can. A Manglish voice note becomes a fully-formed draft task — assignee, deadline and priority parsed — sitting in the PM's approvals inbox. It also works from messy notes or a PDF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card by card and ask who on their team does this today. Every card is a job the app now does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Founders get the numbers they ask for without building a sheet, and the team gets encouragement instead of pressure. The tone is part of the product: it talks like a calm team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Tailor this to who's in the room. The creative team card is highlighted on purpose: if the people doing the work enjoy the app, everything else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rows across — each 'before' has a matching 'after'. Ask the prospect which row describes their Monday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Advanced is the recommendation for most agencies — it's the exact setup Storibod runs on. Basic is for small teams getting started; Premium is a custom setup with Zoho and Sheets sync, SSO and priority onboarding. Every plan starts with a 14-day free trial, no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slide. This isn't a startup guessing at agency workflows — it's the tool a working agency built for itself. On integrations: invoices stay in Zoho, exports go to Sheets, and it runs on every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trial the ask. Offer the 20-minute walkthrough on their real workflow, set them up on day one, and book a review call on day 14 to read the analytics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are the real objections for a 'playful' tool. Answer them with the time saved, not the fun.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trial. Two options: start free by email or a WhatsApp demo. Leave this slide up while you swap contact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feature set on one page. Point out that none of these need setup or training — they show up the moment the team starts adding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E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61872" y="4572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App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1261872" y="8046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BOD STUDIO PRODUCT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3291840" y="5029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PRODUCT SALES DECK  ·  2026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6949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2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Less admin.</a:t>
            </a:r>
            <a:endParaRPr lang="en-US" sz="6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2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More actual work.</a:t>
            </a:r>
            <a:endParaRPr lang="en-US" sz="6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task app your team looks forward to opening.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434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Bod App takes care of the updates, follow-ups and standups, tells everyone what to do next and by when, and cheers the team on along the way.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54406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5440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FREE TRIAL  →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06040" y="544068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 w="9525">
            <a:solidFill>
              <a:srgbClr val="0B0D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06040" y="5440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BOOK A DEMO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465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Kochi, Kerala  ·  info@storibodcreatives.com  ·  +91 7356 333 975  ·  mybodstudio.com</a:t>
            </a:r>
            <a:endParaRPr lang="en-US" sz="900" dirty="0"/>
          </a:p>
        </p:txBody>
      </p:sp>
      <p:pic>
        <p:nvPicPr>
          <p:cNvPr id="14" name="Image 1" descr="/tmp/claude-0/-home-user-Claude-Works/c609e3f7-e17f-5f43-8424-4df30cb9a6a9/scratchpad/build/img/fig_home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74320"/>
            <a:ext cx="3091586" cy="6309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464040" y="260604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28632" y="2761488"/>
            <a:ext cx="109728" cy="109728"/>
          </a:xfrm>
          <a:prstGeom prst="ellipse">
            <a:avLst/>
          </a:prstGeom>
          <a:solidFill>
            <a:srgbClr val="B8E62E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9811512" y="2606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Nice — 4 shipped last week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9601200" y="416052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765792" y="4315968"/>
            <a:ext cx="109728" cy="109728"/>
          </a:xfrm>
          <a:prstGeom prst="ellipse">
            <a:avLst/>
          </a:prstGeom>
          <a:solidFill>
            <a:srgbClr val="FF5C7A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9948672" y="416052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 fire · due today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812280" y="489204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976872" y="5047488"/>
            <a:ext cx="109728" cy="109728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159752" y="489204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Standup written for you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  ·  THE 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Nobody joined a studio to update trackers.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But creative teams lose a slice of every day to the boring half of work.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BORING HALF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5577840" cy="475488"/>
          </a:xfrm>
          <a:prstGeom prst="roundRect">
            <a:avLst>
              <a:gd name="adj" fmla="val 2307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79192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256032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Updating task status, again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127248"/>
            <a:ext cx="5577840" cy="475488"/>
          </a:xfrm>
          <a:prstGeom prst="roundRect">
            <a:avLst>
              <a:gd name="adj" fmla="val 2307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461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3127248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Chasing follow-ups on WhatsApp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694176"/>
            <a:ext cx="5577840" cy="475488"/>
          </a:xfrm>
          <a:prstGeom prst="roundRect">
            <a:avLst>
              <a:gd name="adj" fmla="val 2307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1304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43000" y="369417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Writing and sitting through the standup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261104"/>
            <a:ext cx="5577840" cy="475488"/>
          </a:xfrm>
          <a:prstGeom prst="roundRect">
            <a:avLst>
              <a:gd name="adj" fmla="val 2307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37997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4261104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Working out who's doing what, by when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4828032"/>
            <a:ext cx="5577840" cy="475488"/>
          </a:xfrm>
          <a:prstGeom prst="roundRect">
            <a:avLst>
              <a:gd name="adj" fmla="val 2307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946904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43000" y="482803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Digging for what's ready to bill</a:t>
            </a:r>
            <a:endParaRPr lang="en-US" sz="1400" dirty="0"/>
          </a:p>
        </p:txBody>
      </p:sp>
      <p:sp>
        <p:nvSpPr>
          <p:cNvPr id="22" name="Shape 15"/>
          <p:cNvSpPr/>
          <p:nvPr/>
        </p:nvSpPr>
        <p:spPr>
          <a:xfrm>
            <a:off x="548640" y="5394960"/>
            <a:ext cx="5577840" cy="475488"/>
          </a:xfrm>
          <a:prstGeom prst="roundRect">
            <a:avLst>
              <a:gd name="adj" fmla="val 2307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513832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143000" y="539496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Building a report for the founder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6492240" y="2240280"/>
            <a:ext cx="5150815" cy="2148840"/>
          </a:xfrm>
          <a:prstGeom prst="roundRect">
            <a:avLst>
              <a:gd name="adj" fmla="val 6809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858000" y="24688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B8E62E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30 min</a:t>
            </a:r>
            <a:endParaRPr lang="en-US" sz="4400" dirty="0"/>
          </a:p>
        </p:txBody>
      </p:sp>
      <p:sp>
        <p:nvSpPr>
          <p:cNvPr id="27" name="Text 19"/>
          <p:cNvSpPr txBox="1"/>
          <p:nvPr/>
        </p:nvSpPr>
        <p:spPr>
          <a:xfrm>
            <a:off x="6858000" y="3246120"/>
            <a:ext cx="4419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4F6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 PERSON, EVERY DAY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520440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For a ten-person team that's about 110 hours a month — most of a full-time salary spent on admin.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6492240" y="4526280"/>
            <a:ext cx="5150815" cy="1325880"/>
          </a:xfrm>
          <a:prstGeom prst="roundRect">
            <a:avLst>
              <a:gd name="adj" fmla="val 1103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766560" y="47548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6288" y="4864608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406640" y="4709160"/>
            <a:ext cx="3962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So the tool gets abandoned.</a:t>
            </a:r>
            <a:endParaRPr lang="en-US" sz="1500" dirty="0"/>
          </a:p>
        </p:txBody>
      </p:sp>
      <p:sp>
        <p:nvSpPr>
          <p:cNvPr id="33" name="Text 24"/>
          <p:cNvSpPr txBox="1"/>
          <p:nvPr/>
        </p:nvSpPr>
        <p:spPr>
          <a:xfrm>
            <a:off x="7406640" y="5047488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 software feels like homework. By month two, people stop opening it.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Illustration: 10 people · 22 working days · 30 minutes of coordination per person per day.</a:t>
            </a:r>
            <a:endParaRPr lang="en-US" sz="950" dirty="0"/>
          </a:p>
        </p:txBody>
      </p:sp>
      <p:sp>
        <p:nvSpPr>
          <p:cNvPr id="35" name="Text 26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  ·  THE IDEA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App does the boring half.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Your team does the work.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3337560"/>
          </a:xfrm>
          <a:prstGeom prst="roundRect">
            <a:avLst>
              <a:gd name="adj" fmla="val 4384"/>
            </a:avLst>
          </a:prstGeom>
          <a:solidFill>
            <a:srgbClr val="B8E6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606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APP TAKES CARE OF</a:t>
            </a:r>
            <a:endParaRPr lang="en-US" sz="10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63240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3017520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Sorting today's priorities</a:t>
            </a:r>
            <a:endParaRPr lang="en-US" sz="15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3872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3493008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Follow-ups and reminders</a:t>
            </a:r>
            <a:endParaRPr lang="en-US" sz="15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421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968496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daily standup</a:t>
            </a:r>
            <a:endParaRPr lang="en-US" sz="15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89704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443984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what-to-bill checklist</a:t>
            </a:r>
            <a:endParaRPr lang="en-US" sz="15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965192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325880" y="4919472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Reports for the founder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6233008" y="2286000"/>
            <a:ext cx="5410048" cy="3337560"/>
          </a:xfrm>
          <a:prstGeom prst="roundRect">
            <a:avLst>
              <a:gd name="adj" fmla="val 438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6598768" y="2606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YOUR TEAM GETS BACK TO</a:t>
            </a:r>
            <a:endParaRPr lang="en-US" sz="10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8" y="306324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010248" y="3017520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brief and the design</a:t>
            </a:r>
            <a:endParaRPr lang="en-US" sz="15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8768" y="3538728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010248" y="3493008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script, the shoot, the edit</a:t>
            </a:r>
            <a:endParaRPr lang="en-US" sz="15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8768" y="4014216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010248" y="3968496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campaign idea</a:t>
            </a:r>
            <a:endParaRPr lang="en-US" sz="150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8768" y="4489704"/>
            <a:ext cx="256032" cy="256032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7010248" y="4443984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client conversation</a:t>
            </a:r>
            <a:endParaRPr lang="en-US" sz="1500" dirty="0"/>
          </a:p>
        </p:txBody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8768" y="4965192"/>
            <a:ext cx="256032" cy="256032"/>
          </a:xfrm>
          <a:prstGeom prst="rect">
            <a:avLst/>
          </a:prstGeom>
        </p:spPr>
      </p:pic>
      <p:sp>
        <p:nvSpPr>
          <p:cNvPr id="28" name="Text 16"/>
          <p:cNvSpPr txBox="1"/>
          <p:nvPr/>
        </p:nvSpPr>
        <p:spPr>
          <a:xfrm>
            <a:off x="7010248" y="4919472"/>
            <a:ext cx="431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Actually enjoying the week</a:t>
            </a:r>
            <a:endParaRPr lang="en-US" sz="15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clear answer every time you open it:  </a:t>
            </a:r>
            <a:pPr indent="0" marL="0">
              <a:buNone/>
            </a:pPr>
            <a:r>
              <a:rPr lang="en-US" sz="150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to do next, and by when.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1" name="Text 1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  ·  THE PLAYFUL PART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Work that feels a bit like Duolingo.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Small wins celebrated. Gentle nudges, never scolding. A reason to open the app every 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760720" cy="3749040"/>
          </a:xfrm>
          <a:prstGeom prst="roundRect">
            <a:avLst>
              <a:gd name="adj" fmla="val 3902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6032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MONDAY, ON THE HOME SCREEN</a:t>
            </a:r>
            <a:endParaRPr lang="en-US" sz="900" dirty="0"/>
          </a:p>
        </p:txBody>
      </p:sp>
      <p:pic>
        <p:nvPicPr>
          <p:cNvPr id="8" name="Image 0" descr="/tmp/claude-0/-home-user-Claude-Works/c609e3f7-e17f-5f43-8424-4df30cb9a6a9/scratchpad/build/img/recap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926080"/>
            <a:ext cx="5120640" cy="186205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8680" y="4971011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Bod Annan, the studio's in-app buddy, turns last week into a small win the whole team can see.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83680" y="2286000"/>
            <a:ext cx="5059375" cy="841248"/>
          </a:xfrm>
          <a:prstGeom prst="roundRect">
            <a:avLst>
              <a:gd name="adj" fmla="val 1739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84848" y="246888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965" y="2582997"/>
            <a:ext cx="247254" cy="24725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2395728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Meet Bod Annan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452360" y="2697480"/>
            <a:ext cx="4053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Shows up for the good moments — a recap, a milestone, an empty inbox. Never to scold.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583680" y="3246120"/>
            <a:ext cx="5059375" cy="841248"/>
          </a:xfrm>
          <a:prstGeom prst="roundRect">
            <a:avLst>
              <a:gd name="adj" fmla="val 1739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784848" y="342900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8965" y="3543117"/>
            <a:ext cx="247254" cy="24725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52360" y="3355848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Weekly momentum</a:t>
            </a:r>
            <a:endParaRPr lang="en-US" sz="1450" dirty="0"/>
          </a:p>
        </p:txBody>
      </p:sp>
      <p:sp>
        <p:nvSpPr>
          <p:cNvPr id="19" name="Text 14"/>
          <p:cNvSpPr txBox="1"/>
          <p:nvPr/>
        </p:nvSpPr>
        <p:spPr>
          <a:xfrm>
            <a:off x="7452360" y="3657600"/>
            <a:ext cx="4053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you shipped, clients served and turnaround, celebrated every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583680" y="4206240"/>
            <a:ext cx="5059375" cy="841248"/>
          </a:xfrm>
          <a:prstGeom prst="roundRect">
            <a:avLst>
              <a:gd name="adj" fmla="val 1739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784848" y="438912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965" y="4503237"/>
            <a:ext cx="247254" cy="24725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52360" y="4315968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Vibe status</a:t>
            </a:r>
            <a:endParaRPr lang="en-US" sz="1450" dirty="0"/>
          </a:p>
        </p:txBody>
      </p:sp>
      <p:sp>
        <p:nvSpPr>
          <p:cNvPr id="24" name="Text 18"/>
          <p:cNvSpPr txBox="1"/>
          <p:nvPr/>
        </p:nvSpPr>
        <p:spPr>
          <a:xfrm>
            <a:off x="7452360" y="4617720"/>
            <a:ext cx="4053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Long-press a task to set its mood: On fire, Waiting on client, Ready for review.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583680" y="5166360"/>
            <a:ext cx="5059375" cy="841248"/>
          </a:xfrm>
          <a:prstGeom prst="roundRect">
            <a:avLst>
              <a:gd name="adj" fmla="val 1739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784848" y="5349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8965" y="5463357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452360" y="5276088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Words that encourage</a:t>
            </a:r>
            <a:endParaRPr lang="en-US" sz="1450" dirty="0"/>
          </a:p>
        </p:txBody>
      </p:sp>
      <p:sp>
        <p:nvSpPr>
          <p:cNvPr id="29" name="Text 22"/>
          <p:cNvSpPr txBox="1"/>
          <p:nvPr/>
        </p:nvSpPr>
        <p:spPr>
          <a:xfrm>
            <a:off x="7452360" y="5577840"/>
            <a:ext cx="4053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“Nice — you shipped 4 things this week.” Not “4 pending action items!!!”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1" name="Text 24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  ·  A DAY WITH BOD APP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app runs the admin.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You run the day.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5568" y="2423160"/>
            <a:ext cx="0" cy="3200400"/>
          </a:xfrm>
          <a:prstGeom prst="line">
            <a:avLst/>
          </a:prstGeom>
          <a:noFill/>
          <a:ln w="19050">
            <a:solidFill>
              <a:srgbClr val="262C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276856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27685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9:00 AM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2240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Open the app. Today is already sorted.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5420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“4 tasks need your attention today” — overdue first.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16936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91693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11:30 AM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88036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Speak a task in Manglish. It's assigned.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1821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Assignee, deadline and priority filled in for you.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57016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55701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2:00 PM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52044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Waiting on a client? The nudge is drafted.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38221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 48 hours, the follow-up writes itself.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97096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19709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4:30 PM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416052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Long-press to set the vibe.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44622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Leads feel the load without a single check-in.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837176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8371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6:00 PM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480060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Your standup is written. One tap to post.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920240" y="51023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shipped and what's next, for the whole team.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477256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547725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MONDAY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5440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Annan celebrates last week.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920240" y="57424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“You shipped 4 deliverables last week.”</a:t>
            </a:r>
            <a:endParaRPr lang="en-US" sz="1150" dirty="0"/>
          </a:p>
        </p:txBody>
      </p:sp>
      <p:pic>
        <p:nvPicPr>
          <p:cNvPr id="29" name="Image 0" descr="/tmp/claude-0/-home-user-Claude-Works/c609e3f7-e17f-5f43-8424-4df30cb9a6a9/scratchpad/build/img/fig_focus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411480"/>
            <a:ext cx="2957170" cy="603504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laude-Works/c609e3f7-e17f-5f43-8424-4df30cb9a6a9/scratchpad/build/img/fig_home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"/>
            <a:ext cx="2957170" cy="6035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46320" y="822960"/>
            <a:ext cx="67967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  ·  WHAT TO DO, BY WHEN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846320" y="1143000"/>
            <a:ext cx="67967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 planning. Just the next thing.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9202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Everyone opens the app to a short, sorted list and a clear deadline. The app decides the order, so the team can just start.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846320" y="292608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021" y="304678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577840" y="290779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Smart Focus Queue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32004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Overdue and due-today first, blocked work tucked aside. Sorted every morning, per person.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846320" y="370332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3824021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77840" y="368503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“What's next?” AI</a:t>
            </a:r>
            <a:endParaRPr lang="en-US" sz="1550" dirty="0"/>
          </a:p>
        </p:txBody>
      </p:sp>
      <p:sp>
        <p:nvSpPr>
          <p:cNvPr id="13" name="Text 8"/>
          <p:cNvSpPr txBox="1"/>
          <p:nvPr/>
        </p:nvSpPr>
        <p:spPr>
          <a:xfrm>
            <a:off x="5577840" y="39776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 sure what to pick up? Ask, and get the next task with a reason.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4846320" y="448056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7021" y="4601261"/>
            <a:ext cx="261518" cy="26151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577840" y="446227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 daily AI briefing</a:t>
            </a:r>
            <a:endParaRPr lang="en-US" sz="1550" dirty="0"/>
          </a:p>
        </p:txBody>
      </p:sp>
      <p:sp>
        <p:nvSpPr>
          <p:cNvPr id="17" name="Text 11"/>
          <p:cNvSpPr txBox="1"/>
          <p:nvPr/>
        </p:nvSpPr>
        <p:spPr>
          <a:xfrm>
            <a:off x="5577840" y="47548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short personal summary of the day, right on the home screen.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5257800"/>
            <a:ext cx="502920" cy="50292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021" y="5378501"/>
            <a:ext cx="261518" cy="26151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577840" y="523951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Home-screen widgets</a:t>
            </a:r>
            <a:endParaRPr lang="en-US" sz="1550" dirty="0"/>
          </a:p>
        </p:txBody>
      </p:sp>
      <p:sp>
        <p:nvSpPr>
          <p:cNvPr id="21" name="Text 14"/>
          <p:cNvSpPr txBox="1"/>
          <p:nvPr/>
        </p:nvSpPr>
        <p:spPr>
          <a:xfrm>
            <a:off x="5577840" y="55321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 tasks and the AI briefing without even opening the app.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23" name="Text 16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  ·  NO TYPING, NO FORMS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Speak it. It becomes a task.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774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voice note or a messy line of notes turns into a clean, assigned task — the who, what and when already filled in. In the language your team actually speaks.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429000"/>
            <a:ext cx="921715" cy="310896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429000"/>
            <a:ext cx="9217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Malayalam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43507" y="3429000"/>
            <a:ext cx="790042" cy="310896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543507" y="3429000"/>
            <a:ext cx="7900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English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06701" y="3429000"/>
            <a:ext cx="855878" cy="310896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406701" y="3429000"/>
            <a:ext cx="8558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Manglish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5731" y="3429000"/>
            <a:ext cx="1119226" cy="310896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35731" y="3429000"/>
            <a:ext cx="11192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Voice → task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8109" y="3429000"/>
            <a:ext cx="1053389" cy="310896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28109" y="3429000"/>
            <a:ext cx="105338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PDF → tasks</a:t>
            </a:r>
            <a:endParaRPr lang="en-US" sz="95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96512"/>
            <a:ext cx="237744" cy="23774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32688" y="40690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Assignee, deadline and priority parsed for you</a:t>
            </a:r>
            <a:endParaRPr lang="en-US" sz="14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99432"/>
            <a:ext cx="237744" cy="23774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32688" y="45720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Lands in the PM approval queue, with duplicate detection</a:t>
            </a:r>
            <a:endParaRPr lang="en-US" sz="14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102352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32688" y="50749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Works from a voice note, rough notes or a PDF brief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400800" y="502920"/>
            <a:ext cx="5242255" cy="5806440"/>
          </a:xfrm>
          <a:prstGeom prst="roundRect">
            <a:avLst>
              <a:gd name="adj" fmla="val 383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72400" y="868680"/>
            <a:ext cx="3550615" cy="1143000"/>
          </a:xfrm>
          <a:prstGeom prst="roundRect">
            <a:avLst>
              <a:gd name="adj" fmla="val 12800"/>
            </a:avLst>
          </a:prstGeom>
          <a:solidFill>
            <a:srgbClr val="25300C"/>
          </a:solidFill>
          <a:ln w="9525">
            <a:solidFill>
              <a:srgbClr val="3C4D1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001000" y="1005840"/>
            <a:ext cx="3139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YOU  ·  VOICE NOTE  ·  MANGLISH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8001000" y="1280160"/>
            <a:ext cx="3139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“Naseem-inod OXY landing page copy Friday-il venam, high priority.”</a:t>
            </a:r>
            <a:endParaRPr lang="en-US" sz="14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438912" cy="43891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315200" y="23042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9AA7A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DRAFT TASK</a:t>
            </a:r>
            <a:endParaRPr 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7315200" y="2542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Here's the task, ready for approval: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7315200" y="2926080"/>
            <a:ext cx="4007815" cy="2148840"/>
          </a:xfrm>
          <a:prstGeom prst="roundRect">
            <a:avLst>
              <a:gd name="adj" fmla="val 5957"/>
            </a:avLst>
          </a:prstGeom>
          <a:solidFill>
            <a:srgbClr val="1C2123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543800" y="30906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8778240" y="3090672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OXY landing page copy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7543800" y="3520440"/>
            <a:ext cx="3550615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543800" y="3566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Assignee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566160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Naseem</a:t>
            </a:r>
            <a:endParaRPr lang="en-US" sz="1300" dirty="0"/>
          </a:p>
        </p:txBody>
      </p:sp>
      <p:sp>
        <p:nvSpPr>
          <p:cNvPr id="34" name="Shape 28"/>
          <p:cNvSpPr/>
          <p:nvPr/>
        </p:nvSpPr>
        <p:spPr>
          <a:xfrm>
            <a:off x="7543800" y="3995928"/>
            <a:ext cx="3550615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543800" y="40416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Deadline</a:t>
            </a:r>
            <a:endParaRPr lang="en-US" sz="125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041648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Friday</a:t>
            </a:r>
            <a:endParaRPr lang="en-US" sz="1300" dirty="0"/>
          </a:p>
        </p:txBody>
      </p:sp>
      <p:sp>
        <p:nvSpPr>
          <p:cNvPr id="37" name="Shape 31"/>
          <p:cNvSpPr/>
          <p:nvPr/>
        </p:nvSpPr>
        <p:spPr>
          <a:xfrm>
            <a:off x="7543800" y="4471416"/>
            <a:ext cx="3550615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543800" y="45171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Priority</a:t>
            </a:r>
            <a:endParaRPr lang="en-US" sz="1250" dirty="0"/>
          </a:p>
        </p:txBody>
      </p:sp>
      <p:sp>
        <p:nvSpPr>
          <p:cNvPr id="39" name="Text 33"/>
          <p:cNvSpPr txBox="1"/>
          <p:nvPr/>
        </p:nvSpPr>
        <p:spPr>
          <a:xfrm>
            <a:off x="8778240" y="4517136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7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High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7315200" y="5303520"/>
            <a:ext cx="1554480" cy="402336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7315200" y="53035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APPROVE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9006840" y="5303520"/>
            <a:ext cx="1280160" cy="402336"/>
          </a:xfrm>
          <a:prstGeom prst="roundRect">
            <a:avLst>
              <a:gd name="adj" fmla="val 50000"/>
            </a:avLst>
          </a:prstGeom>
          <a:solidFill>
            <a:srgbClr val="1C2123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9006840" y="530352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4F6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EDIT</a:t>
            </a: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45" name="Text 39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  ·  THE APP DOES THE CHASING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clerical work, handled.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Six jobs your team does by hand today, which Bod App now does on its own.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3564026" cy="1828800"/>
          </a:xfrm>
          <a:prstGeom prst="roundRect">
            <a:avLst>
              <a:gd name="adj" fmla="val 8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45059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60320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2450592"/>
            <a:ext cx="2466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standup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3063240"/>
            <a:ext cx="310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 </a:t>
            </a:r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Writing the daily update.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3383280"/>
            <a:ext cx="31068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NOW 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6 PM digest is written for you. One tap to post.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313834" y="2194560"/>
            <a:ext cx="3564026" cy="1828800"/>
          </a:xfrm>
          <a:prstGeom prst="roundRect">
            <a:avLst>
              <a:gd name="adj" fmla="val 8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69866" y="245059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594" y="2560320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82514" y="2450592"/>
            <a:ext cx="2466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Follow-ups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569866" y="3063240"/>
            <a:ext cx="310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 </a:t>
            </a:r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Chasing clients on WhatsApp.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4569866" y="3383280"/>
            <a:ext cx="31068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NOW 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48 hours waiting? A nudge is drafted and ready.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8079029" y="2194560"/>
            <a:ext cx="3564026" cy="1828800"/>
          </a:xfrm>
          <a:prstGeom prst="roundRect">
            <a:avLst>
              <a:gd name="adj" fmla="val 8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35061" y="245059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4789" y="2560320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947709" y="2450592"/>
            <a:ext cx="2466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Status checks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35061" y="3063240"/>
            <a:ext cx="310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 </a:t>
            </a:r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Asking everyone where things are.</a:t>
            </a:r>
            <a:endParaRPr lang="en-US" sz="800" dirty="0"/>
          </a:p>
        </p:txBody>
      </p:sp>
      <p:sp>
        <p:nvSpPr>
          <p:cNvPr id="23" name="Text 18"/>
          <p:cNvSpPr txBox="1"/>
          <p:nvPr/>
        </p:nvSpPr>
        <p:spPr>
          <a:xfrm>
            <a:off x="8335061" y="3383280"/>
            <a:ext cx="31068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NOW 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 and vibe live on every task card.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48640" y="4206240"/>
            <a:ext cx="3564026" cy="1828800"/>
          </a:xfrm>
          <a:prstGeom prst="roundRect">
            <a:avLst>
              <a:gd name="adj" fmla="val 8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4672" y="446227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72000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417320" y="4462272"/>
            <a:ext cx="2466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Planning the day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804672" y="5074920"/>
            <a:ext cx="310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 </a:t>
            </a:r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Scrolling a board to decide.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804672" y="5394960"/>
            <a:ext cx="31068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NOW 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Focus Queue sorts it every morning.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4313834" y="4206240"/>
            <a:ext cx="3564026" cy="1828800"/>
          </a:xfrm>
          <a:prstGeom prst="roundRect">
            <a:avLst>
              <a:gd name="adj" fmla="val 8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569866" y="446227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594" y="4572000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182514" y="4462272"/>
            <a:ext cx="2466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Billing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4569866" y="5074920"/>
            <a:ext cx="310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 </a:t>
            </a:r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Digging through chats for billables.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4569866" y="5394960"/>
            <a:ext cx="31068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NOW 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Done work lands in the Ready to Bill queue.</a:t>
            </a:r>
            <a:endParaRPr lang="en-US" sz="800" dirty="0"/>
          </a:p>
        </p:txBody>
      </p:sp>
      <p:sp>
        <p:nvSpPr>
          <p:cNvPr id="36" name="Shape 29"/>
          <p:cNvSpPr/>
          <p:nvPr/>
        </p:nvSpPr>
        <p:spPr>
          <a:xfrm>
            <a:off x="8079029" y="4206240"/>
            <a:ext cx="3564026" cy="1828800"/>
          </a:xfrm>
          <a:prstGeom prst="roundRect">
            <a:avLst>
              <a:gd name="adj" fmla="val 80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335061" y="446227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4789" y="4572000"/>
            <a:ext cx="237744" cy="237744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8947709" y="4462272"/>
            <a:ext cx="24667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Reports</a:t>
            </a:r>
            <a:endParaRPr lang="en-US" sz="1600" dirty="0"/>
          </a:p>
        </p:txBody>
      </p:sp>
      <p:sp>
        <p:nvSpPr>
          <p:cNvPr id="40" name="Text 32"/>
          <p:cNvSpPr txBox="1"/>
          <p:nvPr/>
        </p:nvSpPr>
        <p:spPr>
          <a:xfrm>
            <a:off x="8335061" y="5074920"/>
            <a:ext cx="31068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 </a:t>
            </a:r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Building a sheet for the founder.</a:t>
            </a:r>
            <a:endParaRPr lang="en-US" sz="800" dirty="0"/>
          </a:p>
        </p:txBody>
      </p:sp>
      <p:sp>
        <p:nvSpPr>
          <p:cNvPr id="41" name="Text 33"/>
          <p:cNvSpPr txBox="1"/>
          <p:nvPr/>
        </p:nvSpPr>
        <p:spPr>
          <a:xfrm>
            <a:off x="8335061" y="5394960"/>
            <a:ext cx="31068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NOW  </a:t>
            </a:r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Analytics and a plain-English AI summary.</a:t>
            </a:r>
            <a:endParaRPr lang="en-US" sz="800" dirty="0"/>
          </a:p>
        </p:txBody>
      </p:sp>
      <p:sp>
        <p:nvSpPr>
          <p:cNvPr id="42" name="Text 34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43" name="Text 35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  ·  DATA, MADE FRIENDLY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Numbers that cheer you 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Shipped work, clients served and turnaround in plain words, with an AI summary that reads like a team lead talking, not a dashboard shouting.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6949440" cy="1097280"/>
          </a:xfrm>
          <a:prstGeom prst="roundRect">
            <a:avLst>
              <a:gd name="adj" fmla="val 13333"/>
            </a:avLst>
          </a:prstGeom>
          <a:solidFill>
            <a:srgbClr val="1A2210"/>
          </a:solidFill>
          <a:ln w="9525">
            <a:solidFill>
              <a:srgbClr val="3C4D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971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SUMMARY  ·  EXAMPLE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1868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“Output is up 18% vs last week. Design is your busiest category; two OXY tasks are blocked on client feedback.”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BOD APP TALKS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4434840"/>
            <a:ext cx="3401568" cy="438912"/>
          </a:xfrm>
          <a:prstGeom prst="roundRect">
            <a:avLst>
              <a:gd name="adj" fmla="val 208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44568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987552" y="44348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tasks need your attention today.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96512" y="4434840"/>
            <a:ext cx="3401568" cy="438912"/>
          </a:xfrm>
          <a:prstGeom prst="roundRect">
            <a:avLst>
              <a:gd name="adj" fmla="val 208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672" y="4544568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35424" y="44348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have 4 pending action items!!!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4965192"/>
            <a:ext cx="3401568" cy="438912"/>
          </a:xfrm>
          <a:prstGeom prst="roundRect">
            <a:avLst>
              <a:gd name="adj" fmla="val 208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7492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87552" y="496519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Ready to bill — 6 deliverables.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096512" y="4965192"/>
            <a:ext cx="3401568" cy="438912"/>
          </a:xfrm>
          <a:prstGeom prst="roundRect">
            <a:avLst>
              <a:gd name="adj" fmla="val 208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5074920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35424" y="496519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Invoice-eligible entities: 6.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5495544"/>
            <a:ext cx="3401568" cy="438912"/>
          </a:xfrm>
          <a:prstGeom prst="roundRect">
            <a:avLst>
              <a:gd name="adj" fmla="val 208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605272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87552" y="549554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Nice — you shipped 4 things this week.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4096512" y="5495544"/>
            <a:ext cx="3401568" cy="438912"/>
          </a:xfrm>
          <a:prstGeom prst="roundRect">
            <a:avLst>
              <a:gd name="adj" fmla="val 2083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3672" y="5605272"/>
            <a:ext cx="201168" cy="20116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535424" y="549554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73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Weekly throughput report generated.</a:t>
            </a:r>
            <a:endParaRPr lang="en-US" sz="1150" dirty="0"/>
          </a:p>
        </p:txBody>
      </p:sp>
      <p:pic>
        <p:nvPicPr>
          <p:cNvPr id="27" name="Image 6" descr="/tmp/claude-0/-home-user-Claude-Works/c609e3f7-e17f-5f43-8424-4df30cb9a6a9/scratchpad/build/img/fig_analytics_cro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411480"/>
            <a:ext cx="2957170" cy="60350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29" name="Text 20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  ·  EVERY SEAT GETS LIGHTER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What each person stops doing.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work, seen through each person's lens — minus the admin.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2622728" cy="3749040"/>
          </a:xfrm>
          <a:prstGeom prst="roundRect">
            <a:avLst>
              <a:gd name="adj" fmla="val 557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5146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650663"/>
            <a:ext cx="294803" cy="29480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29184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Founder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4904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Stops asking “where are we?”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526280"/>
            <a:ext cx="2119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Gets the whole studio at a glance, a weekly AI read and a 6 PM standup.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72536" y="2240280"/>
            <a:ext cx="2622728" cy="3749040"/>
          </a:xfrm>
          <a:prstGeom prst="roundRect">
            <a:avLst>
              <a:gd name="adj" fmla="val 557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46856" y="25146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919" y="2650663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46856" y="329184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Project manager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646856" y="374904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Stops chasing people and clients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646856" y="4526280"/>
            <a:ext cx="2119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Gets one approvals inbox, drafted nudges and tasks spoken in by voice.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196432" y="2240280"/>
            <a:ext cx="2622728" cy="3749040"/>
          </a:xfrm>
          <a:prstGeom prst="roundRect">
            <a:avLst>
              <a:gd name="adj" fmla="val 5578"/>
            </a:avLst>
          </a:prstGeom>
          <a:solidFill>
            <a:srgbClr val="B8E62E"/>
          </a:solidFill>
          <a:ln/>
        </p:spPr>
      </p:sp>
      <p:sp>
        <p:nvSpPr>
          <p:cNvPr id="19" name="Shape 15"/>
          <p:cNvSpPr/>
          <p:nvPr/>
        </p:nvSpPr>
        <p:spPr>
          <a:xfrm>
            <a:off x="6470752" y="25146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B0D0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814" y="2650663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70752" y="329184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Creative team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6470752" y="374904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Stops filling in trackers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6470752" y="4526280"/>
            <a:ext cx="2119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Gets a sorted Focus Queue, a vibe on every task and weekly wins.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9020327" y="2240280"/>
            <a:ext cx="2622728" cy="3749040"/>
          </a:xfrm>
          <a:prstGeom prst="roundRect">
            <a:avLst>
              <a:gd name="adj" fmla="val 557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294647" y="25146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0710" y="2650663"/>
            <a:ext cx="294803" cy="294803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294647" y="3291840"/>
            <a:ext cx="2165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Finance &amp; HR</a:t>
            </a:r>
            <a:endParaRPr lang="en-US" sz="1900" dirty="0"/>
          </a:p>
        </p:txBody>
      </p:sp>
      <p:sp>
        <p:nvSpPr>
          <p:cNvPr id="28" name="Text 22"/>
          <p:cNvSpPr txBox="1"/>
          <p:nvPr/>
        </p:nvSpPr>
        <p:spPr>
          <a:xfrm>
            <a:off x="9294647" y="3749040"/>
            <a:ext cx="2119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Stops hunting for what to bill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9294647" y="4526280"/>
            <a:ext cx="2119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Gets a Ready to Bill queue, a what-to-bill checklist, and leave in one place.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  ·  THE CHANGE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Monday morning, before and after.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team, same clients. A much lighter start to the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410048" cy="3931920"/>
          </a:xfrm>
          <a:prstGeom prst="roundRect">
            <a:avLst>
              <a:gd name="adj" fmla="val 3721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33008" y="2240280"/>
            <a:ext cx="5410048" cy="3931920"/>
          </a:xfrm>
          <a:prstGeom prst="roundRect">
            <a:avLst>
              <a:gd name="adj" fmla="val 3721"/>
            </a:avLst>
          </a:prstGeom>
          <a:solidFill>
            <a:srgbClr val="B8E6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5C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 BOD APP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WITH BOD APP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099816"/>
            <a:ext cx="219456" cy="21945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306324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WhatsApp to 40 unread messages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8" y="3099816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64528" y="306324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Bod App to 4 sorted tasks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914400" y="3520440"/>
            <a:ext cx="4678528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98768" y="3520440"/>
            <a:ext cx="4678528" cy="0"/>
          </a:xfrm>
          <a:prstGeom prst="line">
            <a:avLst/>
          </a:prstGeom>
          <a:noFill/>
          <a:ln w="9525">
            <a:solidFill>
              <a:srgbClr val="A3CC2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703320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366674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three people where the OXY copy is</a:t>
            </a:r>
            <a:endParaRPr lang="en-US" sz="14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8" y="3703320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64528" y="366674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Status and vibe live on every card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914400" y="4123944"/>
            <a:ext cx="4678528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598768" y="4123944"/>
            <a:ext cx="4678528" cy="0"/>
          </a:xfrm>
          <a:prstGeom prst="line">
            <a:avLst/>
          </a:prstGeom>
          <a:noFill/>
          <a:ln w="9525">
            <a:solidFill>
              <a:srgbClr val="A3CC2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06824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80160" y="427024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Nobody is sure what's due today</a:t>
            </a:r>
            <a:endParaRPr lang="en-US" sz="1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8" y="4306824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64528" y="427024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Today's deadlines at the top of the queue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914400" y="4727448"/>
            <a:ext cx="4678528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598768" y="4727448"/>
            <a:ext cx="4678528" cy="0"/>
          </a:xfrm>
          <a:prstGeom prst="line">
            <a:avLst/>
          </a:prstGeom>
          <a:noFill/>
          <a:ln w="9525">
            <a:solidFill>
              <a:srgbClr val="A3CC28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910328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280160" y="487375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status meeting eats the first hour</a:t>
            </a:r>
            <a:endParaRPr lang="en-US" sz="14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8768" y="4910328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64528" y="487375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Friday's 6 PM digest already went out</a:t>
            </a:r>
            <a:endParaRPr lang="en-US" sz="1400" dirty="0"/>
          </a:p>
        </p:txBody>
      </p:sp>
      <p:sp>
        <p:nvSpPr>
          <p:cNvPr id="32" name="Shape 22"/>
          <p:cNvSpPr/>
          <p:nvPr/>
        </p:nvSpPr>
        <p:spPr>
          <a:xfrm>
            <a:off x="914400" y="5330952"/>
            <a:ext cx="4678528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6598768" y="5330952"/>
            <a:ext cx="4678528" cy="0"/>
          </a:xfrm>
          <a:prstGeom prst="line">
            <a:avLst/>
          </a:prstGeom>
          <a:noFill/>
          <a:ln w="9525">
            <a:solidFill>
              <a:srgbClr val="A3CC28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400" y="5513832"/>
            <a:ext cx="219456" cy="21945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280160" y="5477256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Last week's wins go unnoticed</a:t>
            </a:r>
            <a:endParaRPr lang="en-US" sz="1400" dirty="0"/>
          </a:p>
        </p:txBody>
      </p:sp>
      <p:pic>
        <p:nvPicPr>
          <p:cNvPr id="3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8768" y="5513832"/>
            <a:ext cx="219456" cy="219456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6964528" y="5477256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Bod Annan: “You shipped 4 deliverables”</a:t>
            </a:r>
            <a:endParaRPr lang="en-US" sz="1400" dirty="0"/>
          </a:p>
        </p:txBody>
      </p:sp>
      <p:sp>
        <p:nvSpPr>
          <p:cNvPr id="38" name="Text 26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39" name="Text 27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  ·  PRICING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Simple per-seat plans.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days free. Full features. No card.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564026" cy="3886200"/>
          </a:xfrm>
          <a:prstGeom prst="roundRect">
            <a:avLst>
              <a:gd name="adj" fmla="val 4105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77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BASIC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97480"/>
            <a:ext cx="30153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₹199</a:t>
            </a:r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/ seat / mo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52044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Small teams finding their rhythm.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79476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essentials, not every feature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68680" y="4206240"/>
            <a:ext cx="2923946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48056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43000" y="4434840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Full task pipeline &amp; board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809744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43000" y="4764024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Focus Queue &amp; vibe status</a:t>
            </a:r>
            <a:endParaRPr lang="en-US" sz="12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138928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43000" y="5093208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Per-client colour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68112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5422392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iOS, Android &amp; web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313834" y="2103120"/>
            <a:ext cx="3564026" cy="3886200"/>
          </a:xfrm>
          <a:prstGeom prst="roundRect">
            <a:avLst>
              <a:gd name="adj" fmla="val 4105"/>
            </a:avLst>
          </a:prstGeom>
          <a:solidFill>
            <a:srgbClr val="B8E62E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4633874" y="2377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ADVANCED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6369101" y="234086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369101" y="234086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24" name="Text 18"/>
          <p:cNvSpPr txBox="1"/>
          <p:nvPr/>
        </p:nvSpPr>
        <p:spPr>
          <a:xfrm>
            <a:off x="4633874" y="2697480"/>
            <a:ext cx="30153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₹299</a:t>
            </a:r>
            <a:pPr indent="0" marL="0">
              <a:buNone/>
            </a:pPr>
            <a:r>
              <a:rPr lang="en-US" sz="12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/ seat / mo</a:t>
            </a:r>
            <a:endParaRPr lang="en-US" sz="4000" dirty="0"/>
          </a:p>
        </p:txBody>
      </p:sp>
      <p:sp>
        <p:nvSpPr>
          <p:cNvPr id="25" name="Text 19"/>
          <p:cNvSpPr txBox="1"/>
          <p:nvPr/>
        </p:nvSpPr>
        <p:spPr>
          <a:xfrm>
            <a:off x="4633874" y="352044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Growing agencies, many clients.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633874" y="379476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full setup we run on ourselves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4633874" y="4206240"/>
            <a:ext cx="2923946" cy="0"/>
          </a:xfrm>
          <a:prstGeom prst="line">
            <a:avLst/>
          </a:prstGeom>
          <a:noFill/>
          <a:ln w="9525">
            <a:solidFill>
              <a:srgbClr val="A3CC28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4633874" y="4343400"/>
            <a:ext cx="30153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in Basic, plus:</a:t>
            </a:r>
            <a:endParaRPr lang="en-US" sz="11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4700016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908194" y="4654296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AI capture: voice, notes, PDF</a:t>
            </a:r>
            <a:endParaRPr lang="en-US" sz="12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3874" y="5029200"/>
            <a:ext cx="182880" cy="1828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08194" y="4983480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Approvals hub &amp; requests</a:t>
            </a:r>
            <a:endParaRPr lang="en-US" sz="12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3874" y="5358384"/>
            <a:ext cx="182880" cy="18288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908194" y="5312664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Nudges, standup &amp; recap</a:t>
            </a:r>
            <a:endParaRPr lang="en-US" sz="12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3874" y="5687568"/>
            <a:ext cx="182880" cy="18288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908194" y="5641848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Billing checklist &amp; analytics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8079029" y="2103120"/>
            <a:ext cx="3564026" cy="3886200"/>
          </a:xfrm>
          <a:prstGeom prst="roundRect">
            <a:avLst>
              <a:gd name="adj" fmla="val 4105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8399069" y="23774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PREMIUM</a:t>
            </a:r>
            <a:endParaRPr lang="en-US" sz="1000" dirty="0"/>
          </a:p>
        </p:txBody>
      </p:sp>
      <p:sp>
        <p:nvSpPr>
          <p:cNvPr id="39" name="Text 29"/>
          <p:cNvSpPr txBox="1"/>
          <p:nvPr/>
        </p:nvSpPr>
        <p:spPr>
          <a:xfrm>
            <a:off x="8399069" y="2697480"/>
            <a:ext cx="30153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₹499</a:t>
            </a:r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/ seat / mo</a:t>
            </a:r>
            <a:endParaRPr lang="en-US" sz="4000" dirty="0"/>
          </a:p>
        </p:txBody>
      </p:sp>
      <p:sp>
        <p:nvSpPr>
          <p:cNvPr id="40" name="Text 30"/>
          <p:cNvSpPr txBox="1"/>
          <p:nvPr/>
        </p:nvSpPr>
        <p:spPr>
          <a:xfrm>
            <a:off x="8399069" y="352044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Studios wanting a custom build.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8399069" y="379476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Custom setup, configured with you</a:t>
            </a:r>
            <a:endParaRPr lang="en-US" sz="1150" dirty="0"/>
          </a:p>
        </p:txBody>
      </p:sp>
      <p:sp>
        <p:nvSpPr>
          <p:cNvPr id="42" name="Shape 32"/>
          <p:cNvSpPr/>
          <p:nvPr/>
        </p:nvSpPr>
        <p:spPr>
          <a:xfrm>
            <a:off x="8399069" y="4206240"/>
            <a:ext cx="2923946" cy="0"/>
          </a:xfrm>
          <a:prstGeom prst="line">
            <a:avLst/>
          </a:prstGeom>
          <a:noFill/>
          <a:ln w="9525">
            <a:solidFill>
              <a:srgbClr val="262C2E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399069" y="4343400"/>
            <a:ext cx="30153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in Advanced, plus:</a:t>
            </a:r>
            <a:endParaRPr lang="en-US" sz="1100" dirty="0"/>
          </a:p>
        </p:txBody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9" y="4700016"/>
            <a:ext cx="182880" cy="18288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8673389" y="4654296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Custom pipeline, categories &amp; roles</a:t>
            </a:r>
            <a:endParaRPr lang="en-US" sz="1200" dirty="0"/>
          </a:p>
        </p:txBody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9069" y="5029200"/>
            <a:ext cx="182880" cy="182880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8673389" y="4983480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Zoho &amp; Sheets sync</a:t>
            </a:r>
            <a:endParaRPr lang="en-US" sz="1200" dirty="0"/>
          </a:p>
        </p:txBody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99069" y="5358384"/>
            <a:ext cx="182880" cy="18288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8673389" y="5312664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SSO &amp; role controls</a:t>
            </a:r>
            <a:endParaRPr lang="en-US" sz="1200" dirty="0"/>
          </a:p>
        </p:txBody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9069" y="5687568"/>
            <a:ext cx="182880" cy="182880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8673389" y="5641848"/>
            <a:ext cx="26953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Onboarding &amp; priority support</a:t>
            </a:r>
            <a:endParaRPr lang="en-US" sz="1200" dirty="0"/>
          </a:p>
        </p:txBody>
      </p:sp>
      <p:sp>
        <p:nvSpPr>
          <p:cNvPr id="52" name="Text 38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 seat, per month. Talk to us about annual billing and larger teams.  ·  GCC clients can be billed in AED or SAR.</a:t>
            </a:r>
            <a:endParaRPr lang="en-US" sz="1100" dirty="0"/>
          </a:p>
        </p:txBody>
      </p:sp>
      <p:sp>
        <p:nvSpPr>
          <p:cNvPr id="53" name="Text 39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54" name="Text 40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 ·  WHY BOD STUDIO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Built by a studio.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Fits your stack.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Bod App was built to run the Storibod floor before it was offered to anyone else. Every feature earned its place on real client work.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5303520" cy="1371600"/>
          </a:xfrm>
          <a:prstGeom prst="roundRect">
            <a:avLst>
              <a:gd name="adj" fmla="val 10667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BATTLE-TESTED ON WORK FOR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5661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OXY  ·  Salison's  ·  Restlon  ·  Papacheri  ·  Vijayan Master's  ·  Plum Stories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4617720"/>
            <a:ext cx="5303520" cy="1417320"/>
          </a:xfrm>
          <a:prstGeom prst="roundRect">
            <a:avLst>
              <a:gd name="adj" fmla="val 10323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892040"/>
            <a:ext cx="822960" cy="8229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920240" y="49194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 Bod Studio product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5257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Built by Storibod Creatives in Kochi, Kerala. Support stays human — on WhatsApp.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86868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PLAYS NICE WITH WHAT YOU USE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63640" y="1188720"/>
            <a:ext cx="2598268" cy="1188720"/>
          </a:xfrm>
          <a:prstGeom prst="roundRect">
            <a:avLst>
              <a:gd name="adj" fmla="val 1230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37960" y="14996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023" y="1635679"/>
            <a:ext cx="294803" cy="29480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269480" y="1499616"/>
            <a:ext cx="1500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Zoho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315200" y="1828800"/>
            <a:ext cx="1409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Invoices &amp; books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044788" y="1188720"/>
            <a:ext cx="2598268" cy="1188720"/>
          </a:xfrm>
          <a:prstGeom prst="roundRect">
            <a:avLst>
              <a:gd name="adj" fmla="val 1230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319108" y="14996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5170" y="1635679"/>
            <a:ext cx="294803" cy="29480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050628" y="1499616"/>
            <a:ext cx="1500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Google Sheets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0096348" y="1828800"/>
            <a:ext cx="1409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Live task sync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263640" y="2560320"/>
            <a:ext cx="2598268" cy="1188720"/>
          </a:xfrm>
          <a:prstGeom prst="roundRect">
            <a:avLst>
              <a:gd name="adj" fmla="val 1230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537960" y="28712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4023" y="3007279"/>
            <a:ext cx="294803" cy="294803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269480" y="2871216"/>
            <a:ext cx="1500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WhatsApp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7315200" y="3200400"/>
            <a:ext cx="1409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Nudges &amp; demos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9044788" y="2560320"/>
            <a:ext cx="2598268" cy="1188720"/>
          </a:xfrm>
          <a:prstGeom prst="roundRect">
            <a:avLst>
              <a:gd name="adj" fmla="val 1230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9319108" y="28712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5170" y="3007279"/>
            <a:ext cx="294803" cy="294803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0050628" y="2871216"/>
            <a:ext cx="1500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iOS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10096348" y="3200400"/>
            <a:ext cx="1409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iPhone &amp; iPad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6263640" y="3931920"/>
            <a:ext cx="2598268" cy="1188720"/>
          </a:xfrm>
          <a:prstGeom prst="roundRect">
            <a:avLst>
              <a:gd name="adj" fmla="val 1230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537960" y="42428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4023" y="4378879"/>
            <a:ext cx="294803" cy="294803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269480" y="4242816"/>
            <a:ext cx="1500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Android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315200" y="4572000"/>
            <a:ext cx="1409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Phone &amp; tablet</a:t>
            </a:r>
            <a:endParaRPr lang="en-US" sz="1200" dirty="0"/>
          </a:p>
        </p:txBody>
      </p:sp>
      <p:sp>
        <p:nvSpPr>
          <p:cNvPr id="39" name="Shape 31"/>
          <p:cNvSpPr/>
          <p:nvPr/>
        </p:nvSpPr>
        <p:spPr>
          <a:xfrm>
            <a:off x="9044788" y="3931920"/>
            <a:ext cx="2598268" cy="1188720"/>
          </a:xfrm>
          <a:prstGeom prst="roundRect">
            <a:avLst>
              <a:gd name="adj" fmla="val 12308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9319108" y="42428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5170" y="4378879"/>
            <a:ext cx="294803" cy="294803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0050628" y="4242816"/>
            <a:ext cx="15009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Web</a:t>
            </a:r>
            <a:endParaRPr lang="en-US" sz="1500" dirty="0"/>
          </a:p>
        </p:txBody>
      </p:sp>
      <p:sp>
        <p:nvSpPr>
          <p:cNvPr id="43" name="Text 34"/>
          <p:cNvSpPr txBox="1"/>
          <p:nvPr/>
        </p:nvSpPr>
        <p:spPr>
          <a:xfrm>
            <a:off x="10096348" y="4572000"/>
            <a:ext cx="1409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Any browser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45" name="Text 36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  ·  GETTING STARTED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From first call to a decision in 14 days.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real workflow, not a generic demo.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697480"/>
            <a:ext cx="10728655" cy="0"/>
          </a:xfrm>
          <a:prstGeom prst="line">
            <a:avLst/>
          </a:prstGeom>
          <a:noFill/>
          <a:ln w="25400">
            <a:solidFill>
              <a:srgbClr val="B8E6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532888"/>
            <a:ext cx="329184" cy="329184"/>
          </a:xfrm>
          <a:prstGeom prst="ellipse">
            <a:avLst/>
          </a:prstGeom>
          <a:solidFill>
            <a:srgbClr val="0B0D0C"/>
          </a:solidFill>
          <a:ln w="25400">
            <a:solidFill>
              <a:srgbClr val="B8E6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154680"/>
            <a:ext cx="2602154" cy="2331720"/>
          </a:xfrm>
          <a:prstGeom prst="roundRect">
            <a:avLst>
              <a:gd name="adj" fmla="val 6275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383280"/>
            <a:ext cx="214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 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7033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160520"/>
            <a:ext cx="20992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 minutes on your actual workflow — on WhatsApp or a call.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425114" y="2532888"/>
            <a:ext cx="329184" cy="329184"/>
          </a:xfrm>
          <a:prstGeom prst="ellipse">
            <a:avLst/>
          </a:prstGeom>
          <a:solidFill>
            <a:srgbClr val="0B0D0C"/>
          </a:solidFill>
          <a:ln w="25400">
            <a:solidFill>
              <a:srgbClr val="B8E6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79394" y="3154680"/>
            <a:ext cx="2602154" cy="2331720"/>
          </a:xfrm>
          <a:prstGeom prst="roundRect">
            <a:avLst>
              <a:gd name="adj" fmla="val 6275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53714" y="3383280"/>
            <a:ext cx="214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 1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653714" y="37033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Set up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653714" y="4160520"/>
            <a:ext cx="20992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Invite the team, set roles, add clients and their colours. No migration.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55868" y="2532888"/>
            <a:ext cx="329184" cy="329184"/>
          </a:xfrm>
          <a:prstGeom prst="ellipse">
            <a:avLst/>
          </a:prstGeom>
          <a:solidFill>
            <a:srgbClr val="0B0D0C"/>
          </a:solidFill>
          <a:ln w="25400">
            <a:solidFill>
              <a:srgbClr val="B8E6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0148" y="3154680"/>
            <a:ext cx="2602154" cy="2331720"/>
          </a:xfrm>
          <a:prstGeom prst="roundRect">
            <a:avLst>
              <a:gd name="adj" fmla="val 6275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84468" y="3383280"/>
            <a:ext cx="214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 2–13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84468" y="37033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Run real work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84468" y="4160520"/>
            <a:ext cx="20992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Put live client work through the pipeline. Standups and nudges run themselves.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086621" y="2532888"/>
            <a:ext cx="329184" cy="329184"/>
          </a:xfrm>
          <a:prstGeom prst="ellipse">
            <a:avLst/>
          </a:prstGeom>
          <a:solidFill>
            <a:srgbClr val="B8E62E"/>
          </a:solidFill>
          <a:ln w="25400">
            <a:solidFill>
              <a:srgbClr val="B8E6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3154680"/>
            <a:ext cx="2602154" cy="2331720"/>
          </a:xfrm>
          <a:prstGeom prst="roundRect">
            <a:avLst>
              <a:gd name="adj" fmla="val 6275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15221" y="3383280"/>
            <a:ext cx="214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 14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315221" y="370332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Decide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9315221" y="4160520"/>
            <a:ext cx="20992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your own analytics and AI summary. Keep it only if it earned its place.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E62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days, full features, no card.  </a:t>
            </a:r>
            <a:pPr indent="0" marL="0">
              <a:buNone/>
            </a:pPr>
            <a:r>
              <a:rPr lang="en-US" sz="1400" dirty="0">
                <a:solidFill>
                  <a:srgbClr val="F4F6F5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it hasn't earned its place, walk away — there's no contract to unwind.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 ·  QUESTIONS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questions you're already thinking.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Short answers. No jargon.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432908" cy="1143000"/>
          </a:xfrm>
          <a:prstGeom prst="roundRect">
            <a:avLst>
              <a:gd name="adj" fmla="val 128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395728"/>
            <a:ext cx="479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Isn't “playful” a distraction?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24912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fun is small and in the right places: a weekly win, a vibe, a kind nudge. Bod Annan shows up at about one in five moments.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0148" y="2194560"/>
            <a:ext cx="5432908" cy="1143000"/>
          </a:xfrm>
          <a:prstGeom prst="roundRect">
            <a:avLst>
              <a:gd name="adj" fmla="val 128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0188" y="2395728"/>
            <a:ext cx="479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Will my team actually use it?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2724912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Opening it saves time instead of costing it. Today's list is already sorted, and the updates write themselves.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02152"/>
            <a:ext cx="5432908" cy="1143000"/>
          </a:xfrm>
          <a:prstGeom prst="roundRect">
            <a:avLst>
              <a:gd name="adj" fmla="val 128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703320"/>
            <a:ext cx="479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We already use WhatsApp.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032504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it for conversation. Bod App gives the work a home, and still sends nudges on WhatsApp.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0148" y="3502152"/>
            <a:ext cx="5432908" cy="1143000"/>
          </a:xfrm>
          <a:prstGeom prst="roundRect">
            <a:avLst>
              <a:gd name="adj" fmla="val 128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30188" y="3703320"/>
            <a:ext cx="479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Who has time to migrate?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30188" y="4032504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There's nothing to migrate. Start with this week's tasks, or just speak them in.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09744"/>
            <a:ext cx="5432908" cy="1143000"/>
          </a:xfrm>
          <a:prstGeom prst="roundRect">
            <a:avLst>
              <a:gd name="adj" fmla="val 128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5010912"/>
            <a:ext cx="479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Does it replace our invoicing?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340096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No. It tells Finance what to bill. Amounts and invoices stay in Zoho.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0148" y="4809744"/>
            <a:ext cx="5432908" cy="1143000"/>
          </a:xfrm>
          <a:prstGeom prst="roundRect">
            <a:avLst>
              <a:gd name="adj" fmla="val 12800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0188" y="5010912"/>
            <a:ext cx="47928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Is the AI really multilingual?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530188" y="5340096"/>
            <a:ext cx="47928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Yes: Malayalam, English or Manglish, by voice or text. iOS, Android and web.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8E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61872" y="45720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0D0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Bod App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1261872" y="8046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BOD STUDIO PRODUCT</a:t>
            </a:r>
            <a:endParaRPr lang="en-US" sz="8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35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Give your team</a:t>
            </a:r>
            <a:endParaRPr lang="en-US" sz="5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600" b="1" i="1" dirty="0">
                <a:solidFill>
                  <a:srgbClr val="0B0D0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fun half back.</a:t>
            </a:r>
            <a:endParaRPr lang="en-US" sz="5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47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30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the 14-day free trial, or book a 20-minute walkthrough on your real workflow. If your team doesn't enjoy it, you've lost two weeks and no money.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4663440"/>
            <a:ext cx="2103120" cy="475488"/>
          </a:xfrm>
          <a:prstGeom prst="roundRect">
            <a:avLst>
              <a:gd name="adj" fmla="val 50000"/>
            </a:avLst>
          </a:prstGeom>
          <a:solidFill>
            <a:srgbClr val="0B0D0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46634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FREE TRIAL  →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788920" y="4663440"/>
            <a:ext cx="2103120" cy="475488"/>
          </a:xfrm>
          <a:prstGeom prst="roundRect">
            <a:avLst>
              <a:gd name="adj" fmla="val 50000"/>
            </a:avLst>
          </a:prstGeom>
          <a:solidFill>
            <a:srgbClr val="B8E62E"/>
          </a:solidFill>
          <a:ln w="9525">
            <a:solidFill>
              <a:srgbClr val="0B0D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88920" y="46634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0B0D0C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 ON WHATSAPP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7784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WHATSAPP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155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+91 7356 333 975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55778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EMAIL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2148840" y="581558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info@storibodcreatives.com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557784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WEB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58155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mybodstudio.com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55778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4A1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INSTAGRAM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58155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D0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@storibod.creatives</a:t>
            </a:r>
            <a:endParaRPr lang="en-US" sz="1250" dirty="0"/>
          </a:p>
        </p:txBody>
      </p:sp>
      <p:pic>
        <p:nvPicPr>
          <p:cNvPr id="20" name="Image 1" descr="/tmp/claude-0/-home-user-Claude-Works/c609e3f7-e17f-5f43-8424-4df30cb9a6a9/scratchpad/build/img/fig_tasks_c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74320"/>
            <a:ext cx="3091586" cy="63093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E62E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APPENDIX  ·  EVERYTHING INCLUDED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7985455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/  SALES DECK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The full feature list.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361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Twelve features that replace a board, a sheet, a WhatsApp group and a standup meeting.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3500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2450958"/>
            <a:ext cx="218724" cy="2187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2350008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Focus Queue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2880360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auto-sorted list for today, overdue first.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67964" y="2148840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69132" y="23500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082" y="2450958"/>
            <a:ext cx="218724" cy="2187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7772" y="2350008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Task pipeline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569132" y="2880360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Pending to Billed, role-aware at every step.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87288" y="2148840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88456" y="23500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05" y="2450958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37096" y="2350008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Vibe status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388456" y="2880360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Long-press a task to set its mood.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9006611" y="2148840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07779" y="235000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729" y="2450958"/>
            <a:ext cx="218724" cy="21872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756419" y="2350008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AI capture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9207779" y="2880360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Voice or text in Malayalam, English, Manglish.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3575304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49808" y="377647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758" y="3877422"/>
            <a:ext cx="218724" cy="21872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298448" y="3776472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Client colours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49808" y="4306824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client gets its own accent, everywhere.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3367964" y="3575304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3569132" y="377647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0082" y="3877422"/>
            <a:ext cx="218724" cy="21872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117772" y="3776472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Smart nudges</a:t>
            </a:r>
            <a:endParaRPr lang="en-US" sz="1400" dirty="0"/>
          </a:p>
        </p:txBody>
      </p:sp>
      <p:sp>
        <p:nvSpPr>
          <p:cNvPr id="35" name="Text 27"/>
          <p:cNvSpPr txBox="1"/>
          <p:nvPr/>
        </p:nvSpPr>
        <p:spPr>
          <a:xfrm>
            <a:off x="3569132" y="4306824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follow-up drafted after 48h on a client.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6187288" y="3575304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6388456" y="377647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9405" y="3877422"/>
            <a:ext cx="218724" cy="2187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937096" y="3776472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Auto standup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6388456" y="4306824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6 PM digest, one tap to copy or post.</a:t>
            </a:r>
            <a:endParaRPr lang="en-US" sz="1100" dirty="0"/>
          </a:p>
        </p:txBody>
      </p:sp>
      <p:sp>
        <p:nvSpPr>
          <p:cNvPr id="41" name="Shape 32"/>
          <p:cNvSpPr/>
          <p:nvPr/>
        </p:nvSpPr>
        <p:spPr>
          <a:xfrm>
            <a:off x="9006611" y="3575304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9207779" y="377647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729" y="3877422"/>
            <a:ext cx="218724" cy="21872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756419" y="3776472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Billing checklist</a:t>
            </a:r>
            <a:endParaRPr lang="en-US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9207779" y="4306824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to bill, not how much. Zoho keeps the rest.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548640" y="5001768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749808" y="5202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758" y="5303886"/>
            <a:ext cx="218724" cy="218724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1298448" y="5202936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Approvals hub</a:t>
            </a:r>
            <a:endParaRPr lang="en-US" sz="1400" dirty="0"/>
          </a:p>
        </p:txBody>
      </p:sp>
      <p:sp>
        <p:nvSpPr>
          <p:cNvPr id="50" name="Text 39"/>
          <p:cNvSpPr txBox="1"/>
          <p:nvPr/>
        </p:nvSpPr>
        <p:spPr>
          <a:xfrm>
            <a:off x="749808" y="5733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Requests, notes and PDF tasks in one PM inbox.</a:t>
            </a:r>
            <a:endParaRPr lang="en-US" sz="1100" dirty="0"/>
          </a:p>
        </p:txBody>
      </p:sp>
      <p:sp>
        <p:nvSpPr>
          <p:cNvPr id="51" name="Shape 40"/>
          <p:cNvSpPr/>
          <p:nvPr/>
        </p:nvSpPr>
        <p:spPr>
          <a:xfrm>
            <a:off x="3367964" y="5001768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3569132" y="5202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70082" y="5303886"/>
            <a:ext cx="218724" cy="218724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4117772" y="5202936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Team &amp; task chat</a:t>
            </a:r>
            <a:endParaRPr lang="en-US" sz="1400" dirty="0"/>
          </a:p>
        </p:txBody>
      </p:sp>
      <p:sp>
        <p:nvSpPr>
          <p:cNvPr id="55" name="Text 43"/>
          <p:cNvSpPr txBox="1"/>
          <p:nvPr/>
        </p:nvSpPr>
        <p:spPr>
          <a:xfrm>
            <a:off x="3569132" y="5733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Group and per-task threads, files, voice notes.</a:t>
            </a:r>
            <a:endParaRPr lang="en-US" sz="1100" dirty="0"/>
          </a:p>
        </p:txBody>
      </p:sp>
      <p:sp>
        <p:nvSpPr>
          <p:cNvPr id="56" name="Shape 44"/>
          <p:cNvSpPr/>
          <p:nvPr/>
        </p:nvSpPr>
        <p:spPr>
          <a:xfrm>
            <a:off x="6187288" y="5001768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57" name="Shape 45"/>
          <p:cNvSpPr/>
          <p:nvPr/>
        </p:nvSpPr>
        <p:spPr>
          <a:xfrm>
            <a:off x="6388456" y="5202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5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9405" y="5303886"/>
            <a:ext cx="218724" cy="218724"/>
          </a:xfrm>
          <a:prstGeom prst="rect">
            <a:avLst/>
          </a:prstGeom>
        </p:spPr>
      </p:pic>
      <p:sp>
        <p:nvSpPr>
          <p:cNvPr id="59" name="Text 46"/>
          <p:cNvSpPr txBox="1"/>
          <p:nvPr/>
        </p:nvSpPr>
        <p:spPr>
          <a:xfrm>
            <a:off x="6937096" y="5202936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What's next? AI</a:t>
            </a:r>
            <a:endParaRPr lang="en-US" sz="1400" dirty="0"/>
          </a:p>
        </p:txBody>
      </p:sp>
      <p:sp>
        <p:nvSpPr>
          <p:cNvPr id="60" name="Text 47"/>
          <p:cNvSpPr txBox="1"/>
          <p:nvPr/>
        </p:nvSpPr>
        <p:spPr>
          <a:xfrm>
            <a:off x="6388456" y="5733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which task to pick up next. Get a reason.</a:t>
            </a:r>
            <a:endParaRPr lang="en-US" sz="1100" dirty="0"/>
          </a:p>
        </p:txBody>
      </p:sp>
      <p:sp>
        <p:nvSpPr>
          <p:cNvPr id="61" name="Shape 48"/>
          <p:cNvSpPr/>
          <p:nvPr/>
        </p:nvSpPr>
        <p:spPr>
          <a:xfrm>
            <a:off x="9006611" y="5001768"/>
            <a:ext cx="2636444" cy="1261872"/>
          </a:xfrm>
          <a:prstGeom prst="roundRect">
            <a:avLst>
              <a:gd name="adj" fmla="val 11594"/>
            </a:avLst>
          </a:prstGeom>
          <a:solidFill>
            <a:srgbClr val="15191A"/>
          </a:solidFill>
          <a:ln w="9525">
            <a:solidFill>
              <a:srgbClr val="262C2E"/>
            </a:solidFill>
            <a:prstDash val="solid"/>
          </a:ln>
        </p:spPr>
      </p:sp>
      <p:sp>
        <p:nvSpPr>
          <p:cNvPr id="62" name="Shape 49"/>
          <p:cNvSpPr/>
          <p:nvPr/>
        </p:nvSpPr>
        <p:spPr>
          <a:xfrm>
            <a:off x="9207779" y="5202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C2123"/>
          </a:solidFill>
          <a:ln/>
        </p:spPr>
      </p:sp>
      <p:pic>
        <p:nvPicPr>
          <p:cNvPr id="6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8729" y="5303886"/>
            <a:ext cx="218724" cy="218724"/>
          </a:xfrm>
          <a:prstGeom prst="rect">
            <a:avLst/>
          </a:prstGeom>
        </p:spPr>
      </p:pic>
      <p:sp>
        <p:nvSpPr>
          <p:cNvPr id="64" name="Text 50"/>
          <p:cNvSpPr txBox="1"/>
          <p:nvPr/>
        </p:nvSpPr>
        <p:spPr>
          <a:xfrm>
            <a:off x="9756419" y="5202936"/>
            <a:ext cx="17677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Home widgets</a:t>
            </a:r>
            <a:endParaRPr lang="en-US" sz="1400" dirty="0"/>
          </a:p>
        </p:txBody>
      </p:sp>
      <p:sp>
        <p:nvSpPr>
          <p:cNvPr id="65" name="Text 51"/>
          <p:cNvSpPr txBox="1"/>
          <p:nvPr/>
        </p:nvSpPr>
        <p:spPr>
          <a:xfrm>
            <a:off x="9207779" y="5733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AA7A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top tasks and AI briefing on the home screen.</a:t>
            </a:r>
            <a:endParaRPr lang="en-US" sz="1100" dirty="0"/>
          </a:p>
        </p:txBody>
      </p:sp>
      <p:sp>
        <p:nvSpPr>
          <p:cNvPr id="66" name="Text 52"/>
          <p:cNvSpPr txBox="1"/>
          <p:nvPr/>
        </p:nvSpPr>
        <p:spPr>
          <a:xfrm>
            <a:off x="54864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 APP  ·  RUN YOUR STUDIO THE CALM WAY</a:t>
            </a:r>
            <a:endParaRPr lang="en-US" sz="800" dirty="0"/>
          </a:p>
        </p:txBody>
      </p:sp>
      <p:sp>
        <p:nvSpPr>
          <p:cNvPr id="67" name="Text 53"/>
          <p:cNvSpPr txBox="1"/>
          <p:nvPr/>
        </p:nvSpPr>
        <p:spPr>
          <a:xfrm>
            <a:off x="10728655" y="6446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7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Bod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Bod App — Sales Deck</dc:title>
  <dc:subject>PptxGenJS Presentation</dc:subject>
  <dc:creator>Bod Studio · Storibod Creatives</dc:creator>
  <cp:lastModifiedBy>Bod Studio · Storibod Creatives</cp:lastModifiedBy>
  <cp:revision>1</cp:revision>
  <dcterms:created xsi:type="dcterms:W3CDTF">2026-09-26T14:42:08Z</dcterms:created>
  <dcterms:modified xsi:type="dcterms:W3CDTF">2026-09-26T14:42:08Z</dcterms:modified>
</cp:coreProperties>
</file>