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promise: one calm app that replaces the five places a studio's work lives today. Bod App is a Bod Studio product, built and run inside Storibod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pain before the product. Most studios aren't disorganised — their work is split across WhatsApp, sheets, email, memory and meetings. The cost shows up as slipped deadlines, unbilled work and a founder with no real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 App in one line: the workspace an agency runs on. Four numbers do the selling — five tools become one, three languages, a standup written at 6 PM, and one app across iOS, Android and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designers and creators live in. Every morning the queue is already sorted — overdue and blocked first. Vibe status lets the team say how a task feels, so leads spot overload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and name who owns each step. The key sell for founders is stage four: Ready to Bill. Delivered work lands in Finance's queue automatically, so nothing shipped goes uninvoiced. Invoicing itself stays in Zoho.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this out loud if you can. A Manglish voice note becomes a fully-formed draft task — assignee, deadline and priority parsed — sitting in the PM's approvals inbox. It also works from messy notes or a PDF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founder's slide. Analytics, a weekly AI summary and a 6 PM standup mean the founder never has to ask for a status update. Blocked-task nudges take chasing off the PM's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feature set on one page. Point out that none of these need setup or training — they show up the moment the team starts adding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Tailor this to who's in the room. If it's the founder, lead with the lime card. If it's an ops or PM lead, spend time on the approvals inbox and nudges.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rows across — each 'before' has a matching 'after'. Ask the prospect which row describes their week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people × 30 minutes × 22 days = 110 hours a month spent on coordination. Compare that with ₹2,990 a month for ten seats on Advanced. Ask for their team size and do the maths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is the recommendation for most agencies — it's the exact setup Storibod runs on. Basic is for small teams getting started; Premium is a custom setup with Zoho and Sheets sync, SSO and priority onboarding. Every plan starts with a 14-day free trial, no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slide. This isn't a startup guessing at agency workflows — it's the tool a working agency built for itself. On integrations: invoices stay in Zoho, exports go to Sheets, and it runs on every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trial the ask. Offer the 20-minute walkthrough on their real workflow, set them up on day one, and book a review call on day 14 to read the analytics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objections. The two that come up most: 'we already use WhatsApp' and 'does it replace our invoicing'.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trial. Two options: start free (email) or a WhatsApp demo. Leave this slide up while you swap contact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slideLayout" Target="../slideLayouts/slideLayout1.xml"/><Relationship Id="rId1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E62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57200"/>
            <a:ext cx="566928" cy="566928"/>
          </a:xfrm>
          <a:prstGeom prst="rect">
            <a:avLst/>
          </a:prstGeom>
        </p:spPr>
      </p:pic>
      <p:sp>
        <p:nvSpPr>
          <p:cNvPr id="3" name="Text 0"/>
          <p:cNvSpPr txBox="1"/>
          <p:nvPr/>
        </p:nvSpPr>
        <p:spPr>
          <a:xfrm>
            <a:off x="1261872" y="457200"/>
            <a:ext cx="2743200" cy="329184"/>
          </a:xfrm>
          <a:prstGeom prst="rect">
            <a:avLst/>
          </a:prstGeom>
          <a:noFill/>
          <a:ln/>
        </p:spPr>
        <p:txBody>
          <a:bodyPr wrap="square" lIns="0" tIns="0" rIns="0" bIns="0" rtlCol="0" anchor="t"/>
          <a:lstStyle/>
          <a:p>
            <a:pPr indent="0" marL="0">
              <a:buNone/>
            </a:pPr>
            <a:r>
              <a:rPr lang="en-US" sz="2000" b="1" dirty="0">
                <a:solidFill>
                  <a:srgbClr val="0B0D0C"/>
                </a:solidFill>
                <a:latin typeface="Epilogue" pitchFamily="34" charset="0"/>
                <a:ea typeface="Epilogue" pitchFamily="34" charset="-122"/>
                <a:cs typeface="Epilogue" pitchFamily="34" charset="-120"/>
              </a:rPr>
              <a:t>Bod App</a:t>
            </a:r>
            <a:endParaRPr lang="en-US" sz="2000" dirty="0"/>
          </a:p>
        </p:txBody>
      </p:sp>
      <p:sp>
        <p:nvSpPr>
          <p:cNvPr id="4" name="Text 1"/>
          <p:cNvSpPr txBox="1"/>
          <p:nvPr/>
        </p:nvSpPr>
        <p:spPr>
          <a:xfrm>
            <a:off x="1261872" y="804672"/>
            <a:ext cx="2743200" cy="201168"/>
          </a:xfrm>
          <a:prstGeom prst="rect">
            <a:avLst/>
          </a:prstGeom>
          <a:noFill/>
          <a:ln/>
        </p:spPr>
        <p:txBody>
          <a:bodyPr wrap="square" lIns="0" tIns="0" rIns="0" bIns="0" rtlCol="0" anchor="t"/>
          <a:lstStyle/>
          <a:p>
            <a:pPr indent="0" marL="0">
              <a:buNone/>
            </a:pPr>
            <a:r>
              <a:rPr lang="en-US" sz="850" b="1" spc="200" kern="0" dirty="0">
                <a:solidFill>
                  <a:srgbClr val="2B3510"/>
                </a:solidFill>
                <a:latin typeface="Plus Jakarta Sans" pitchFamily="34" charset="0"/>
                <a:ea typeface="Plus Jakarta Sans" pitchFamily="34" charset="-122"/>
                <a:cs typeface="Plus Jakarta Sans" pitchFamily="34" charset="-120"/>
              </a:rPr>
              <a:t>A BOD STUDIO PRODUCT</a:t>
            </a:r>
            <a:endParaRPr lang="en-US" sz="850" dirty="0"/>
          </a:p>
        </p:txBody>
      </p:sp>
      <p:sp>
        <p:nvSpPr>
          <p:cNvPr id="5" name="Text 2"/>
          <p:cNvSpPr txBox="1"/>
          <p:nvPr/>
        </p:nvSpPr>
        <p:spPr>
          <a:xfrm>
            <a:off x="3291840" y="502920"/>
            <a:ext cx="3108960" cy="201168"/>
          </a:xfrm>
          <a:prstGeom prst="rect">
            <a:avLst/>
          </a:prstGeom>
          <a:noFill/>
          <a:ln/>
        </p:spPr>
        <p:txBody>
          <a:bodyPr wrap="square" lIns="0" tIns="0" rIns="0" bIns="0" rtlCol="0" anchor="t"/>
          <a:lstStyle/>
          <a:p>
            <a:pPr algn="r" indent="0" marL="0">
              <a:buNone/>
            </a:pPr>
            <a:r>
              <a:rPr lang="en-US" sz="900" b="1" spc="200" kern="0" dirty="0">
                <a:solidFill>
                  <a:srgbClr val="2B3510"/>
                </a:solidFill>
                <a:latin typeface="Plus Jakarta Sans" pitchFamily="34" charset="0"/>
                <a:ea typeface="Plus Jakarta Sans" pitchFamily="34" charset="-122"/>
                <a:cs typeface="Plus Jakarta Sans" pitchFamily="34" charset="-120"/>
              </a:rPr>
              <a:t>PRODUCT SALES DECK  ·  2026</a:t>
            </a:r>
            <a:endParaRPr lang="en-US" sz="900" dirty="0"/>
          </a:p>
        </p:txBody>
      </p:sp>
      <p:sp>
        <p:nvSpPr>
          <p:cNvPr id="6" name="Text 3"/>
          <p:cNvSpPr txBox="1"/>
          <p:nvPr/>
        </p:nvSpPr>
        <p:spPr>
          <a:xfrm>
            <a:off x="548640" y="1783080"/>
            <a:ext cx="6583680" cy="2103120"/>
          </a:xfrm>
          <a:prstGeom prst="rect">
            <a:avLst/>
          </a:prstGeom>
          <a:noFill/>
          <a:ln/>
        </p:spPr>
        <p:txBody>
          <a:bodyPr wrap="square" lIns="0" tIns="0" rIns="0" bIns="0" rtlCol="0" anchor="t"/>
          <a:lstStyle/>
          <a:p>
            <a:pPr indent="0" marL="0">
              <a:lnSpc>
                <a:spcPct val="95000"/>
              </a:lnSpc>
              <a:buNone/>
            </a:pPr>
            <a:r>
              <a:rPr lang="en-US" sz="6600" b="1" i="1" dirty="0">
                <a:solidFill>
                  <a:srgbClr val="0B0D0C"/>
                </a:solidFill>
                <a:latin typeface="Fraunces" pitchFamily="34" charset="0"/>
                <a:ea typeface="Fraunces" pitchFamily="34" charset="-122"/>
                <a:cs typeface="Fraunces" pitchFamily="34" charset="-120"/>
              </a:rPr>
              <a:t>Stop juggling.</a:t>
            </a:r>
            <a:endParaRPr lang="en-US" sz="6600" dirty="0"/>
          </a:p>
          <a:p>
            <a:pPr indent="0" marL="0">
              <a:lnSpc>
                <a:spcPct val="95000"/>
              </a:lnSpc>
              <a:buNone/>
            </a:pPr>
            <a:r>
              <a:rPr lang="en-US" sz="6600" b="1" i="1" dirty="0">
                <a:solidFill>
                  <a:srgbClr val="0B0D0C"/>
                </a:solidFill>
                <a:latin typeface="Fraunces" pitchFamily="34" charset="0"/>
                <a:ea typeface="Fraunces" pitchFamily="34" charset="-122"/>
                <a:cs typeface="Fraunces" pitchFamily="34" charset="-120"/>
              </a:rPr>
              <a:t>Start shipping.</a:t>
            </a:r>
            <a:endParaRPr lang="en-US" sz="6600" dirty="0"/>
          </a:p>
        </p:txBody>
      </p:sp>
      <p:sp>
        <p:nvSpPr>
          <p:cNvPr id="7" name="Text 4"/>
          <p:cNvSpPr txBox="1"/>
          <p:nvPr/>
        </p:nvSpPr>
        <p:spPr>
          <a:xfrm>
            <a:off x="548640" y="3977640"/>
            <a:ext cx="6400800" cy="411480"/>
          </a:xfrm>
          <a:prstGeom prst="rect">
            <a:avLst/>
          </a:prstGeom>
          <a:noFill/>
          <a:ln/>
        </p:spPr>
        <p:txBody>
          <a:bodyPr wrap="square" lIns="0" tIns="0" rIns="0" bIns="0" rtlCol="0" anchor="t"/>
          <a:lstStyle/>
          <a:p>
            <a:pPr indent="0" marL="0">
              <a:buNone/>
            </a:pPr>
            <a:r>
              <a:rPr lang="en-US" sz="2100" b="1" dirty="0">
                <a:solidFill>
                  <a:srgbClr val="0B0D0C"/>
                </a:solidFill>
                <a:latin typeface="Epilogue" pitchFamily="34" charset="0"/>
                <a:ea typeface="Epilogue" pitchFamily="34" charset="-122"/>
                <a:cs typeface="Epilogue" pitchFamily="34" charset="-120"/>
              </a:rPr>
              <a:t>Run your whole studio from one calm app.</a:t>
            </a:r>
            <a:endParaRPr lang="en-US" sz="2100" dirty="0"/>
          </a:p>
        </p:txBody>
      </p:sp>
      <p:sp>
        <p:nvSpPr>
          <p:cNvPr id="8" name="Text 5"/>
          <p:cNvSpPr txBox="1"/>
          <p:nvPr/>
        </p:nvSpPr>
        <p:spPr>
          <a:xfrm>
            <a:off x="548640" y="4526280"/>
            <a:ext cx="5669280" cy="685800"/>
          </a:xfrm>
          <a:prstGeom prst="rect">
            <a:avLst/>
          </a:prstGeom>
          <a:noFill/>
          <a:ln/>
        </p:spPr>
        <p:txBody>
          <a:bodyPr wrap="square" lIns="0" tIns="0" rIns="0" bIns="0" rtlCol="0" anchor="t"/>
          <a:lstStyle/>
          <a:p>
            <a:pPr indent="0" marL="0">
              <a:lnSpc>
                <a:spcPct val="120000"/>
              </a:lnSpc>
              <a:buNone/>
            </a:pPr>
            <a:r>
              <a:rPr lang="en-US" sz="1400" dirty="0">
                <a:solidFill>
                  <a:srgbClr val="25300C"/>
                </a:solidFill>
                <a:latin typeface="Manrope" pitchFamily="34" charset="0"/>
                <a:ea typeface="Manrope" pitchFamily="34" charset="-122"/>
                <a:cs typeface="Manrope" pitchFamily="34" charset="-120"/>
              </a:rPr>
              <a:t>Tasks, approvals, billing prompts, standups and AI capture — one app instead of five. Built for marketing agencies and creative studios.</a:t>
            </a:r>
            <a:endParaRPr lang="en-US" sz="1400" dirty="0"/>
          </a:p>
        </p:txBody>
      </p:sp>
      <p:sp>
        <p:nvSpPr>
          <p:cNvPr id="9" name="Shape 6"/>
          <p:cNvSpPr/>
          <p:nvPr/>
        </p:nvSpPr>
        <p:spPr>
          <a:xfrm>
            <a:off x="548640" y="5440680"/>
            <a:ext cx="1920240" cy="457200"/>
          </a:xfrm>
          <a:prstGeom prst="roundRect">
            <a:avLst>
              <a:gd name="adj" fmla="val 50000"/>
            </a:avLst>
          </a:prstGeom>
          <a:solidFill>
            <a:srgbClr val="0B0D0C"/>
          </a:solidFill>
          <a:ln/>
        </p:spPr>
      </p:sp>
      <p:sp>
        <p:nvSpPr>
          <p:cNvPr id="10" name="Text 7"/>
          <p:cNvSpPr txBox="1"/>
          <p:nvPr/>
        </p:nvSpPr>
        <p:spPr>
          <a:xfrm>
            <a:off x="548640" y="5440680"/>
            <a:ext cx="1920240" cy="457200"/>
          </a:xfrm>
          <a:prstGeom prst="rect">
            <a:avLst/>
          </a:prstGeom>
          <a:noFill/>
          <a:ln/>
        </p:spPr>
        <p:txBody>
          <a:bodyPr wrap="square" lIns="0" tIns="0" rIns="0" bIns="0" rtlCol="0" anchor="ctr"/>
          <a:lstStyle/>
          <a:p>
            <a:pPr algn="ctr" indent="0" marL="0">
              <a:buNone/>
            </a:pPr>
            <a:r>
              <a:rPr lang="en-US" sz="1000" b="1" spc="150" kern="0" dirty="0">
                <a:solidFill>
                  <a:srgbClr val="B8E62E"/>
                </a:solidFill>
                <a:latin typeface="Plus Jakarta Sans" pitchFamily="34" charset="0"/>
                <a:ea typeface="Plus Jakarta Sans" pitchFamily="34" charset="-122"/>
                <a:cs typeface="Plus Jakarta Sans" pitchFamily="34" charset="-120"/>
              </a:rPr>
              <a:t>START FREE TRIAL  →</a:t>
            </a:r>
            <a:endParaRPr lang="en-US" sz="1000" dirty="0"/>
          </a:p>
        </p:txBody>
      </p:sp>
      <p:sp>
        <p:nvSpPr>
          <p:cNvPr id="11" name="Shape 8"/>
          <p:cNvSpPr/>
          <p:nvPr/>
        </p:nvSpPr>
        <p:spPr>
          <a:xfrm>
            <a:off x="2606040" y="5440680"/>
            <a:ext cx="1920240" cy="457200"/>
          </a:xfrm>
          <a:prstGeom prst="roundRect">
            <a:avLst>
              <a:gd name="adj" fmla="val 50000"/>
            </a:avLst>
          </a:prstGeom>
          <a:solidFill>
            <a:srgbClr val="B8E62E"/>
          </a:solidFill>
          <a:ln w="9525">
            <a:solidFill>
              <a:srgbClr val="0B0D0C"/>
            </a:solidFill>
            <a:prstDash val="solid"/>
          </a:ln>
        </p:spPr>
      </p:sp>
      <p:sp>
        <p:nvSpPr>
          <p:cNvPr id="12" name="Text 9"/>
          <p:cNvSpPr txBox="1"/>
          <p:nvPr/>
        </p:nvSpPr>
        <p:spPr>
          <a:xfrm>
            <a:off x="2606040" y="5440680"/>
            <a:ext cx="1920240" cy="457200"/>
          </a:xfrm>
          <a:prstGeom prst="rect">
            <a:avLst/>
          </a:prstGeom>
          <a:noFill/>
          <a:ln/>
        </p:spPr>
        <p:txBody>
          <a:bodyPr wrap="square" lIns="0" tIns="0" rIns="0" bIns="0" rtlCol="0" anchor="ctr"/>
          <a:lstStyle/>
          <a:p>
            <a:pPr algn="ctr" indent="0" marL="0">
              <a:buNone/>
            </a:pPr>
            <a:r>
              <a:rPr lang="en-US" sz="1000" b="1" spc="150" kern="0" dirty="0">
                <a:solidFill>
                  <a:srgbClr val="0B0D0C"/>
                </a:solidFill>
                <a:latin typeface="Plus Jakarta Sans" pitchFamily="34" charset="0"/>
                <a:ea typeface="Plus Jakarta Sans" pitchFamily="34" charset="-122"/>
                <a:cs typeface="Plus Jakarta Sans" pitchFamily="34" charset="-120"/>
              </a:rPr>
              <a:t>BOOK A DEMO</a:t>
            </a:r>
            <a:endParaRPr lang="en-US" sz="1000" dirty="0"/>
          </a:p>
        </p:txBody>
      </p:sp>
      <p:sp>
        <p:nvSpPr>
          <p:cNvPr id="13" name="Text 10"/>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b="1" dirty="0">
                <a:solidFill>
                  <a:srgbClr val="2B3510"/>
                </a:solidFill>
                <a:latin typeface="Plus Jakarta Sans" pitchFamily="34" charset="0"/>
                <a:ea typeface="Plus Jakarta Sans" pitchFamily="34" charset="-122"/>
                <a:cs typeface="Plus Jakarta Sans" pitchFamily="34" charset="-120"/>
              </a:rPr>
              <a:t>Kochi, Kerala  ·  info@storibodcreatives.com  ·  +91 7356 333 975  ·  mybodstudio.com</a:t>
            </a:r>
            <a:endParaRPr lang="en-US" sz="900" dirty="0"/>
          </a:p>
        </p:txBody>
      </p:sp>
      <p:pic>
        <p:nvPicPr>
          <p:cNvPr id="14" name="Image 1" descr="/tmp/claude-0/-home-user-Claude-Works/c609e3f7-e17f-5f43-8424-4df30cb9a6a9/scratchpad/build/img/fig_home_crop.png">    </p:cNvPr>
          <p:cNvPicPr>
            <a:picLocks noChangeAspect="1"/>
          </p:cNvPicPr>
          <p:nvPr/>
        </p:nvPicPr>
        <p:blipFill>
          <a:blip r:embed="rId2"/>
          <a:stretch>
            <a:fillRect/>
          </a:stretch>
        </p:blipFill>
        <p:spPr>
          <a:xfrm>
            <a:off x="8092440" y="274320"/>
            <a:ext cx="3091586" cy="6309360"/>
          </a:xfrm>
          <a:prstGeom prst="rect">
            <a:avLst/>
          </a:prstGeom>
        </p:spPr>
      </p:pic>
      <p:sp>
        <p:nvSpPr>
          <p:cNvPr id="15" name="Shape 11"/>
          <p:cNvSpPr/>
          <p:nvPr/>
        </p:nvSpPr>
        <p:spPr>
          <a:xfrm>
            <a:off x="6720840" y="1417320"/>
            <a:ext cx="2148840" cy="420624"/>
          </a:xfrm>
          <a:prstGeom prst="roundRect">
            <a:avLst>
              <a:gd name="adj" fmla="val 50000"/>
            </a:avLst>
          </a:prstGeom>
          <a:solidFill>
            <a:srgbClr val="0B0D0C"/>
          </a:solidFill>
          <a:ln/>
          <a:effectLst>
            <a:outerShdw sx="100000" sy="100000" kx="0" ky="0" algn="bl" rotWithShape="0" blurRad="101600" dist="38100" dir="5400000">
              <a:srgbClr val="000000">
                <a:alpha val="30000"/>
              </a:srgbClr>
            </a:outerShdw>
          </a:effectLst>
        </p:spPr>
      </p:sp>
      <p:sp>
        <p:nvSpPr>
          <p:cNvPr id="16" name="Shape 12"/>
          <p:cNvSpPr/>
          <p:nvPr/>
        </p:nvSpPr>
        <p:spPr>
          <a:xfrm>
            <a:off x="6885432" y="1572768"/>
            <a:ext cx="109728" cy="109728"/>
          </a:xfrm>
          <a:prstGeom prst="ellipse">
            <a:avLst/>
          </a:prstGeom>
          <a:solidFill>
            <a:srgbClr val="FF5C7A"/>
          </a:solidFill>
          <a:ln/>
        </p:spPr>
      </p:sp>
      <p:sp>
        <p:nvSpPr>
          <p:cNvPr id="17" name="Text 13"/>
          <p:cNvSpPr txBox="1"/>
          <p:nvPr/>
        </p:nvSpPr>
        <p:spPr>
          <a:xfrm>
            <a:off x="7068312" y="1417320"/>
            <a:ext cx="1737360" cy="420624"/>
          </a:xfrm>
          <a:prstGeom prst="rect">
            <a:avLst/>
          </a:prstGeom>
          <a:noFill/>
          <a:ln/>
        </p:spPr>
        <p:txBody>
          <a:bodyPr wrap="square" lIns="0" tIns="0" rIns="0" bIns="0" rtlCol="0" anchor="ctr"/>
          <a:lstStyle/>
          <a:p>
            <a:pPr indent="0" marL="0">
              <a:buNone/>
            </a:pPr>
            <a:r>
              <a:rPr lang="en-US" sz="1100" b="1" dirty="0">
                <a:solidFill>
                  <a:srgbClr val="F4F6F5"/>
                </a:solidFill>
                <a:latin typeface="Manrope" pitchFamily="34" charset="0"/>
                <a:ea typeface="Manrope" pitchFamily="34" charset="-122"/>
                <a:cs typeface="Manrope" pitchFamily="34" charset="-120"/>
              </a:rPr>
              <a:t>On fire · due today</a:t>
            </a:r>
            <a:endParaRPr lang="en-US" sz="1100" dirty="0"/>
          </a:p>
        </p:txBody>
      </p:sp>
      <p:sp>
        <p:nvSpPr>
          <p:cNvPr id="18" name="Shape 14"/>
          <p:cNvSpPr/>
          <p:nvPr/>
        </p:nvSpPr>
        <p:spPr>
          <a:xfrm>
            <a:off x="9601200" y="4160520"/>
            <a:ext cx="2286000" cy="420624"/>
          </a:xfrm>
          <a:prstGeom prst="roundRect">
            <a:avLst>
              <a:gd name="adj" fmla="val 50000"/>
            </a:avLst>
          </a:prstGeom>
          <a:solidFill>
            <a:srgbClr val="0B0D0C"/>
          </a:solidFill>
          <a:ln/>
          <a:effectLst>
            <a:outerShdw sx="100000" sy="100000" kx="0" ky="0" algn="bl" rotWithShape="0" blurRad="101600" dist="38100" dir="5400000">
              <a:srgbClr val="000000">
                <a:alpha val="30000"/>
              </a:srgbClr>
            </a:outerShdw>
          </a:effectLst>
        </p:spPr>
      </p:sp>
      <p:sp>
        <p:nvSpPr>
          <p:cNvPr id="19" name="Shape 15"/>
          <p:cNvSpPr/>
          <p:nvPr/>
        </p:nvSpPr>
        <p:spPr>
          <a:xfrm>
            <a:off x="9765792" y="4315968"/>
            <a:ext cx="109728" cy="109728"/>
          </a:xfrm>
          <a:prstGeom prst="ellipse">
            <a:avLst/>
          </a:prstGeom>
          <a:solidFill>
            <a:srgbClr val="B8E62E"/>
          </a:solidFill>
          <a:ln/>
        </p:spPr>
      </p:sp>
      <p:sp>
        <p:nvSpPr>
          <p:cNvPr id="20" name="Text 16"/>
          <p:cNvSpPr txBox="1"/>
          <p:nvPr/>
        </p:nvSpPr>
        <p:spPr>
          <a:xfrm>
            <a:off x="9948672" y="4160520"/>
            <a:ext cx="1874520" cy="420624"/>
          </a:xfrm>
          <a:prstGeom prst="rect">
            <a:avLst/>
          </a:prstGeom>
          <a:noFill/>
          <a:ln/>
        </p:spPr>
        <p:txBody>
          <a:bodyPr wrap="square" lIns="0" tIns="0" rIns="0" bIns="0" rtlCol="0" anchor="ctr"/>
          <a:lstStyle/>
          <a:p>
            <a:pPr indent="0" marL="0">
              <a:buNone/>
            </a:pPr>
            <a:r>
              <a:rPr lang="en-US" sz="1100" b="1" dirty="0">
                <a:solidFill>
                  <a:srgbClr val="F4F6F5"/>
                </a:solidFill>
                <a:latin typeface="Manrope" pitchFamily="34" charset="0"/>
                <a:ea typeface="Manrope" pitchFamily="34" charset="-122"/>
                <a:cs typeface="Manrope" pitchFamily="34" charset="-120"/>
              </a:rPr>
              <a:t>57% shipped this week</a:t>
            </a:r>
            <a:endParaRPr lang="en-US" sz="1100" dirty="0"/>
          </a:p>
        </p:txBody>
      </p:sp>
      <p:sp>
        <p:nvSpPr>
          <p:cNvPr id="21" name="Shape 17"/>
          <p:cNvSpPr/>
          <p:nvPr/>
        </p:nvSpPr>
        <p:spPr>
          <a:xfrm>
            <a:off x="6903720" y="4892040"/>
            <a:ext cx="2011680" cy="420624"/>
          </a:xfrm>
          <a:prstGeom prst="roundRect">
            <a:avLst>
              <a:gd name="adj" fmla="val 50000"/>
            </a:avLst>
          </a:prstGeom>
          <a:solidFill>
            <a:srgbClr val="0B0D0C"/>
          </a:solidFill>
          <a:ln/>
          <a:effectLst>
            <a:outerShdw sx="100000" sy="100000" kx="0" ky="0" algn="bl" rotWithShape="0" blurRad="101600" dist="38100" dir="5400000">
              <a:srgbClr val="000000">
                <a:alpha val="30000"/>
              </a:srgbClr>
            </a:outerShdw>
          </a:effectLst>
        </p:spPr>
      </p:sp>
      <p:sp>
        <p:nvSpPr>
          <p:cNvPr id="22" name="Shape 18"/>
          <p:cNvSpPr/>
          <p:nvPr/>
        </p:nvSpPr>
        <p:spPr>
          <a:xfrm>
            <a:off x="7068312" y="5047488"/>
            <a:ext cx="109728" cy="109728"/>
          </a:xfrm>
          <a:prstGeom prst="ellipse">
            <a:avLst/>
          </a:prstGeom>
          <a:solidFill>
            <a:srgbClr val="4ADE80"/>
          </a:solidFill>
          <a:ln/>
        </p:spPr>
      </p:sp>
      <p:sp>
        <p:nvSpPr>
          <p:cNvPr id="23" name="Text 19"/>
          <p:cNvSpPr txBox="1"/>
          <p:nvPr/>
        </p:nvSpPr>
        <p:spPr>
          <a:xfrm>
            <a:off x="7251192" y="4892040"/>
            <a:ext cx="1600200" cy="420624"/>
          </a:xfrm>
          <a:prstGeom prst="rect">
            <a:avLst/>
          </a:prstGeom>
          <a:noFill/>
          <a:ln/>
        </p:spPr>
        <p:txBody>
          <a:bodyPr wrap="square" lIns="0" tIns="0" rIns="0" bIns="0" rtlCol="0" anchor="ctr"/>
          <a:lstStyle/>
          <a:p>
            <a:pPr indent="0" marL="0">
              <a:buNone/>
            </a:pPr>
            <a:r>
              <a:rPr lang="en-US" sz="1100" b="1" dirty="0">
                <a:solidFill>
                  <a:srgbClr val="F4F6F5"/>
                </a:solidFill>
                <a:latin typeface="Manrope" pitchFamily="34" charset="0"/>
                <a:ea typeface="Manrope" pitchFamily="34" charset="-122"/>
                <a:cs typeface="Manrope" pitchFamily="34" charset="-120"/>
              </a:rPr>
              <a:t>6 PM standup ready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01  ·  THE PROBLEM</a:t>
            </a:r>
            <a:endParaRPr lang="en-US" sz="1000" dirty="0"/>
          </a:p>
        </p:txBody>
      </p:sp>
      <p:sp>
        <p:nvSpPr>
          <p:cNvPr id="3" name="Text 1"/>
          <p:cNvSpPr txBox="1"/>
          <p:nvPr/>
        </p:nvSpPr>
        <p:spPr>
          <a:xfrm>
            <a:off x="7985455" y="457200"/>
            <a:ext cx="3657600" cy="228600"/>
          </a:xfrm>
          <a:prstGeom prst="rect">
            <a:avLst/>
          </a:prstGeom>
          <a:noFill/>
          <a:ln/>
        </p:spPr>
        <p:txBody>
          <a:bodyPr wrap="square" lIns="0" tIns="0" rIns="0" bIns="0" rtlCol="0" anchor="t"/>
          <a:lstStyle/>
          <a:p>
            <a:pPr algn="r" indent="0" marL="0">
              <a:buNone/>
            </a:pPr>
            <a:r>
              <a:rPr lang="en-US" sz="900" b="1" spc="200" kern="0" dirty="0">
                <a:solidFill>
                  <a:srgbClr val="6B7773"/>
                </a:solidFill>
                <a:latin typeface="Plus Jakarta Sans" pitchFamily="34" charset="0"/>
                <a:ea typeface="Plus Jakarta Sans" pitchFamily="34" charset="-122"/>
                <a:cs typeface="Plus Jakarta Sans" pitchFamily="34" charset="-120"/>
              </a:rPr>
              <a:t>BOD APP  /  SALES DECK</a:t>
            </a:r>
            <a:endParaRPr lang="en-US" sz="9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indent="0" marL="0">
              <a:buNone/>
            </a:pPr>
            <a:r>
              <a:rPr lang="en-US" sz="3400" b="1" dirty="0">
                <a:solidFill>
                  <a:srgbClr val="F4F6F5"/>
                </a:solidFill>
                <a:latin typeface="Epilogue" pitchFamily="34" charset="0"/>
                <a:ea typeface="Epilogue" pitchFamily="34" charset="-122"/>
                <a:cs typeface="Epilogue" pitchFamily="34" charset="-120"/>
              </a:rPr>
              <a:t>Your team isn't disorganised. Your tools are.</a:t>
            </a:r>
            <a:endParaRPr lang="en-US" sz="3400" dirty="0"/>
          </a:p>
        </p:txBody>
      </p:sp>
      <p:sp>
        <p:nvSpPr>
          <p:cNvPr id="5" name="Text 3"/>
          <p:cNvSpPr txBox="1"/>
          <p:nvPr/>
        </p:nvSpPr>
        <p:spPr>
          <a:xfrm>
            <a:off x="548640" y="1536192"/>
            <a:ext cx="11094415" cy="548640"/>
          </a:xfrm>
          <a:prstGeom prst="rect">
            <a:avLst/>
          </a:prstGeom>
          <a:noFill/>
          <a:ln/>
        </p:spPr>
        <p:txBody>
          <a:bodyPr wrap="square" lIns="0" tIns="0" rIns="0" bIns="0" rtlCol="0" anchor="t"/>
          <a:lstStyle/>
          <a:p>
            <a:pPr indent="0" marL="0">
              <a:lnSpc>
                <a:spcPct val="115000"/>
              </a:lnSpc>
              <a:buNone/>
            </a:pPr>
            <a:r>
              <a:rPr lang="en-US" sz="1500" dirty="0">
                <a:solidFill>
                  <a:srgbClr val="9AA7A2"/>
                </a:solidFill>
                <a:latin typeface="Manrope" pitchFamily="34" charset="0"/>
                <a:ea typeface="Manrope" pitchFamily="34" charset="-122"/>
                <a:cs typeface="Manrope" pitchFamily="34" charset="-120"/>
              </a:rPr>
              <a:t>A busy studio's work lives in five places at once — so none of it can be tracked honestly.</a:t>
            </a:r>
            <a:endParaRPr lang="en-US" sz="1500" dirty="0"/>
          </a:p>
        </p:txBody>
      </p:sp>
      <p:sp>
        <p:nvSpPr>
          <p:cNvPr id="6" name="Text 4"/>
          <p:cNvSpPr txBox="1"/>
          <p:nvPr/>
        </p:nvSpPr>
        <p:spPr>
          <a:xfrm>
            <a:off x="548640" y="2240280"/>
            <a:ext cx="4572000" cy="201168"/>
          </a:xfrm>
          <a:prstGeom prst="rect">
            <a:avLst/>
          </a:prstGeom>
          <a:noFill/>
          <a:ln/>
        </p:spPr>
        <p:txBody>
          <a:bodyPr wrap="square" lIns="0" tIns="0" rIns="0" bIns="0" rtlCol="0" anchor="t"/>
          <a:lstStyle/>
          <a:p>
            <a:pPr indent="0" marL="0">
              <a:buNone/>
            </a:pPr>
            <a:r>
              <a:rPr lang="en-US" sz="900" b="1" spc="200" kern="0" dirty="0">
                <a:solidFill>
                  <a:srgbClr val="6B7773"/>
                </a:solidFill>
                <a:latin typeface="Plus Jakarta Sans" pitchFamily="34" charset="0"/>
                <a:ea typeface="Plus Jakarta Sans" pitchFamily="34" charset="-122"/>
                <a:cs typeface="Plus Jakarta Sans" pitchFamily="34" charset="-120"/>
              </a:rPr>
              <a:t>WHERE THE WORK LIVES TODAY</a:t>
            </a:r>
            <a:endParaRPr lang="en-US" sz="900" dirty="0"/>
          </a:p>
        </p:txBody>
      </p:sp>
      <p:sp>
        <p:nvSpPr>
          <p:cNvPr id="7" name="Shape 5"/>
          <p:cNvSpPr/>
          <p:nvPr/>
        </p:nvSpPr>
        <p:spPr>
          <a:xfrm>
            <a:off x="548640" y="2560320"/>
            <a:ext cx="5212080" cy="566928"/>
          </a:xfrm>
          <a:prstGeom prst="roundRect">
            <a:avLst>
              <a:gd name="adj" fmla="val 19355"/>
            </a:avLst>
          </a:prstGeom>
          <a:solidFill>
            <a:srgbClr val="15191A"/>
          </a:solidFill>
          <a:ln w="9525">
            <a:solidFill>
              <a:srgbClr val="262C2E"/>
            </a:solidFill>
            <a:prstDash val="solid"/>
          </a:ln>
        </p:spPr>
      </p:sp>
      <p:sp>
        <p:nvSpPr>
          <p:cNvPr id="8" name="Shape 6"/>
          <p:cNvSpPr/>
          <p:nvPr/>
        </p:nvSpPr>
        <p:spPr>
          <a:xfrm>
            <a:off x="640080" y="2651760"/>
            <a:ext cx="384048" cy="384048"/>
          </a:xfrm>
          <a:prstGeom prst="roundRect">
            <a:avLst>
              <a:gd name="adj" fmla="val 28000"/>
            </a:avLst>
          </a:prstGeom>
          <a:solidFill>
            <a:srgbClr val="1C2123"/>
          </a:solidFill>
          <a:ln/>
        </p:spPr>
      </p:sp>
      <p:pic>
        <p:nvPicPr>
          <p:cNvPr id="9" name="Image 0" descr="preencoded.png">    </p:cNvPr>
          <p:cNvPicPr>
            <a:picLocks noChangeAspect="1"/>
          </p:cNvPicPr>
          <p:nvPr/>
        </p:nvPicPr>
        <p:blipFill>
          <a:blip r:embed="rId1"/>
          <a:stretch>
            <a:fillRect/>
          </a:stretch>
        </p:blipFill>
        <p:spPr>
          <a:xfrm>
            <a:off x="732252" y="2743932"/>
            <a:ext cx="199705" cy="199705"/>
          </a:xfrm>
          <a:prstGeom prst="rect">
            <a:avLst/>
          </a:prstGeom>
        </p:spPr>
      </p:pic>
      <p:sp>
        <p:nvSpPr>
          <p:cNvPr id="10" name="Text 7"/>
          <p:cNvSpPr txBox="1"/>
          <p:nvPr/>
        </p:nvSpPr>
        <p:spPr>
          <a:xfrm>
            <a:off x="1170432" y="2560320"/>
            <a:ext cx="1463040" cy="566928"/>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WhatsApp</a:t>
            </a:r>
            <a:endParaRPr lang="en-US" sz="1400" dirty="0"/>
          </a:p>
        </p:txBody>
      </p:sp>
      <p:sp>
        <p:nvSpPr>
          <p:cNvPr id="11" name="Text 8"/>
          <p:cNvSpPr txBox="1"/>
          <p:nvPr/>
        </p:nvSpPr>
        <p:spPr>
          <a:xfrm>
            <a:off x="2651760" y="2560320"/>
            <a:ext cx="3017520" cy="566928"/>
          </a:xfrm>
          <a:prstGeom prst="rect">
            <a:avLst/>
          </a:prstGeom>
          <a:noFill/>
          <a:ln/>
        </p:spPr>
        <p:txBody>
          <a:bodyPr wrap="square" lIns="0" tIns="0" rIns="0" bIns="0" rtlCol="0" anchor="ctr"/>
          <a:lstStyle/>
          <a:p>
            <a:pPr indent="0" marL="0">
              <a:buNone/>
            </a:pPr>
            <a:r>
              <a:rPr lang="en-US" sz="1250" dirty="0">
                <a:solidFill>
                  <a:srgbClr val="9AA7A2"/>
                </a:solidFill>
                <a:latin typeface="Manrope" pitchFamily="34" charset="0"/>
                <a:ea typeface="Manrope" pitchFamily="34" charset="-122"/>
                <a:cs typeface="Manrope" pitchFamily="34" charset="-120"/>
              </a:rPr>
              <a:t>Briefs, approvals and follow-ups</a:t>
            </a:r>
            <a:endParaRPr lang="en-US" sz="1250" dirty="0"/>
          </a:p>
        </p:txBody>
      </p:sp>
      <p:sp>
        <p:nvSpPr>
          <p:cNvPr id="12" name="Shape 9"/>
          <p:cNvSpPr/>
          <p:nvPr/>
        </p:nvSpPr>
        <p:spPr>
          <a:xfrm>
            <a:off x="548640" y="3236976"/>
            <a:ext cx="5212080" cy="566928"/>
          </a:xfrm>
          <a:prstGeom prst="roundRect">
            <a:avLst>
              <a:gd name="adj" fmla="val 19355"/>
            </a:avLst>
          </a:prstGeom>
          <a:solidFill>
            <a:srgbClr val="15191A"/>
          </a:solidFill>
          <a:ln w="9525">
            <a:solidFill>
              <a:srgbClr val="262C2E"/>
            </a:solidFill>
            <a:prstDash val="solid"/>
          </a:ln>
        </p:spPr>
      </p:sp>
      <p:sp>
        <p:nvSpPr>
          <p:cNvPr id="13" name="Shape 10"/>
          <p:cNvSpPr/>
          <p:nvPr/>
        </p:nvSpPr>
        <p:spPr>
          <a:xfrm>
            <a:off x="640080" y="3328416"/>
            <a:ext cx="384048" cy="384048"/>
          </a:xfrm>
          <a:prstGeom prst="roundRect">
            <a:avLst>
              <a:gd name="adj" fmla="val 28000"/>
            </a:avLst>
          </a:prstGeom>
          <a:solidFill>
            <a:srgbClr val="1C2123"/>
          </a:solidFill>
          <a:ln/>
        </p:spPr>
      </p:sp>
      <p:pic>
        <p:nvPicPr>
          <p:cNvPr id="14" name="Image 1" descr="preencoded.png">    </p:cNvPr>
          <p:cNvPicPr>
            <a:picLocks noChangeAspect="1"/>
          </p:cNvPicPr>
          <p:nvPr/>
        </p:nvPicPr>
        <p:blipFill>
          <a:blip r:embed="rId2"/>
          <a:stretch>
            <a:fillRect/>
          </a:stretch>
        </p:blipFill>
        <p:spPr>
          <a:xfrm>
            <a:off x="732252" y="3420588"/>
            <a:ext cx="199705" cy="199705"/>
          </a:xfrm>
          <a:prstGeom prst="rect">
            <a:avLst/>
          </a:prstGeom>
        </p:spPr>
      </p:pic>
      <p:sp>
        <p:nvSpPr>
          <p:cNvPr id="15" name="Text 11"/>
          <p:cNvSpPr txBox="1"/>
          <p:nvPr/>
        </p:nvSpPr>
        <p:spPr>
          <a:xfrm>
            <a:off x="1170432" y="3236976"/>
            <a:ext cx="1463040" cy="566928"/>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Spreadsheets</a:t>
            </a:r>
            <a:endParaRPr lang="en-US" sz="1400" dirty="0"/>
          </a:p>
        </p:txBody>
      </p:sp>
      <p:sp>
        <p:nvSpPr>
          <p:cNvPr id="16" name="Text 12"/>
          <p:cNvSpPr txBox="1"/>
          <p:nvPr/>
        </p:nvSpPr>
        <p:spPr>
          <a:xfrm>
            <a:off x="2651760" y="3236976"/>
            <a:ext cx="3017520" cy="566928"/>
          </a:xfrm>
          <a:prstGeom prst="rect">
            <a:avLst/>
          </a:prstGeom>
          <a:noFill/>
          <a:ln/>
        </p:spPr>
        <p:txBody>
          <a:bodyPr wrap="square" lIns="0" tIns="0" rIns="0" bIns="0" rtlCol="0" anchor="ctr"/>
          <a:lstStyle/>
          <a:p>
            <a:pPr indent="0" marL="0">
              <a:buNone/>
            </a:pPr>
            <a:r>
              <a:rPr lang="en-US" sz="1250" dirty="0">
                <a:solidFill>
                  <a:srgbClr val="9AA7A2"/>
                </a:solidFill>
                <a:latin typeface="Manrope" pitchFamily="34" charset="0"/>
                <a:ea typeface="Manrope" pitchFamily="34" charset="-122"/>
                <a:cs typeface="Manrope" pitchFamily="34" charset="-120"/>
              </a:rPr>
              <a:t>The task list nobody updates</a:t>
            </a:r>
            <a:endParaRPr lang="en-US" sz="1250" dirty="0"/>
          </a:p>
        </p:txBody>
      </p:sp>
      <p:sp>
        <p:nvSpPr>
          <p:cNvPr id="17" name="Shape 13"/>
          <p:cNvSpPr/>
          <p:nvPr/>
        </p:nvSpPr>
        <p:spPr>
          <a:xfrm>
            <a:off x="548640" y="3913632"/>
            <a:ext cx="5212080" cy="566928"/>
          </a:xfrm>
          <a:prstGeom prst="roundRect">
            <a:avLst>
              <a:gd name="adj" fmla="val 19355"/>
            </a:avLst>
          </a:prstGeom>
          <a:solidFill>
            <a:srgbClr val="15191A"/>
          </a:solidFill>
          <a:ln w="9525">
            <a:solidFill>
              <a:srgbClr val="262C2E"/>
            </a:solidFill>
            <a:prstDash val="solid"/>
          </a:ln>
        </p:spPr>
      </p:sp>
      <p:sp>
        <p:nvSpPr>
          <p:cNvPr id="18" name="Shape 14"/>
          <p:cNvSpPr/>
          <p:nvPr/>
        </p:nvSpPr>
        <p:spPr>
          <a:xfrm>
            <a:off x="640080" y="4005072"/>
            <a:ext cx="384048" cy="384048"/>
          </a:xfrm>
          <a:prstGeom prst="roundRect">
            <a:avLst>
              <a:gd name="adj" fmla="val 28000"/>
            </a:avLst>
          </a:prstGeom>
          <a:solidFill>
            <a:srgbClr val="1C2123"/>
          </a:solidFill>
          <a:ln/>
        </p:spPr>
      </p:sp>
      <p:pic>
        <p:nvPicPr>
          <p:cNvPr id="19" name="Image 2" descr="preencoded.png">    </p:cNvPr>
          <p:cNvPicPr>
            <a:picLocks noChangeAspect="1"/>
          </p:cNvPicPr>
          <p:nvPr/>
        </p:nvPicPr>
        <p:blipFill>
          <a:blip r:embed="rId3"/>
          <a:stretch>
            <a:fillRect/>
          </a:stretch>
        </p:blipFill>
        <p:spPr>
          <a:xfrm>
            <a:off x="732252" y="4097244"/>
            <a:ext cx="199705" cy="199705"/>
          </a:xfrm>
          <a:prstGeom prst="rect">
            <a:avLst/>
          </a:prstGeom>
        </p:spPr>
      </p:pic>
      <p:sp>
        <p:nvSpPr>
          <p:cNvPr id="20" name="Text 15"/>
          <p:cNvSpPr txBox="1"/>
          <p:nvPr/>
        </p:nvSpPr>
        <p:spPr>
          <a:xfrm>
            <a:off x="1170432" y="3913632"/>
            <a:ext cx="1463040" cy="566928"/>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Email</a:t>
            </a:r>
            <a:endParaRPr lang="en-US" sz="1400" dirty="0"/>
          </a:p>
        </p:txBody>
      </p:sp>
      <p:sp>
        <p:nvSpPr>
          <p:cNvPr id="21" name="Text 16"/>
          <p:cNvSpPr txBox="1"/>
          <p:nvPr/>
        </p:nvSpPr>
        <p:spPr>
          <a:xfrm>
            <a:off x="2651760" y="3913632"/>
            <a:ext cx="3017520" cy="566928"/>
          </a:xfrm>
          <a:prstGeom prst="rect">
            <a:avLst/>
          </a:prstGeom>
          <a:noFill/>
          <a:ln/>
        </p:spPr>
        <p:txBody>
          <a:bodyPr wrap="square" lIns="0" tIns="0" rIns="0" bIns="0" rtlCol="0" anchor="ctr"/>
          <a:lstStyle/>
          <a:p>
            <a:pPr indent="0" marL="0">
              <a:buNone/>
            </a:pPr>
            <a:r>
              <a:rPr lang="en-US" sz="1250" dirty="0">
                <a:solidFill>
                  <a:srgbClr val="9AA7A2"/>
                </a:solidFill>
                <a:latin typeface="Manrope" pitchFamily="34" charset="0"/>
                <a:ea typeface="Manrope" pitchFamily="34" charset="-122"/>
                <a:cs typeface="Manrope" pitchFamily="34" charset="-120"/>
              </a:rPr>
              <a:t>Files, feedback and revisions</a:t>
            </a:r>
            <a:endParaRPr lang="en-US" sz="1250" dirty="0"/>
          </a:p>
        </p:txBody>
      </p:sp>
      <p:sp>
        <p:nvSpPr>
          <p:cNvPr id="22" name="Shape 17"/>
          <p:cNvSpPr/>
          <p:nvPr/>
        </p:nvSpPr>
        <p:spPr>
          <a:xfrm>
            <a:off x="548640" y="4590288"/>
            <a:ext cx="5212080" cy="566928"/>
          </a:xfrm>
          <a:prstGeom prst="roundRect">
            <a:avLst>
              <a:gd name="adj" fmla="val 19355"/>
            </a:avLst>
          </a:prstGeom>
          <a:solidFill>
            <a:srgbClr val="15191A"/>
          </a:solidFill>
          <a:ln w="9525">
            <a:solidFill>
              <a:srgbClr val="262C2E"/>
            </a:solidFill>
            <a:prstDash val="solid"/>
          </a:ln>
        </p:spPr>
      </p:sp>
      <p:sp>
        <p:nvSpPr>
          <p:cNvPr id="23" name="Shape 18"/>
          <p:cNvSpPr/>
          <p:nvPr/>
        </p:nvSpPr>
        <p:spPr>
          <a:xfrm>
            <a:off x="640080" y="4681728"/>
            <a:ext cx="384048" cy="384048"/>
          </a:xfrm>
          <a:prstGeom prst="roundRect">
            <a:avLst>
              <a:gd name="adj" fmla="val 28000"/>
            </a:avLst>
          </a:prstGeom>
          <a:solidFill>
            <a:srgbClr val="1C2123"/>
          </a:solidFill>
          <a:ln/>
        </p:spPr>
      </p:sp>
      <p:pic>
        <p:nvPicPr>
          <p:cNvPr id="24" name="Image 3" descr="preencoded.png">    </p:cNvPr>
          <p:cNvPicPr>
            <a:picLocks noChangeAspect="1"/>
          </p:cNvPicPr>
          <p:nvPr/>
        </p:nvPicPr>
        <p:blipFill>
          <a:blip r:embed="rId4"/>
          <a:stretch>
            <a:fillRect/>
          </a:stretch>
        </p:blipFill>
        <p:spPr>
          <a:xfrm>
            <a:off x="732252" y="4773900"/>
            <a:ext cx="199705" cy="199705"/>
          </a:xfrm>
          <a:prstGeom prst="rect">
            <a:avLst/>
          </a:prstGeom>
        </p:spPr>
      </p:pic>
      <p:sp>
        <p:nvSpPr>
          <p:cNvPr id="25" name="Text 19"/>
          <p:cNvSpPr txBox="1"/>
          <p:nvPr/>
        </p:nvSpPr>
        <p:spPr>
          <a:xfrm>
            <a:off x="1170432" y="4590288"/>
            <a:ext cx="1463040" cy="566928"/>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Memory</a:t>
            </a:r>
            <a:endParaRPr lang="en-US" sz="1400" dirty="0"/>
          </a:p>
        </p:txBody>
      </p:sp>
      <p:sp>
        <p:nvSpPr>
          <p:cNvPr id="26" name="Text 20"/>
          <p:cNvSpPr txBox="1"/>
          <p:nvPr/>
        </p:nvSpPr>
        <p:spPr>
          <a:xfrm>
            <a:off x="2651760" y="4590288"/>
            <a:ext cx="3017520" cy="566928"/>
          </a:xfrm>
          <a:prstGeom prst="rect">
            <a:avLst/>
          </a:prstGeom>
          <a:noFill/>
          <a:ln/>
        </p:spPr>
        <p:txBody>
          <a:bodyPr wrap="square" lIns="0" tIns="0" rIns="0" bIns="0" rtlCol="0" anchor="ctr"/>
          <a:lstStyle/>
          <a:p>
            <a:pPr indent="0" marL="0">
              <a:buNone/>
            </a:pPr>
            <a:r>
              <a:rPr lang="en-US" sz="1250" dirty="0">
                <a:solidFill>
                  <a:srgbClr val="9AA7A2"/>
                </a:solidFill>
                <a:latin typeface="Manrope" pitchFamily="34" charset="0"/>
                <a:ea typeface="Manrope" pitchFamily="34" charset="-122"/>
                <a:cs typeface="Manrope" pitchFamily="34" charset="-120"/>
              </a:rPr>
              <a:t>What's done and ready to bill</a:t>
            </a:r>
            <a:endParaRPr lang="en-US" sz="1250" dirty="0"/>
          </a:p>
        </p:txBody>
      </p:sp>
      <p:sp>
        <p:nvSpPr>
          <p:cNvPr id="27" name="Shape 21"/>
          <p:cNvSpPr/>
          <p:nvPr/>
        </p:nvSpPr>
        <p:spPr>
          <a:xfrm>
            <a:off x="548640" y="5266944"/>
            <a:ext cx="5212080" cy="566928"/>
          </a:xfrm>
          <a:prstGeom prst="roundRect">
            <a:avLst>
              <a:gd name="adj" fmla="val 19355"/>
            </a:avLst>
          </a:prstGeom>
          <a:solidFill>
            <a:srgbClr val="15191A"/>
          </a:solidFill>
          <a:ln w="9525">
            <a:solidFill>
              <a:srgbClr val="262C2E"/>
            </a:solidFill>
            <a:prstDash val="solid"/>
          </a:ln>
        </p:spPr>
      </p:sp>
      <p:sp>
        <p:nvSpPr>
          <p:cNvPr id="28" name="Shape 22"/>
          <p:cNvSpPr/>
          <p:nvPr/>
        </p:nvSpPr>
        <p:spPr>
          <a:xfrm>
            <a:off x="640080" y="5358384"/>
            <a:ext cx="384048" cy="384048"/>
          </a:xfrm>
          <a:prstGeom prst="roundRect">
            <a:avLst>
              <a:gd name="adj" fmla="val 28000"/>
            </a:avLst>
          </a:prstGeom>
          <a:solidFill>
            <a:srgbClr val="1C2123"/>
          </a:solidFill>
          <a:ln/>
        </p:spPr>
      </p:sp>
      <p:pic>
        <p:nvPicPr>
          <p:cNvPr id="29" name="Image 4" descr="preencoded.png">    </p:cNvPr>
          <p:cNvPicPr>
            <a:picLocks noChangeAspect="1"/>
          </p:cNvPicPr>
          <p:nvPr/>
        </p:nvPicPr>
        <p:blipFill>
          <a:blip r:embed="rId5"/>
          <a:stretch>
            <a:fillRect/>
          </a:stretch>
        </p:blipFill>
        <p:spPr>
          <a:xfrm>
            <a:off x="732252" y="5450556"/>
            <a:ext cx="199705" cy="199705"/>
          </a:xfrm>
          <a:prstGeom prst="rect">
            <a:avLst/>
          </a:prstGeom>
        </p:spPr>
      </p:pic>
      <p:sp>
        <p:nvSpPr>
          <p:cNvPr id="30" name="Text 23"/>
          <p:cNvSpPr txBox="1"/>
          <p:nvPr/>
        </p:nvSpPr>
        <p:spPr>
          <a:xfrm>
            <a:off x="1170432" y="5266944"/>
            <a:ext cx="1463040" cy="566928"/>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Meetings</a:t>
            </a:r>
            <a:endParaRPr lang="en-US" sz="1400" dirty="0"/>
          </a:p>
        </p:txBody>
      </p:sp>
      <p:sp>
        <p:nvSpPr>
          <p:cNvPr id="31" name="Text 24"/>
          <p:cNvSpPr txBox="1"/>
          <p:nvPr/>
        </p:nvSpPr>
        <p:spPr>
          <a:xfrm>
            <a:off x="2651760" y="5266944"/>
            <a:ext cx="3017520" cy="566928"/>
          </a:xfrm>
          <a:prstGeom prst="rect">
            <a:avLst/>
          </a:prstGeom>
          <a:noFill/>
          <a:ln/>
        </p:spPr>
        <p:txBody>
          <a:bodyPr wrap="square" lIns="0" tIns="0" rIns="0" bIns="0" rtlCol="0" anchor="ctr"/>
          <a:lstStyle/>
          <a:p>
            <a:pPr indent="0" marL="0">
              <a:buNone/>
            </a:pPr>
            <a:r>
              <a:rPr lang="en-US" sz="1250" dirty="0">
                <a:solidFill>
                  <a:srgbClr val="9AA7A2"/>
                </a:solidFill>
                <a:latin typeface="Manrope" pitchFamily="34" charset="0"/>
                <a:ea typeface="Manrope" pitchFamily="34" charset="-122"/>
                <a:cs typeface="Manrope" pitchFamily="34" charset="-120"/>
              </a:rPr>
              <a:t>The daily "where are we?"</a:t>
            </a:r>
            <a:endParaRPr lang="en-US" sz="1250" dirty="0"/>
          </a:p>
        </p:txBody>
      </p:sp>
      <p:sp>
        <p:nvSpPr>
          <p:cNvPr id="32" name="Shape 25"/>
          <p:cNvSpPr/>
          <p:nvPr/>
        </p:nvSpPr>
        <p:spPr>
          <a:xfrm>
            <a:off x="6263640" y="2240280"/>
            <a:ext cx="5379415" cy="1051560"/>
          </a:xfrm>
          <a:prstGeom prst="roundRect">
            <a:avLst>
              <a:gd name="adj" fmla="val 13913"/>
            </a:avLst>
          </a:prstGeom>
          <a:solidFill>
            <a:srgbClr val="15191A"/>
          </a:solidFill>
          <a:ln w="9525">
            <a:solidFill>
              <a:srgbClr val="262C2E"/>
            </a:solidFill>
            <a:prstDash val="solid"/>
          </a:ln>
        </p:spPr>
      </p:sp>
      <p:sp>
        <p:nvSpPr>
          <p:cNvPr id="33" name="Shape 26"/>
          <p:cNvSpPr/>
          <p:nvPr/>
        </p:nvSpPr>
        <p:spPr>
          <a:xfrm>
            <a:off x="6492240" y="2514600"/>
            <a:ext cx="502920" cy="502920"/>
          </a:xfrm>
          <a:prstGeom prst="roundRect">
            <a:avLst>
              <a:gd name="adj" fmla="val 28000"/>
            </a:avLst>
          </a:prstGeom>
          <a:solidFill>
            <a:srgbClr val="1C2123"/>
          </a:solidFill>
          <a:ln/>
        </p:spPr>
      </p:sp>
      <p:pic>
        <p:nvPicPr>
          <p:cNvPr id="34" name="Image 5" descr="preencoded.png">    </p:cNvPr>
          <p:cNvPicPr>
            <a:picLocks noChangeAspect="1"/>
          </p:cNvPicPr>
          <p:nvPr/>
        </p:nvPicPr>
        <p:blipFill>
          <a:blip r:embed="rId6"/>
          <a:stretch>
            <a:fillRect/>
          </a:stretch>
        </p:blipFill>
        <p:spPr>
          <a:xfrm>
            <a:off x="6612941" y="2635301"/>
            <a:ext cx="261518" cy="261518"/>
          </a:xfrm>
          <a:prstGeom prst="rect">
            <a:avLst/>
          </a:prstGeom>
        </p:spPr>
      </p:pic>
      <p:sp>
        <p:nvSpPr>
          <p:cNvPr id="35" name="Text 27"/>
          <p:cNvSpPr txBox="1"/>
          <p:nvPr/>
        </p:nvSpPr>
        <p:spPr>
          <a:xfrm>
            <a:off x="7223760" y="2441448"/>
            <a:ext cx="4206240" cy="320040"/>
          </a:xfrm>
          <a:prstGeom prst="rect">
            <a:avLst/>
          </a:prstGeom>
          <a:noFill/>
          <a:ln/>
        </p:spPr>
        <p:txBody>
          <a:bodyPr wrap="square" lIns="0" tIns="0" rIns="0" bIns="0" rtlCol="0" anchor="t"/>
          <a:lstStyle/>
          <a:p>
            <a:pPr indent="0" marL="0">
              <a:buNone/>
            </a:pPr>
            <a:r>
              <a:rPr lang="en-US" sz="1700" b="1" dirty="0">
                <a:solidFill>
                  <a:srgbClr val="F4F6F5"/>
                </a:solidFill>
                <a:latin typeface="Epilogue" pitchFamily="34" charset="0"/>
                <a:ea typeface="Epilogue" pitchFamily="34" charset="-122"/>
                <a:cs typeface="Epilogue" pitchFamily="34" charset="-120"/>
              </a:rPr>
              <a:t>Deadlines slip quietly</a:t>
            </a:r>
            <a:endParaRPr lang="en-US" sz="1700" dirty="0"/>
          </a:p>
        </p:txBody>
      </p:sp>
      <p:sp>
        <p:nvSpPr>
          <p:cNvPr id="36" name="Text 28"/>
          <p:cNvSpPr txBox="1"/>
          <p:nvPr/>
        </p:nvSpPr>
        <p:spPr>
          <a:xfrm>
            <a:off x="7223760" y="2788920"/>
            <a:ext cx="4206240" cy="411480"/>
          </a:xfrm>
          <a:prstGeom prst="rect">
            <a:avLst/>
          </a:prstGeom>
          <a:noFill/>
          <a:ln/>
        </p:spPr>
        <p:txBody>
          <a:bodyPr wrap="square" lIns="0" tIns="0" rIns="0" bIns="0" rtlCol="0" anchor="t"/>
          <a:lstStyle/>
          <a:p>
            <a:pPr indent="0" marL="0">
              <a:buNone/>
            </a:pPr>
            <a:r>
              <a:rPr lang="en-US" sz="1250" dirty="0">
                <a:solidFill>
                  <a:srgbClr val="9AA7A2"/>
                </a:solidFill>
                <a:latin typeface="Manrope" pitchFamily="34" charset="0"/>
                <a:ea typeface="Manrope" pitchFamily="34" charset="-122"/>
                <a:cs typeface="Manrope" pitchFamily="34" charset="-120"/>
              </a:rPr>
              <a:t>You hear about it when the client calls, not the day it happens.</a:t>
            </a:r>
            <a:endParaRPr lang="en-US" sz="1250" dirty="0"/>
          </a:p>
        </p:txBody>
      </p:sp>
      <p:sp>
        <p:nvSpPr>
          <p:cNvPr id="37" name="Shape 29"/>
          <p:cNvSpPr/>
          <p:nvPr/>
        </p:nvSpPr>
        <p:spPr>
          <a:xfrm>
            <a:off x="6263640" y="3429000"/>
            <a:ext cx="5379415" cy="1051560"/>
          </a:xfrm>
          <a:prstGeom prst="roundRect">
            <a:avLst>
              <a:gd name="adj" fmla="val 13913"/>
            </a:avLst>
          </a:prstGeom>
          <a:solidFill>
            <a:srgbClr val="15191A"/>
          </a:solidFill>
          <a:ln w="9525">
            <a:solidFill>
              <a:srgbClr val="262C2E"/>
            </a:solidFill>
            <a:prstDash val="solid"/>
          </a:ln>
        </p:spPr>
      </p:sp>
      <p:sp>
        <p:nvSpPr>
          <p:cNvPr id="38" name="Shape 30"/>
          <p:cNvSpPr/>
          <p:nvPr/>
        </p:nvSpPr>
        <p:spPr>
          <a:xfrm>
            <a:off x="6492240" y="3703320"/>
            <a:ext cx="502920" cy="502920"/>
          </a:xfrm>
          <a:prstGeom prst="roundRect">
            <a:avLst>
              <a:gd name="adj" fmla="val 28000"/>
            </a:avLst>
          </a:prstGeom>
          <a:solidFill>
            <a:srgbClr val="1C2123"/>
          </a:solidFill>
          <a:ln/>
        </p:spPr>
      </p:sp>
      <p:pic>
        <p:nvPicPr>
          <p:cNvPr id="39" name="Image 6" descr="preencoded.png">    </p:cNvPr>
          <p:cNvPicPr>
            <a:picLocks noChangeAspect="1"/>
          </p:cNvPicPr>
          <p:nvPr/>
        </p:nvPicPr>
        <p:blipFill>
          <a:blip r:embed="rId7"/>
          <a:stretch>
            <a:fillRect/>
          </a:stretch>
        </p:blipFill>
        <p:spPr>
          <a:xfrm>
            <a:off x="6612941" y="3824021"/>
            <a:ext cx="261518" cy="261518"/>
          </a:xfrm>
          <a:prstGeom prst="rect">
            <a:avLst/>
          </a:prstGeom>
        </p:spPr>
      </p:pic>
      <p:sp>
        <p:nvSpPr>
          <p:cNvPr id="40" name="Text 31"/>
          <p:cNvSpPr txBox="1"/>
          <p:nvPr/>
        </p:nvSpPr>
        <p:spPr>
          <a:xfrm>
            <a:off x="7223760" y="3630168"/>
            <a:ext cx="4206240" cy="320040"/>
          </a:xfrm>
          <a:prstGeom prst="rect">
            <a:avLst/>
          </a:prstGeom>
          <a:noFill/>
          <a:ln/>
        </p:spPr>
        <p:txBody>
          <a:bodyPr wrap="square" lIns="0" tIns="0" rIns="0" bIns="0" rtlCol="0" anchor="t"/>
          <a:lstStyle/>
          <a:p>
            <a:pPr indent="0" marL="0">
              <a:buNone/>
            </a:pPr>
            <a:r>
              <a:rPr lang="en-US" sz="1700" b="1" dirty="0">
                <a:solidFill>
                  <a:srgbClr val="F4F6F5"/>
                </a:solidFill>
                <a:latin typeface="Epilogue" pitchFamily="34" charset="0"/>
                <a:ea typeface="Epilogue" pitchFamily="34" charset="-122"/>
                <a:cs typeface="Epilogue" pitchFamily="34" charset="-120"/>
              </a:rPr>
              <a:t>Delivered work goes unbilled</a:t>
            </a:r>
            <a:endParaRPr lang="en-US" sz="1700" dirty="0"/>
          </a:p>
        </p:txBody>
      </p:sp>
      <p:sp>
        <p:nvSpPr>
          <p:cNvPr id="41" name="Text 32"/>
          <p:cNvSpPr txBox="1"/>
          <p:nvPr/>
        </p:nvSpPr>
        <p:spPr>
          <a:xfrm>
            <a:off x="7223760" y="3977640"/>
            <a:ext cx="4206240" cy="411480"/>
          </a:xfrm>
          <a:prstGeom prst="rect">
            <a:avLst/>
          </a:prstGeom>
          <a:noFill/>
          <a:ln/>
        </p:spPr>
        <p:txBody>
          <a:bodyPr wrap="square" lIns="0" tIns="0" rIns="0" bIns="0" rtlCol="0" anchor="t"/>
          <a:lstStyle/>
          <a:p>
            <a:pPr indent="0" marL="0">
              <a:buNone/>
            </a:pPr>
            <a:r>
              <a:rPr lang="en-US" sz="1250" dirty="0">
                <a:solidFill>
                  <a:srgbClr val="9AA7A2"/>
                </a:solidFill>
                <a:latin typeface="Manrope" pitchFamily="34" charset="0"/>
                <a:ea typeface="Manrope" pitchFamily="34" charset="-122"/>
                <a:cs typeface="Manrope" pitchFamily="34" charset="-120"/>
              </a:rPr>
              <a:t>Shipped deliverables fall through the gap between done and invoiced.</a:t>
            </a:r>
            <a:endParaRPr lang="en-US" sz="1250" dirty="0"/>
          </a:p>
        </p:txBody>
      </p:sp>
      <p:sp>
        <p:nvSpPr>
          <p:cNvPr id="42" name="Shape 33"/>
          <p:cNvSpPr/>
          <p:nvPr/>
        </p:nvSpPr>
        <p:spPr>
          <a:xfrm>
            <a:off x="6263640" y="4617720"/>
            <a:ext cx="5379415" cy="1051560"/>
          </a:xfrm>
          <a:prstGeom prst="roundRect">
            <a:avLst>
              <a:gd name="adj" fmla="val 13913"/>
            </a:avLst>
          </a:prstGeom>
          <a:solidFill>
            <a:srgbClr val="15191A"/>
          </a:solidFill>
          <a:ln w="9525">
            <a:solidFill>
              <a:srgbClr val="262C2E"/>
            </a:solidFill>
            <a:prstDash val="solid"/>
          </a:ln>
        </p:spPr>
      </p:sp>
      <p:sp>
        <p:nvSpPr>
          <p:cNvPr id="43" name="Shape 34"/>
          <p:cNvSpPr/>
          <p:nvPr/>
        </p:nvSpPr>
        <p:spPr>
          <a:xfrm>
            <a:off x="6492240" y="4892040"/>
            <a:ext cx="502920" cy="502920"/>
          </a:xfrm>
          <a:prstGeom prst="roundRect">
            <a:avLst>
              <a:gd name="adj" fmla="val 28000"/>
            </a:avLst>
          </a:prstGeom>
          <a:solidFill>
            <a:srgbClr val="1C2123"/>
          </a:solidFill>
          <a:ln/>
        </p:spPr>
      </p:sp>
      <p:pic>
        <p:nvPicPr>
          <p:cNvPr id="44" name="Image 7" descr="preencoded.png">    </p:cNvPr>
          <p:cNvPicPr>
            <a:picLocks noChangeAspect="1"/>
          </p:cNvPicPr>
          <p:nvPr/>
        </p:nvPicPr>
        <p:blipFill>
          <a:blip r:embed="rId8"/>
          <a:stretch>
            <a:fillRect/>
          </a:stretch>
        </p:blipFill>
        <p:spPr>
          <a:xfrm>
            <a:off x="6612941" y="5012741"/>
            <a:ext cx="261518" cy="261518"/>
          </a:xfrm>
          <a:prstGeom prst="rect">
            <a:avLst/>
          </a:prstGeom>
        </p:spPr>
      </p:pic>
      <p:sp>
        <p:nvSpPr>
          <p:cNvPr id="45" name="Text 35"/>
          <p:cNvSpPr txBox="1"/>
          <p:nvPr/>
        </p:nvSpPr>
        <p:spPr>
          <a:xfrm>
            <a:off x="7223760" y="4818888"/>
            <a:ext cx="4206240" cy="320040"/>
          </a:xfrm>
          <a:prstGeom prst="rect">
            <a:avLst/>
          </a:prstGeom>
          <a:noFill/>
          <a:ln/>
        </p:spPr>
        <p:txBody>
          <a:bodyPr wrap="square" lIns="0" tIns="0" rIns="0" bIns="0" rtlCol="0" anchor="t"/>
          <a:lstStyle/>
          <a:p>
            <a:pPr indent="0" marL="0">
              <a:buNone/>
            </a:pPr>
            <a:r>
              <a:rPr lang="en-US" sz="1700" b="1" dirty="0">
                <a:solidFill>
                  <a:srgbClr val="F4F6F5"/>
                </a:solidFill>
                <a:latin typeface="Epilogue" pitchFamily="34" charset="0"/>
                <a:ea typeface="Epilogue" pitchFamily="34" charset="-122"/>
                <a:cs typeface="Epilogue" pitchFamily="34" charset="-120"/>
              </a:rPr>
              <a:t>Founders fly blind</a:t>
            </a:r>
            <a:endParaRPr lang="en-US" sz="1700" dirty="0"/>
          </a:p>
        </p:txBody>
      </p:sp>
      <p:sp>
        <p:nvSpPr>
          <p:cNvPr id="46" name="Text 36"/>
          <p:cNvSpPr txBox="1"/>
          <p:nvPr/>
        </p:nvSpPr>
        <p:spPr>
          <a:xfrm>
            <a:off x="7223760" y="5166360"/>
            <a:ext cx="4206240" cy="411480"/>
          </a:xfrm>
          <a:prstGeom prst="rect">
            <a:avLst/>
          </a:prstGeom>
          <a:noFill/>
          <a:ln/>
        </p:spPr>
        <p:txBody>
          <a:bodyPr wrap="square" lIns="0" tIns="0" rIns="0" bIns="0" rtlCol="0" anchor="t"/>
          <a:lstStyle/>
          <a:p>
            <a:pPr indent="0" marL="0">
              <a:buNone/>
            </a:pPr>
            <a:r>
              <a:rPr lang="en-US" sz="1250" dirty="0">
                <a:solidFill>
                  <a:srgbClr val="9AA7A2"/>
                </a:solidFill>
                <a:latin typeface="Manrope" pitchFamily="34" charset="0"/>
                <a:ea typeface="Manrope" pitchFamily="34" charset="-122"/>
                <a:cs typeface="Manrope" pitchFamily="34" charset="-120"/>
              </a:rPr>
              <a:t>There's no honest read of where the week — or the team's capacity — went.</a:t>
            </a:r>
            <a:endParaRPr lang="en-US" sz="1250" dirty="0"/>
          </a:p>
        </p:txBody>
      </p:sp>
      <p:sp>
        <p:nvSpPr>
          <p:cNvPr id="47" name="Text 37"/>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THE RESULT   </a:t>
            </a:r>
            <a:pPr indent="0" marL="0">
              <a:buNone/>
            </a:pPr>
            <a:r>
              <a:rPr lang="en-US" sz="1400" b="1" dirty="0">
                <a:solidFill>
                  <a:srgbClr val="F4F6F5"/>
                </a:solidFill>
                <a:latin typeface="Manrope" pitchFamily="34" charset="0"/>
                <a:ea typeface="Manrope" pitchFamily="34" charset="-122"/>
                <a:cs typeface="Manrope" pitchFamily="34" charset="-120"/>
              </a:rPr>
              <a:t>The project tool gets abandoned by month two, and the team goes back to chasing each other.</a:t>
            </a:r>
            <a:endParaRPr lang="en-US" sz="1000" dirty="0"/>
          </a:p>
        </p:txBody>
      </p:sp>
      <p:sp>
        <p:nvSpPr>
          <p:cNvPr id="48" name="Text 38"/>
          <p:cNvSpPr txBox="1"/>
          <p:nvPr/>
        </p:nvSpPr>
        <p:spPr>
          <a:xfrm>
            <a:off x="548640" y="6446520"/>
            <a:ext cx="5486400" cy="201168"/>
          </a:xfrm>
          <a:prstGeom prst="rect">
            <a:avLst/>
          </a:prstGeom>
          <a:noFill/>
          <a:ln/>
        </p:spPr>
        <p:txBody>
          <a:bodyPr wrap="square" lIns="0" tIns="0" rIns="0" bIns="0" rtlCol="0" anchor="t"/>
          <a:lstStyle/>
          <a:p>
            <a:pPr indent="0" marL="0">
              <a:buNone/>
            </a:pPr>
            <a:r>
              <a:rPr lang="en-US" sz="800" b="1" spc="200" kern="0" dirty="0">
                <a:solidFill>
                  <a:srgbClr val="6B7773"/>
                </a:solidFill>
                <a:latin typeface="Plus Jakarta Sans" pitchFamily="34" charset="0"/>
                <a:ea typeface="Plus Jakarta Sans" pitchFamily="34" charset="-122"/>
                <a:cs typeface="Plus Jakarta Sans" pitchFamily="34" charset="-120"/>
              </a:rPr>
              <a:t>BOD APP  ·  RUN YOUR STUDIO THE CALM WAY</a:t>
            </a:r>
            <a:endParaRPr lang="en-US" sz="800" dirty="0"/>
          </a:p>
        </p:txBody>
      </p:sp>
      <p:sp>
        <p:nvSpPr>
          <p:cNvPr id="49" name="Text 39"/>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b="1" dirty="0">
                <a:solidFill>
                  <a:srgbClr val="6B7773"/>
                </a:solidFill>
                <a:latin typeface="Plus Jakarta Sans" pitchFamily="34" charset="0"/>
                <a:ea typeface="Plus Jakarta Sans" pitchFamily="34" charset="-122"/>
                <a:cs typeface="Plus Jakarta Sans"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02  ·  MEET BOD APP</a:t>
            </a:r>
            <a:endParaRPr lang="en-US" sz="1000" dirty="0"/>
          </a:p>
        </p:txBody>
      </p:sp>
      <p:sp>
        <p:nvSpPr>
          <p:cNvPr id="3" name="Text 1"/>
          <p:cNvSpPr txBox="1"/>
          <p:nvPr/>
        </p:nvSpPr>
        <p:spPr>
          <a:xfrm>
            <a:off x="7985455" y="457200"/>
            <a:ext cx="3657600" cy="228600"/>
          </a:xfrm>
          <a:prstGeom prst="rect">
            <a:avLst/>
          </a:prstGeom>
          <a:noFill/>
          <a:ln/>
        </p:spPr>
        <p:txBody>
          <a:bodyPr wrap="square" lIns="0" tIns="0" rIns="0" bIns="0" rtlCol="0" anchor="t"/>
          <a:lstStyle/>
          <a:p>
            <a:pPr algn="r" indent="0" marL="0">
              <a:buNone/>
            </a:pPr>
            <a:r>
              <a:rPr lang="en-US" sz="900" b="1" spc="200" kern="0" dirty="0">
                <a:solidFill>
                  <a:srgbClr val="6B7773"/>
                </a:solidFill>
                <a:latin typeface="Plus Jakarta Sans" pitchFamily="34" charset="0"/>
                <a:ea typeface="Plus Jakarta Sans" pitchFamily="34" charset="-122"/>
                <a:cs typeface="Plus Jakarta Sans" pitchFamily="34" charset="-120"/>
              </a:rPr>
              <a:t>BOD APP  /  SALES DECK</a:t>
            </a:r>
            <a:endParaRPr lang="en-US" sz="900" dirty="0"/>
          </a:p>
        </p:txBody>
      </p:sp>
      <p:sp>
        <p:nvSpPr>
          <p:cNvPr id="4" name="Text 2"/>
          <p:cNvSpPr txBox="1"/>
          <p:nvPr/>
        </p:nvSpPr>
        <p:spPr>
          <a:xfrm>
            <a:off x="548640" y="804672"/>
            <a:ext cx="6583680" cy="1188720"/>
          </a:xfrm>
          <a:prstGeom prst="rect">
            <a:avLst/>
          </a:prstGeom>
          <a:noFill/>
          <a:ln/>
        </p:spPr>
        <p:txBody>
          <a:bodyPr wrap="square" lIns="0" tIns="0" rIns="0" bIns="0" rtlCol="0" anchor="t"/>
          <a:lstStyle/>
          <a:p>
            <a:pPr indent="0" marL="0">
              <a:buNone/>
            </a:pPr>
            <a:r>
              <a:rPr lang="en-US" sz="3400" b="1" dirty="0">
                <a:solidFill>
                  <a:srgbClr val="F4F6F5"/>
                </a:solidFill>
                <a:latin typeface="Epilogue" pitchFamily="34" charset="0"/>
                <a:ea typeface="Epilogue" pitchFamily="34" charset="-122"/>
                <a:cs typeface="Epilogue" pitchFamily="34" charset="-120"/>
              </a:rPr>
              <a:t>One calm app for</a:t>
            </a:r>
            <a:endParaRPr lang="en-US" sz="3400" dirty="0"/>
          </a:p>
          <a:p>
            <a:pPr indent="0" marL="0">
              <a:buNone/>
            </a:pPr>
            <a:r>
              <a:rPr lang="en-US" sz="3400" b="1" dirty="0">
                <a:solidFill>
                  <a:srgbClr val="F4F6F5"/>
                </a:solidFill>
                <a:latin typeface="Epilogue" pitchFamily="34" charset="0"/>
                <a:ea typeface="Epilogue" pitchFamily="34" charset="-122"/>
                <a:cs typeface="Epilogue" pitchFamily="34" charset="-120"/>
              </a:rPr>
              <a:t>the whole studio.</a:t>
            </a:r>
            <a:endParaRPr lang="en-US" sz="3400" dirty="0"/>
          </a:p>
        </p:txBody>
      </p:sp>
      <p:sp>
        <p:nvSpPr>
          <p:cNvPr id="5" name="Text 3"/>
          <p:cNvSpPr txBox="1"/>
          <p:nvPr/>
        </p:nvSpPr>
        <p:spPr>
          <a:xfrm>
            <a:off x="548640" y="2057400"/>
            <a:ext cx="6035040" cy="731520"/>
          </a:xfrm>
          <a:prstGeom prst="rect">
            <a:avLst/>
          </a:prstGeom>
          <a:noFill/>
          <a:ln/>
        </p:spPr>
        <p:txBody>
          <a:bodyPr wrap="square" lIns="0" tIns="0" rIns="0" bIns="0" rtlCol="0" anchor="t"/>
          <a:lstStyle/>
          <a:p>
            <a:pPr indent="0" marL="0">
              <a:lnSpc>
                <a:spcPct val="120000"/>
              </a:lnSpc>
              <a:buNone/>
            </a:pPr>
            <a:r>
              <a:rPr lang="en-US" sz="1400" dirty="0">
                <a:solidFill>
                  <a:srgbClr val="9AA7A2"/>
                </a:solidFill>
                <a:latin typeface="Manrope" pitchFamily="34" charset="0"/>
                <a:ea typeface="Manrope" pitchFamily="34" charset="-122"/>
                <a:cs typeface="Manrope" pitchFamily="34" charset="-120"/>
              </a:rPr>
              <a:t>The workspace a marketing agency runs on: tasks, approvals, billing, AI capture and standups in one place. Built and battle-tested inside Storibod's own studio.</a:t>
            </a:r>
            <a:endParaRPr lang="en-US" sz="1400" dirty="0"/>
          </a:p>
        </p:txBody>
      </p:sp>
      <p:sp>
        <p:nvSpPr>
          <p:cNvPr id="6" name="Shape 4"/>
          <p:cNvSpPr/>
          <p:nvPr/>
        </p:nvSpPr>
        <p:spPr>
          <a:xfrm>
            <a:off x="548640" y="3017520"/>
            <a:ext cx="2926080" cy="1508760"/>
          </a:xfrm>
          <a:prstGeom prst="roundRect">
            <a:avLst>
              <a:gd name="adj" fmla="val 9697"/>
            </a:avLst>
          </a:prstGeom>
          <a:solidFill>
            <a:srgbClr val="15191A"/>
          </a:solidFill>
          <a:ln w="9525">
            <a:solidFill>
              <a:srgbClr val="262C2E"/>
            </a:solidFill>
            <a:prstDash val="solid"/>
          </a:ln>
        </p:spPr>
      </p:sp>
      <p:sp>
        <p:nvSpPr>
          <p:cNvPr id="7" name="Text 5"/>
          <p:cNvSpPr txBox="1"/>
          <p:nvPr/>
        </p:nvSpPr>
        <p:spPr>
          <a:xfrm>
            <a:off x="822960" y="3154680"/>
            <a:ext cx="2468880" cy="640080"/>
          </a:xfrm>
          <a:prstGeom prst="rect">
            <a:avLst/>
          </a:prstGeom>
          <a:noFill/>
          <a:ln/>
        </p:spPr>
        <p:txBody>
          <a:bodyPr wrap="square" lIns="0" tIns="0" rIns="0" bIns="0" rtlCol="0" anchor="t"/>
          <a:lstStyle/>
          <a:p>
            <a:pPr indent="0" marL="0">
              <a:buNone/>
            </a:pPr>
            <a:r>
              <a:rPr lang="en-US" sz="3600" b="1" dirty="0">
                <a:solidFill>
                  <a:srgbClr val="B8E62E"/>
                </a:solidFill>
                <a:latin typeface="Epilogue" pitchFamily="34" charset="0"/>
                <a:ea typeface="Epilogue" pitchFamily="34" charset="-122"/>
                <a:cs typeface="Epilogue" pitchFamily="34" charset="-120"/>
              </a:rPr>
              <a:t>5→1</a:t>
            </a:r>
            <a:endParaRPr lang="en-US" sz="3600" dirty="0"/>
          </a:p>
        </p:txBody>
      </p:sp>
      <p:sp>
        <p:nvSpPr>
          <p:cNvPr id="8" name="Text 6"/>
          <p:cNvSpPr txBox="1"/>
          <p:nvPr/>
        </p:nvSpPr>
        <p:spPr>
          <a:xfrm>
            <a:off x="822960" y="3794760"/>
            <a:ext cx="2468880" cy="201168"/>
          </a:xfrm>
          <a:prstGeom prst="rect">
            <a:avLst/>
          </a:prstGeom>
          <a:noFill/>
          <a:ln/>
        </p:spPr>
        <p:txBody>
          <a:bodyPr wrap="square" lIns="0" tIns="0" rIns="0" bIns="0" rtlCol="0" anchor="t"/>
          <a:lstStyle/>
          <a:p>
            <a:pPr indent="0" marL="0">
              <a:buNone/>
            </a:pPr>
            <a:r>
              <a:rPr lang="en-US" sz="900" b="1" spc="150" kern="0" dirty="0">
                <a:solidFill>
                  <a:srgbClr val="F4F6F5"/>
                </a:solidFill>
                <a:latin typeface="Plus Jakarta Sans" pitchFamily="34" charset="0"/>
                <a:ea typeface="Plus Jakarta Sans" pitchFamily="34" charset="-122"/>
                <a:cs typeface="Plus Jakarta Sans" pitchFamily="34" charset="-120"/>
              </a:rPr>
              <a:t>TOOLS, REPLACED</a:t>
            </a:r>
            <a:endParaRPr lang="en-US" sz="900" dirty="0"/>
          </a:p>
        </p:txBody>
      </p:sp>
      <p:sp>
        <p:nvSpPr>
          <p:cNvPr id="9" name="Text 7"/>
          <p:cNvSpPr txBox="1"/>
          <p:nvPr/>
        </p:nvSpPr>
        <p:spPr>
          <a:xfrm>
            <a:off x="822960" y="4023360"/>
            <a:ext cx="2468880"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Tasks, approvals, billing prompts, standups and AI in one app.</a:t>
            </a:r>
            <a:endParaRPr lang="en-US" sz="1100" dirty="0"/>
          </a:p>
        </p:txBody>
      </p:sp>
      <p:sp>
        <p:nvSpPr>
          <p:cNvPr id="10" name="Shape 8"/>
          <p:cNvSpPr/>
          <p:nvPr/>
        </p:nvSpPr>
        <p:spPr>
          <a:xfrm>
            <a:off x="3611880" y="3017520"/>
            <a:ext cx="2926080" cy="1508760"/>
          </a:xfrm>
          <a:prstGeom prst="roundRect">
            <a:avLst>
              <a:gd name="adj" fmla="val 9697"/>
            </a:avLst>
          </a:prstGeom>
          <a:solidFill>
            <a:srgbClr val="15191A"/>
          </a:solidFill>
          <a:ln w="9525">
            <a:solidFill>
              <a:srgbClr val="262C2E"/>
            </a:solidFill>
            <a:prstDash val="solid"/>
          </a:ln>
        </p:spPr>
      </p:sp>
      <p:sp>
        <p:nvSpPr>
          <p:cNvPr id="11" name="Text 9"/>
          <p:cNvSpPr txBox="1"/>
          <p:nvPr/>
        </p:nvSpPr>
        <p:spPr>
          <a:xfrm>
            <a:off x="3886200" y="3154680"/>
            <a:ext cx="2468880" cy="640080"/>
          </a:xfrm>
          <a:prstGeom prst="rect">
            <a:avLst/>
          </a:prstGeom>
          <a:noFill/>
          <a:ln/>
        </p:spPr>
        <p:txBody>
          <a:bodyPr wrap="square" lIns="0" tIns="0" rIns="0" bIns="0" rtlCol="0" anchor="t"/>
          <a:lstStyle/>
          <a:p>
            <a:pPr indent="0" marL="0">
              <a:buNone/>
            </a:pPr>
            <a:r>
              <a:rPr lang="en-US" sz="3600" b="1" dirty="0">
                <a:solidFill>
                  <a:srgbClr val="B8E62E"/>
                </a:solidFill>
                <a:latin typeface="Epilogue" pitchFamily="34" charset="0"/>
                <a:ea typeface="Epilogue" pitchFamily="34" charset="-122"/>
                <a:cs typeface="Epilogue" pitchFamily="34" charset="-120"/>
              </a:rPr>
              <a:t>3</a:t>
            </a:r>
            <a:endParaRPr lang="en-US" sz="3600" dirty="0"/>
          </a:p>
        </p:txBody>
      </p:sp>
      <p:sp>
        <p:nvSpPr>
          <p:cNvPr id="12" name="Text 10"/>
          <p:cNvSpPr txBox="1"/>
          <p:nvPr/>
        </p:nvSpPr>
        <p:spPr>
          <a:xfrm>
            <a:off x="3886200" y="3794760"/>
            <a:ext cx="2468880" cy="201168"/>
          </a:xfrm>
          <a:prstGeom prst="rect">
            <a:avLst/>
          </a:prstGeom>
          <a:noFill/>
          <a:ln/>
        </p:spPr>
        <p:txBody>
          <a:bodyPr wrap="square" lIns="0" tIns="0" rIns="0" bIns="0" rtlCol="0" anchor="t"/>
          <a:lstStyle/>
          <a:p>
            <a:pPr indent="0" marL="0">
              <a:buNone/>
            </a:pPr>
            <a:r>
              <a:rPr lang="en-US" sz="900" b="1" spc="150" kern="0" dirty="0">
                <a:solidFill>
                  <a:srgbClr val="F4F6F5"/>
                </a:solidFill>
                <a:latin typeface="Plus Jakarta Sans" pitchFamily="34" charset="0"/>
                <a:ea typeface="Plus Jakarta Sans" pitchFamily="34" charset="-122"/>
                <a:cs typeface="Plus Jakarta Sans" pitchFamily="34" charset="-120"/>
              </a:rPr>
              <a:t>LANGUAGES, SPOKEN</a:t>
            </a:r>
            <a:endParaRPr lang="en-US" sz="900" dirty="0"/>
          </a:p>
        </p:txBody>
      </p:sp>
      <p:sp>
        <p:nvSpPr>
          <p:cNvPr id="13" name="Text 11"/>
          <p:cNvSpPr txBox="1"/>
          <p:nvPr/>
        </p:nvSpPr>
        <p:spPr>
          <a:xfrm>
            <a:off x="3886200" y="4023360"/>
            <a:ext cx="2468880"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Capture work in Malayalam, English or Manglish — voice or text.</a:t>
            </a:r>
            <a:endParaRPr lang="en-US" sz="1100" dirty="0"/>
          </a:p>
        </p:txBody>
      </p:sp>
      <p:sp>
        <p:nvSpPr>
          <p:cNvPr id="14" name="Shape 12"/>
          <p:cNvSpPr/>
          <p:nvPr/>
        </p:nvSpPr>
        <p:spPr>
          <a:xfrm>
            <a:off x="548640" y="4663440"/>
            <a:ext cx="2926080" cy="1508760"/>
          </a:xfrm>
          <a:prstGeom prst="roundRect">
            <a:avLst>
              <a:gd name="adj" fmla="val 9697"/>
            </a:avLst>
          </a:prstGeom>
          <a:solidFill>
            <a:srgbClr val="15191A"/>
          </a:solidFill>
          <a:ln w="9525">
            <a:solidFill>
              <a:srgbClr val="262C2E"/>
            </a:solidFill>
            <a:prstDash val="solid"/>
          </a:ln>
        </p:spPr>
      </p:sp>
      <p:sp>
        <p:nvSpPr>
          <p:cNvPr id="15" name="Text 13"/>
          <p:cNvSpPr txBox="1"/>
          <p:nvPr/>
        </p:nvSpPr>
        <p:spPr>
          <a:xfrm>
            <a:off x="822960" y="4800600"/>
            <a:ext cx="2468880" cy="640080"/>
          </a:xfrm>
          <a:prstGeom prst="rect">
            <a:avLst/>
          </a:prstGeom>
          <a:noFill/>
          <a:ln/>
        </p:spPr>
        <p:txBody>
          <a:bodyPr wrap="square" lIns="0" tIns="0" rIns="0" bIns="0" rtlCol="0" anchor="t"/>
          <a:lstStyle/>
          <a:p>
            <a:pPr indent="0" marL="0">
              <a:buNone/>
            </a:pPr>
            <a:r>
              <a:rPr lang="en-US" sz="3600" b="1" dirty="0">
                <a:solidFill>
                  <a:srgbClr val="B8E62E"/>
                </a:solidFill>
                <a:latin typeface="Epilogue" pitchFamily="34" charset="0"/>
                <a:ea typeface="Epilogue" pitchFamily="34" charset="-122"/>
                <a:cs typeface="Epilogue" pitchFamily="34" charset="-120"/>
              </a:rPr>
              <a:t>6 PM</a:t>
            </a:r>
            <a:endParaRPr lang="en-US" sz="3600" dirty="0"/>
          </a:p>
        </p:txBody>
      </p:sp>
      <p:sp>
        <p:nvSpPr>
          <p:cNvPr id="16" name="Text 14"/>
          <p:cNvSpPr txBox="1"/>
          <p:nvPr/>
        </p:nvSpPr>
        <p:spPr>
          <a:xfrm>
            <a:off x="822960" y="5440680"/>
            <a:ext cx="2468880" cy="201168"/>
          </a:xfrm>
          <a:prstGeom prst="rect">
            <a:avLst/>
          </a:prstGeom>
          <a:noFill/>
          <a:ln/>
        </p:spPr>
        <p:txBody>
          <a:bodyPr wrap="square" lIns="0" tIns="0" rIns="0" bIns="0" rtlCol="0" anchor="t"/>
          <a:lstStyle/>
          <a:p>
            <a:pPr indent="0" marL="0">
              <a:buNone/>
            </a:pPr>
            <a:r>
              <a:rPr lang="en-US" sz="900" b="1" spc="150" kern="0" dirty="0">
                <a:solidFill>
                  <a:srgbClr val="F4F6F5"/>
                </a:solidFill>
                <a:latin typeface="Plus Jakarta Sans" pitchFamily="34" charset="0"/>
                <a:ea typeface="Plus Jakarta Sans" pitchFamily="34" charset="-122"/>
                <a:cs typeface="Plus Jakarta Sans" pitchFamily="34" charset="-120"/>
              </a:rPr>
              <a:t>STANDUP, AUTOMATED</a:t>
            </a:r>
            <a:endParaRPr lang="en-US" sz="900" dirty="0"/>
          </a:p>
        </p:txBody>
      </p:sp>
      <p:sp>
        <p:nvSpPr>
          <p:cNvPr id="17" name="Text 15"/>
          <p:cNvSpPr txBox="1"/>
          <p:nvPr/>
        </p:nvSpPr>
        <p:spPr>
          <a:xfrm>
            <a:off x="822960" y="5669280"/>
            <a:ext cx="2468880"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A daily digest of what shipped and what's next, written for you.</a:t>
            </a:r>
            <a:endParaRPr lang="en-US" sz="1100" dirty="0"/>
          </a:p>
        </p:txBody>
      </p:sp>
      <p:sp>
        <p:nvSpPr>
          <p:cNvPr id="18" name="Shape 16"/>
          <p:cNvSpPr/>
          <p:nvPr/>
        </p:nvSpPr>
        <p:spPr>
          <a:xfrm>
            <a:off x="3611880" y="4663440"/>
            <a:ext cx="2926080" cy="1508760"/>
          </a:xfrm>
          <a:prstGeom prst="roundRect">
            <a:avLst>
              <a:gd name="adj" fmla="val 9697"/>
            </a:avLst>
          </a:prstGeom>
          <a:solidFill>
            <a:srgbClr val="15191A"/>
          </a:solidFill>
          <a:ln w="9525">
            <a:solidFill>
              <a:srgbClr val="262C2E"/>
            </a:solidFill>
            <a:prstDash val="solid"/>
          </a:ln>
        </p:spPr>
      </p:sp>
      <p:sp>
        <p:nvSpPr>
          <p:cNvPr id="19" name="Text 17"/>
          <p:cNvSpPr txBox="1"/>
          <p:nvPr/>
        </p:nvSpPr>
        <p:spPr>
          <a:xfrm>
            <a:off x="3886200" y="4800600"/>
            <a:ext cx="2468880" cy="640080"/>
          </a:xfrm>
          <a:prstGeom prst="rect">
            <a:avLst/>
          </a:prstGeom>
          <a:noFill/>
          <a:ln/>
        </p:spPr>
        <p:txBody>
          <a:bodyPr wrap="square" lIns="0" tIns="0" rIns="0" bIns="0" rtlCol="0" anchor="t"/>
          <a:lstStyle/>
          <a:p>
            <a:pPr indent="0" marL="0">
              <a:buNone/>
            </a:pPr>
            <a:r>
              <a:rPr lang="en-US" sz="3600" b="1" dirty="0">
                <a:solidFill>
                  <a:srgbClr val="B8E62E"/>
                </a:solidFill>
                <a:latin typeface="Epilogue" pitchFamily="34" charset="0"/>
                <a:ea typeface="Epilogue" pitchFamily="34" charset="-122"/>
                <a:cs typeface="Epilogue" pitchFamily="34" charset="-120"/>
              </a:rPr>
              <a:t>3</a:t>
            </a:r>
            <a:endParaRPr lang="en-US" sz="3600" dirty="0"/>
          </a:p>
        </p:txBody>
      </p:sp>
      <p:sp>
        <p:nvSpPr>
          <p:cNvPr id="20" name="Text 18"/>
          <p:cNvSpPr txBox="1"/>
          <p:nvPr/>
        </p:nvSpPr>
        <p:spPr>
          <a:xfrm>
            <a:off x="3886200" y="5440680"/>
            <a:ext cx="2468880" cy="201168"/>
          </a:xfrm>
          <a:prstGeom prst="rect">
            <a:avLst/>
          </a:prstGeom>
          <a:noFill/>
          <a:ln/>
        </p:spPr>
        <p:txBody>
          <a:bodyPr wrap="square" lIns="0" tIns="0" rIns="0" bIns="0" rtlCol="0" anchor="t"/>
          <a:lstStyle/>
          <a:p>
            <a:pPr indent="0" marL="0">
              <a:buNone/>
            </a:pPr>
            <a:r>
              <a:rPr lang="en-US" sz="900" b="1" spc="150" kern="0" dirty="0">
                <a:solidFill>
                  <a:srgbClr val="F4F6F5"/>
                </a:solidFill>
                <a:latin typeface="Plus Jakarta Sans" pitchFamily="34" charset="0"/>
                <a:ea typeface="Plus Jakarta Sans" pitchFamily="34" charset="-122"/>
                <a:cs typeface="Plus Jakarta Sans" pitchFamily="34" charset="-120"/>
              </a:rPr>
              <a:t>PLATFORMS, ONE APP</a:t>
            </a:r>
            <a:endParaRPr lang="en-US" sz="900" dirty="0"/>
          </a:p>
        </p:txBody>
      </p:sp>
      <p:sp>
        <p:nvSpPr>
          <p:cNvPr id="21" name="Text 19"/>
          <p:cNvSpPr txBox="1"/>
          <p:nvPr/>
        </p:nvSpPr>
        <p:spPr>
          <a:xfrm>
            <a:off x="3886200" y="5669280"/>
            <a:ext cx="2468880"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iOS, Android and web — at the desk or on a shoot, always in sync.</a:t>
            </a:r>
            <a:endParaRPr lang="en-US" sz="1100" dirty="0"/>
          </a:p>
        </p:txBody>
      </p:sp>
      <p:pic>
        <p:nvPicPr>
          <p:cNvPr id="22" name="Image 0" descr="/tmp/claude-0/-home-user-Claude-Works/c609e3f7-e17f-5f43-8424-4df30cb9a6a9/scratchpad/build/img/fig_left_home_crop.png">    </p:cNvPr>
          <p:cNvPicPr>
            <a:picLocks noChangeAspect="1"/>
          </p:cNvPicPr>
          <p:nvPr/>
        </p:nvPicPr>
        <p:blipFill>
          <a:blip r:embed="rId1"/>
          <a:stretch>
            <a:fillRect/>
          </a:stretch>
        </p:blipFill>
        <p:spPr>
          <a:xfrm>
            <a:off x="7086600" y="566928"/>
            <a:ext cx="2155744" cy="5943600"/>
          </a:xfrm>
          <a:prstGeom prst="rect">
            <a:avLst/>
          </a:prstGeom>
        </p:spPr>
      </p:pic>
      <p:pic>
        <p:nvPicPr>
          <p:cNvPr id="23" name="Image 1" descr="/tmp/claude-0/-home-user-Claude-Works/c609e3f7-e17f-5f43-8424-4df30cb9a6a9/scratchpad/build/img/fig_right_tasks_crop.png">    </p:cNvPr>
          <p:cNvPicPr>
            <a:picLocks noChangeAspect="1"/>
          </p:cNvPicPr>
          <p:nvPr/>
        </p:nvPicPr>
        <p:blipFill>
          <a:blip r:embed="rId2"/>
          <a:stretch>
            <a:fillRect/>
          </a:stretch>
        </p:blipFill>
        <p:spPr>
          <a:xfrm>
            <a:off x="9418320" y="566928"/>
            <a:ext cx="2147423" cy="5943600"/>
          </a:xfrm>
          <a:prstGeom prst="rect">
            <a:avLst/>
          </a:prstGeom>
        </p:spPr>
      </p:pic>
      <p:sp>
        <p:nvSpPr>
          <p:cNvPr id="24" name="Text 20"/>
          <p:cNvSpPr txBox="1"/>
          <p:nvPr/>
        </p:nvSpPr>
        <p:spPr>
          <a:xfrm>
            <a:off x="548640" y="6446520"/>
            <a:ext cx="5486400" cy="201168"/>
          </a:xfrm>
          <a:prstGeom prst="rect">
            <a:avLst/>
          </a:prstGeom>
          <a:noFill/>
          <a:ln/>
        </p:spPr>
        <p:txBody>
          <a:bodyPr wrap="square" lIns="0" tIns="0" rIns="0" bIns="0" rtlCol="0" anchor="t"/>
          <a:lstStyle/>
          <a:p>
            <a:pPr indent="0" marL="0">
              <a:buNone/>
            </a:pPr>
            <a:r>
              <a:rPr lang="en-US" sz="800" b="1" spc="200" kern="0" dirty="0">
                <a:solidFill>
                  <a:srgbClr val="6B7773"/>
                </a:solidFill>
                <a:latin typeface="Plus Jakarta Sans" pitchFamily="34" charset="0"/>
                <a:ea typeface="Plus Jakarta Sans" pitchFamily="34" charset="-122"/>
                <a:cs typeface="Plus Jakarta Sans" pitchFamily="34" charset="-120"/>
              </a:rPr>
              <a:t>BOD APP  ·  RUN YOUR STUDIO THE CALM WAY</a:t>
            </a:r>
            <a:endParaRPr lang="en-US" sz="800" dirty="0"/>
          </a:p>
        </p:txBody>
      </p:sp>
      <p:sp>
        <p:nvSpPr>
          <p:cNvPr id="25" name="Text 21"/>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b="1" dirty="0">
                <a:solidFill>
                  <a:srgbClr val="6B7773"/>
                </a:solidFill>
                <a:latin typeface="Plus Jakarta Sans" pitchFamily="34" charset="0"/>
                <a:ea typeface="Plus Jakarta Sans" pitchFamily="34" charset="-122"/>
                <a:cs typeface="Plus Jakarta Sans"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0C"/>
        </a:solidFill>
      </p:bgPr>
    </p:bg>
    <p:spTree>
      <p:nvGrpSpPr>
        <p:cNvPr id="1" name=""/>
        <p:cNvGrpSpPr/>
        <p:nvPr/>
      </p:nvGrpSpPr>
      <p:grpSpPr>
        <a:xfrm>
          <a:off x="0" y="0"/>
          <a:ext cx="0" cy="0"/>
          <a:chOff x="0" y="0"/>
          <a:chExt cx="0" cy="0"/>
        </a:xfrm>
      </p:grpSpPr>
      <p:pic>
        <p:nvPicPr>
          <p:cNvPr id="2" name="Image 0" descr="/tmp/claude-0/-home-user-Claude-Works/c609e3f7-e17f-5f43-8424-4df30cb9a6a9/scratchpad/build/img/fig_focus_crop.png">    </p:cNvPr>
          <p:cNvPicPr>
            <a:picLocks noChangeAspect="1"/>
          </p:cNvPicPr>
          <p:nvPr/>
        </p:nvPicPr>
        <p:blipFill>
          <a:blip r:embed="rId1"/>
          <a:stretch>
            <a:fillRect/>
          </a:stretch>
        </p:blipFill>
        <p:spPr>
          <a:xfrm>
            <a:off x="914400" y="411480"/>
            <a:ext cx="2957170" cy="6035040"/>
          </a:xfrm>
          <a:prstGeom prst="rect">
            <a:avLst/>
          </a:prstGeom>
        </p:spPr>
      </p:pic>
      <p:sp>
        <p:nvSpPr>
          <p:cNvPr id="3" name="Text 0"/>
          <p:cNvSpPr txBox="1"/>
          <p:nvPr/>
        </p:nvSpPr>
        <p:spPr>
          <a:xfrm>
            <a:off x="4846320" y="822960"/>
            <a:ext cx="6796735"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03  ·  SMART FOCUS QUEUE</a:t>
            </a:r>
            <a:endParaRPr lang="en-US" sz="1000" dirty="0"/>
          </a:p>
        </p:txBody>
      </p:sp>
      <p:sp>
        <p:nvSpPr>
          <p:cNvPr id="4" name="Text 1"/>
          <p:cNvSpPr txBox="1"/>
          <p:nvPr/>
        </p:nvSpPr>
        <p:spPr>
          <a:xfrm>
            <a:off x="4846320" y="1143000"/>
            <a:ext cx="6796735" cy="685800"/>
          </a:xfrm>
          <a:prstGeom prst="rect">
            <a:avLst/>
          </a:prstGeom>
          <a:noFill/>
          <a:ln/>
        </p:spPr>
        <p:txBody>
          <a:bodyPr wrap="square" lIns="0" tIns="0" rIns="0" bIns="0" rtlCol="0" anchor="t"/>
          <a:lstStyle/>
          <a:p>
            <a:pPr indent="0" marL="0">
              <a:buNone/>
            </a:pPr>
            <a:r>
              <a:rPr lang="en-US" sz="3000" b="1" dirty="0">
                <a:solidFill>
                  <a:srgbClr val="F4F6F5"/>
                </a:solidFill>
                <a:latin typeface="Epilogue" pitchFamily="34" charset="0"/>
                <a:ea typeface="Epilogue" pitchFamily="34" charset="-122"/>
                <a:cs typeface="Epilogue" pitchFamily="34" charset="-120"/>
              </a:rPr>
              <a:t>Start every day already sorted.</a:t>
            </a:r>
            <a:endParaRPr lang="en-US" sz="3000" dirty="0"/>
          </a:p>
        </p:txBody>
      </p:sp>
      <p:sp>
        <p:nvSpPr>
          <p:cNvPr id="5" name="Text 2"/>
          <p:cNvSpPr txBox="1"/>
          <p:nvPr/>
        </p:nvSpPr>
        <p:spPr>
          <a:xfrm>
            <a:off x="4846320" y="1920240"/>
            <a:ext cx="6309360" cy="822960"/>
          </a:xfrm>
          <a:prstGeom prst="rect">
            <a:avLst/>
          </a:prstGeom>
          <a:noFill/>
          <a:ln/>
        </p:spPr>
        <p:txBody>
          <a:bodyPr wrap="square" lIns="0" tIns="0" rIns="0" bIns="0" rtlCol="0" anchor="t"/>
          <a:lstStyle/>
          <a:p>
            <a:pPr indent="0" marL="0">
              <a:lnSpc>
                <a:spcPct val="120000"/>
              </a:lnSpc>
              <a:buNone/>
            </a:pPr>
            <a:r>
              <a:rPr lang="en-US" sz="1500" dirty="0">
                <a:solidFill>
                  <a:srgbClr val="9AA7A2"/>
                </a:solidFill>
                <a:latin typeface="Manrope" pitchFamily="34" charset="0"/>
                <a:ea typeface="Manrope" pitchFamily="34" charset="-122"/>
                <a:cs typeface="Manrope" pitchFamily="34" charset="-120"/>
              </a:rPr>
              <a:t>Open the app and today is decided for you — overdue and blocked work first, the rest in the order that keeps clients happy. No planning meeting, no scrolling a board.</a:t>
            </a:r>
            <a:endParaRPr lang="en-US" sz="1500" dirty="0"/>
          </a:p>
        </p:txBody>
      </p:sp>
      <p:sp>
        <p:nvSpPr>
          <p:cNvPr id="6" name="Shape 3"/>
          <p:cNvSpPr/>
          <p:nvPr/>
        </p:nvSpPr>
        <p:spPr>
          <a:xfrm>
            <a:off x="4846320" y="2971800"/>
            <a:ext cx="502920" cy="502920"/>
          </a:xfrm>
          <a:prstGeom prst="roundRect">
            <a:avLst>
              <a:gd name="adj" fmla="val 28000"/>
            </a:avLst>
          </a:prstGeom>
          <a:solidFill>
            <a:srgbClr val="1C2123"/>
          </a:solidFill>
          <a:ln/>
        </p:spPr>
      </p:sp>
      <p:pic>
        <p:nvPicPr>
          <p:cNvPr id="7" name="Image 1" descr="preencoded.png">    </p:cNvPr>
          <p:cNvPicPr>
            <a:picLocks noChangeAspect="1"/>
          </p:cNvPicPr>
          <p:nvPr/>
        </p:nvPicPr>
        <p:blipFill>
          <a:blip r:embed="rId2"/>
          <a:stretch>
            <a:fillRect/>
          </a:stretch>
        </p:blipFill>
        <p:spPr>
          <a:xfrm>
            <a:off x="4967021" y="3092501"/>
            <a:ext cx="261518" cy="261518"/>
          </a:xfrm>
          <a:prstGeom prst="rect">
            <a:avLst/>
          </a:prstGeom>
        </p:spPr>
      </p:pic>
      <p:sp>
        <p:nvSpPr>
          <p:cNvPr id="8" name="Text 4"/>
          <p:cNvSpPr txBox="1"/>
          <p:nvPr/>
        </p:nvSpPr>
        <p:spPr>
          <a:xfrm>
            <a:off x="5577840" y="2953512"/>
            <a:ext cx="5760720" cy="292608"/>
          </a:xfrm>
          <a:prstGeom prst="rect">
            <a:avLst/>
          </a:prstGeom>
          <a:noFill/>
          <a:ln/>
        </p:spPr>
        <p:txBody>
          <a:bodyPr wrap="square" lIns="0" tIns="0" rIns="0" bIns="0" rtlCol="0" anchor="t"/>
          <a:lstStyle/>
          <a:p>
            <a:pPr indent="0" marL="0">
              <a:buNone/>
            </a:pPr>
            <a:r>
              <a:rPr lang="en-US" sz="1600" b="1" dirty="0">
                <a:solidFill>
                  <a:srgbClr val="F4F6F5"/>
                </a:solidFill>
                <a:latin typeface="Epilogue" pitchFamily="34" charset="0"/>
                <a:ea typeface="Epilogue" pitchFamily="34" charset="-122"/>
                <a:cs typeface="Epilogue" pitchFamily="34" charset="-120"/>
              </a:rPr>
              <a:t>Overdue &amp; blocked surfaced at the top</a:t>
            </a:r>
            <a:endParaRPr lang="en-US" sz="1600" dirty="0"/>
          </a:p>
        </p:txBody>
      </p:sp>
      <p:sp>
        <p:nvSpPr>
          <p:cNvPr id="9" name="Text 5"/>
          <p:cNvSpPr txBox="1"/>
          <p:nvPr/>
        </p:nvSpPr>
        <p:spPr>
          <a:xfrm>
            <a:off x="5577840" y="3264408"/>
            <a:ext cx="5760720" cy="457200"/>
          </a:xfrm>
          <a:prstGeom prst="rect">
            <a:avLst/>
          </a:prstGeom>
          <a:noFill/>
          <a:ln/>
        </p:spPr>
        <p:txBody>
          <a:bodyPr wrap="square" lIns="0" tIns="0" rIns="0" bIns="0" rtlCol="0" anchor="t"/>
          <a:lstStyle/>
          <a:p>
            <a:pPr indent="0" marL="0">
              <a:buNone/>
            </a:pPr>
            <a:r>
              <a:rPr lang="en-US" sz="1250" dirty="0">
                <a:solidFill>
                  <a:srgbClr val="9AA7A2"/>
                </a:solidFill>
                <a:latin typeface="Manrope" pitchFamily="34" charset="0"/>
                <a:ea typeface="Manrope" pitchFamily="34" charset="-122"/>
                <a:cs typeface="Manrope" pitchFamily="34" charset="-120"/>
              </a:rPr>
              <a:t>The queue is auto-sorted every morning, per person.</a:t>
            </a:r>
            <a:endParaRPr lang="en-US" sz="1250" dirty="0"/>
          </a:p>
        </p:txBody>
      </p:sp>
      <p:sp>
        <p:nvSpPr>
          <p:cNvPr id="10" name="Shape 6"/>
          <p:cNvSpPr/>
          <p:nvPr/>
        </p:nvSpPr>
        <p:spPr>
          <a:xfrm>
            <a:off x="4846320" y="3840480"/>
            <a:ext cx="502920" cy="502920"/>
          </a:xfrm>
          <a:prstGeom prst="roundRect">
            <a:avLst>
              <a:gd name="adj" fmla="val 28000"/>
            </a:avLst>
          </a:prstGeom>
          <a:solidFill>
            <a:srgbClr val="1C2123"/>
          </a:solidFill>
          <a:ln/>
        </p:spPr>
      </p:sp>
      <p:pic>
        <p:nvPicPr>
          <p:cNvPr id="11" name="Image 2" descr="preencoded.png">    </p:cNvPr>
          <p:cNvPicPr>
            <a:picLocks noChangeAspect="1"/>
          </p:cNvPicPr>
          <p:nvPr/>
        </p:nvPicPr>
        <p:blipFill>
          <a:blip r:embed="rId3"/>
          <a:stretch>
            <a:fillRect/>
          </a:stretch>
        </p:blipFill>
        <p:spPr>
          <a:xfrm>
            <a:off x="4967021" y="3961181"/>
            <a:ext cx="261518" cy="261518"/>
          </a:xfrm>
          <a:prstGeom prst="rect">
            <a:avLst/>
          </a:prstGeom>
        </p:spPr>
      </p:pic>
      <p:sp>
        <p:nvSpPr>
          <p:cNvPr id="12" name="Text 7"/>
          <p:cNvSpPr txBox="1"/>
          <p:nvPr/>
        </p:nvSpPr>
        <p:spPr>
          <a:xfrm>
            <a:off x="5577840" y="3822192"/>
            <a:ext cx="5760720" cy="292608"/>
          </a:xfrm>
          <a:prstGeom prst="rect">
            <a:avLst/>
          </a:prstGeom>
          <a:noFill/>
          <a:ln/>
        </p:spPr>
        <p:txBody>
          <a:bodyPr wrap="square" lIns="0" tIns="0" rIns="0" bIns="0" rtlCol="0" anchor="t"/>
          <a:lstStyle/>
          <a:p>
            <a:pPr indent="0" marL="0">
              <a:buNone/>
            </a:pPr>
            <a:r>
              <a:rPr lang="en-US" sz="1600" b="1" dirty="0">
                <a:solidFill>
                  <a:srgbClr val="F4F6F5"/>
                </a:solidFill>
                <a:latin typeface="Epilogue" pitchFamily="34" charset="0"/>
                <a:ea typeface="Epilogue" pitchFamily="34" charset="-122"/>
                <a:cs typeface="Epilogue" pitchFamily="34" charset="-120"/>
              </a:rPr>
              <a:t>One tap into a calm focus mode</a:t>
            </a:r>
            <a:endParaRPr lang="en-US" sz="1600" dirty="0"/>
          </a:p>
        </p:txBody>
      </p:sp>
      <p:sp>
        <p:nvSpPr>
          <p:cNvPr id="13" name="Text 8"/>
          <p:cNvSpPr txBox="1"/>
          <p:nvPr/>
        </p:nvSpPr>
        <p:spPr>
          <a:xfrm>
            <a:off x="5577840" y="4133088"/>
            <a:ext cx="5760720" cy="457200"/>
          </a:xfrm>
          <a:prstGeom prst="rect">
            <a:avLst/>
          </a:prstGeom>
          <a:noFill/>
          <a:ln/>
        </p:spPr>
        <p:txBody>
          <a:bodyPr wrap="square" lIns="0" tIns="0" rIns="0" bIns="0" rtlCol="0" anchor="t"/>
          <a:lstStyle/>
          <a:p>
            <a:pPr indent="0" marL="0">
              <a:buNone/>
            </a:pPr>
            <a:r>
              <a:rPr lang="en-US" sz="1250" dirty="0">
                <a:solidFill>
                  <a:srgbClr val="9AA7A2"/>
                </a:solidFill>
                <a:latin typeface="Manrope" pitchFamily="34" charset="0"/>
                <a:ea typeface="Manrope" pitchFamily="34" charset="-122"/>
                <a:cs typeface="Manrope" pitchFamily="34" charset="-120"/>
              </a:rPr>
              <a:t>Just today's work — nothing else competing for attention.</a:t>
            </a:r>
            <a:endParaRPr lang="en-US" sz="1250" dirty="0"/>
          </a:p>
        </p:txBody>
      </p:sp>
      <p:sp>
        <p:nvSpPr>
          <p:cNvPr id="14" name="Shape 9"/>
          <p:cNvSpPr/>
          <p:nvPr/>
        </p:nvSpPr>
        <p:spPr>
          <a:xfrm>
            <a:off x="4846320" y="4709160"/>
            <a:ext cx="502920" cy="502920"/>
          </a:xfrm>
          <a:prstGeom prst="roundRect">
            <a:avLst>
              <a:gd name="adj" fmla="val 28000"/>
            </a:avLst>
          </a:prstGeom>
          <a:solidFill>
            <a:srgbClr val="1C2123"/>
          </a:solidFill>
          <a:ln/>
        </p:spPr>
      </p:sp>
      <p:pic>
        <p:nvPicPr>
          <p:cNvPr id="15" name="Image 3" descr="preencoded.png">    </p:cNvPr>
          <p:cNvPicPr>
            <a:picLocks noChangeAspect="1"/>
          </p:cNvPicPr>
          <p:nvPr/>
        </p:nvPicPr>
        <p:blipFill>
          <a:blip r:embed="rId4"/>
          <a:stretch>
            <a:fillRect/>
          </a:stretch>
        </p:blipFill>
        <p:spPr>
          <a:xfrm>
            <a:off x="4967021" y="4829861"/>
            <a:ext cx="261518" cy="261518"/>
          </a:xfrm>
          <a:prstGeom prst="rect">
            <a:avLst/>
          </a:prstGeom>
        </p:spPr>
      </p:pic>
      <p:sp>
        <p:nvSpPr>
          <p:cNvPr id="16" name="Text 10"/>
          <p:cNvSpPr txBox="1"/>
          <p:nvPr/>
        </p:nvSpPr>
        <p:spPr>
          <a:xfrm>
            <a:off x="5577840" y="4690872"/>
            <a:ext cx="5760720" cy="292608"/>
          </a:xfrm>
          <a:prstGeom prst="rect">
            <a:avLst/>
          </a:prstGeom>
          <a:noFill/>
          <a:ln/>
        </p:spPr>
        <p:txBody>
          <a:bodyPr wrap="square" lIns="0" tIns="0" rIns="0" bIns="0" rtlCol="0" anchor="t"/>
          <a:lstStyle/>
          <a:p>
            <a:pPr indent="0" marL="0">
              <a:buNone/>
            </a:pPr>
            <a:r>
              <a:rPr lang="en-US" sz="1600" b="1" dirty="0">
                <a:solidFill>
                  <a:srgbClr val="F4F6F5"/>
                </a:solidFill>
                <a:latin typeface="Epilogue" pitchFamily="34" charset="0"/>
                <a:ea typeface="Epilogue" pitchFamily="34" charset="-122"/>
                <a:cs typeface="Epilogue" pitchFamily="34" charset="-120"/>
              </a:rPr>
              <a:t>Vibe status, so the team feels the load</a:t>
            </a:r>
            <a:endParaRPr lang="en-US" sz="1600" dirty="0"/>
          </a:p>
        </p:txBody>
      </p:sp>
      <p:sp>
        <p:nvSpPr>
          <p:cNvPr id="17" name="Text 11"/>
          <p:cNvSpPr txBox="1"/>
          <p:nvPr/>
        </p:nvSpPr>
        <p:spPr>
          <a:xfrm>
            <a:off x="5577840" y="5001768"/>
            <a:ext cx="5760720" cy="457200"/>
          </a:xfrm>
          <a:prstGeom prst="rect">
            <a:avLst/>
          </a:prstGeom>
          <a:noFill/>
          <a:ln/>
        </p:spPr>
        <p:txBody>
          <a:bodyPr wrap="square" lIns="0" tIns="0" rIns="0" bIns="0" rtlCol="0" anchor="t"/>
          <a:lstStyle/>
          <a:p>
            <a:pPr indent="0" marL="0">
              <a:buNone/>
            </a:pPr>
            <a:r>
              <a:rPr lang="en-US" sz="1250" dirty="0">
                <a:solidFill>
                  <a:srgbClr val="9AA7A2"/>
                </a:solidFill>
                <a:latin typeface="Manrope" pitchFamily="34" charset="0"/>
                <a:ea typeface="Manrope" pitchFamily="34" charset="-122"/>
                <a:cs typeface="Manrope" pitchFamily="34" charset="-120"/>
              </a:rPr>
              <a:t>Tap to set the mood of a task. Leads see pressure before it becomes a problem.</a:t>
            </a:r>
            <a:endParaRPr lang="en-US" sz="1250" dirty="0"/>
          </a:p>
        </p:txBody>
      </p:sp>
      <p:sp>
        <p:nvSpPr>
          <p:cNvPr id="18" name="Text 12"/>
          <p:cNvSpPr txBox="1"/>
          <p:nvPr/>
        </p:nvSpPr>
        <p:spPr>
          <a:xfrm>
            <a:off x="4846320" y="5669280"/>
            <a:ext cx="1828800" cy="274320"/>
          </a:xfrm>
          <a:prstGeom prst="rect">
            <a:avLst/>
          </a:prstGeom>
          <a:noFill/>
          <a:ln/>
        </p:spPr>
        <p:txBody>
          <a:bodyPr wrap="square" lIns="0" tIns="0" rIns="0" bIns="0" rtlCol="0" anchor="ctr"/>
          <a:lstStyle/>
          <a:p>
            <a:pPr indent="0" marL="0">
              <a:buNone/>
            </a:pPr>
            <a:r>
              <a:rPr lang="en-US" sz="900" b="1" spc="200" kern="0" dirty="0">
                <a:solidFill>
                  <a:srgbClr val="6B7773"/>
                </a:solidFill>
                <a:latin typeface="Plus Jakarta Sans" pitchFamily="34" charset="0"/>
                <a:ea typeface="Plus Jakarta Sans" pitchFamily="34" charset="-122"/>
                <a:cs typeface="Plus Jakarta Sans" pitchFamily="34" charset="-120"/>
              </a:rPr>
              <a:t>VIBE STATUS</a:t>
            </a:r>
            <a:endParaRPr lang="en-US" sz="900" dirty="0"/>
          </a:p>
        </p:txBody>
      </p:sp>
      <p:sp>
        <p:nvSpPr>
          <p:cNvPr id="19" name="Shape 13"/>
          <p:cNvSpPr/>
          <p:nvPr/>
        </p:nvSpPr>
        <p:spPr>
          <a:xfrm>
            <a:off x="6080760" y="5669280"/>
            <a:ext cx="845820" cy="292608"/>
          </a:xfrm>
          <a:prstGeom prst="roundRect">
            <a:avLst>
              <a:gd name="adj" fmla="val 50000"/>
            </a:avLst>
          </a:prstGeom>
          <a:solidFill>
            <a:srgbClr val="1C2123"/>
          </a:solidFill>
          <a:ln/>
        </p:spPr>
      </p:sp>
      <p:sp>
        <p:nvSpPr>
          <p:cNvPr id="20" name="Text 14"/>
          <p:cNvSpPr txBox="1"/>
          <p:nvPr/>
        </p:nvSpPr>
        <p:spPr>
          <a:xfrm>
            <a:off x="6080760" y="5669280"/>
            <a:ext cx="845820" cy="292608"/>
          </a:xfrm>
          <a:prstGeom prst="rect">
            <a:avLst/>
          </a:prstGeom>
          <a:noFill/>
          <a:ln/>
        </p:spPr>
        <p:txBody>
          <a:bodyPr wrap="square" lIns="0" tIns="0" rIns="0" bIns="0" rtlCol="0" anchor="ctr"/>
          <a:lstStyle/>
          <a:p>
            <a:pPr algn="ctr" indent="0" marL="0">
              <a:buNone/>
            </a:pPr>
            <a:r>
              <a:rPr lang="en-US" sz="950" b="1" dirty="0">
                <a:solidFill>
                  <a:srgbClr val="FF5C7A"/>
                </a:solidFill>
                <a:latin typeface="Manrope" pitchFamily="34" charset="0"/>
                <a:ea typeface="Manrope" pitchFamily="34" charset="-122"/>
                <a:cs typeface="Manrope" pitchFamily="34" charset="-120"/>
              </a:rPr>
              <a:t>On fire</a:t>
            </a:r>
            <a:endParaRPr lang="en-US" sz="950" dirty="0"/>
          </a:p>
        </p:txBody>
      </p:sp>
      <p:sp>
        <p:nvSpPr>
          <p:cNvPr id="21" name="Shape 15"/>
          <p:cNvSpPr/>
          <p:nvPr/>
        </p:nvSpPr>
        <p:spPr>
          <a:xfrm>
            <a:off x="7018020" y="5669280"/>
            <a:ext cx="1531620" cy="292608"/>
          </a:xfrm>
          <a:prstGeom prst="roundRect">
            <a:avLst>
              <a:gd name="adj" fmla="val 50000"/>
            </a:avLst>
          </a:prstGeom>
          <a:solidFill>
            <a:srgbClr val="1C2123"/>
          </a:solidFill>
          <a:ln/>
        </p:spPr>
      </p:sp>
      <p:sp>
        <p:nvSpPr>
          <p:cNvPr id="22" name="Text 16"/>
          <p:cNvSpPr txBox="1"/>
          <p:nvPr/>
        </p:nvSpPr>
        <p:spPr>
          <a:xfrm>
            <a:off x="7018020" y="5669280"/>
            <a:ext cx="1531620" cy="292608"/>
          </a:xfrm>
          <a:prstGeom prst="rect">
            <a:avLst/>
          </a:prstGeom>
          <a:noFill/>
          <a:ln/>
        </p:spPr>
        <p:txBody>
          <a:bodyPr wrap="square" lIns="0" tIns="0" rIns="0" bIns="0" rtlCol="0" anchor="ctr"/>
          <a:lstStyle/>
          <a:p>
            <a:pPr algn="ctr" indent="0" marL="0">
              <a:buNone/>
            </a:pPr>
            <a:r>
              <a:rPr lang="en-US" sz="950" b="1" dirty="0">
                <a:solidFill>
                  <a:srgbClr val="FFC24B"/>
                </a:solidFill>
                <a:latin typeface="Manrope" pitchFamily="34" charset="0"/>
                <a:ea typeface="Manrope" pitchFamily="34" charset="-122"/>
                <a:cs typeface="Manrope" pitchFamily="34" charset="-120"/>
              </a:rPr>
              <a:t>Waiting on client</a:t>
            </a:r>
            <a:endParaRPr lang="en-US" sz="950" dirty="0"/>
          </a:p>
        </p:txBody>
      </p:sp>
      <p:sp>
        <p:nvSpPr>
          <p:cNvPr id="23" name="Shape 17"/>
          <p:cNvSpPr/>
          <p:nvPr/>
        </p:nvSpPr>
        <p:spPr>
          <a:xfrm>
            <a:off x="8641080" y="5669280"/>
            <a:ext cx="1463040" cy="292608"/>
          </a:xfrm>
          <a:prstGeom prst="roundRect">
            <a:avLst>
              <a:gd name="adj" fmla="val 50000"/>
            </a:avLst>
          </a:prstGeom>
          <a:solidFill>
            <a:srgbClr val="1C2123"/>
          </a:solidFill>
          <a:ln/>
        </p:spPr>
      </p:sp>
      <p:sp>
        <p:nvSpPr>
          <p:cNvPr id="24" name="Text 18"/>
          <p:cNvSpPr txBox="1"/>
          <p:nvPr/>
        </p:nvSpPr>
        <p:spPr>
          <a:xfrm>
            <a:off x="8641080" y="5669280"/>
            <a:ext cx="1463040" cy="292608"/>
          </a:xfrm>
          <a:prstGeom prst="rect">
            <a:avLst/>
          </a:prstGeom>
          <a:noFill/>
          <a:ln/>
        </p:spPr>
        <p:txBody>
          <a:bodyPr wrap="square" lIns="0" tIns="0" rIns="0" bIns="0" rtlCol="0" anchor="ctr"/>
          <a:lstStyle/>
          <a:p>
            <a:pPr algn="ctr" indent="0" marL="0">
              <a:buNone/>
            </a:pPr>
            <a:r>
              <a:rPr lang="en-US" sz="950" b="1" dirty="0">
                <a:solidFill>
                  <a:srgbClr val="4ADE80"/>
                </a:solidFill>
                <a:latin typeface="Manrope" pitchFamily="34" charset="0"/>
                <a:ea typeface="Manrope" pitchFamily="34" charset="-122"/>
                <a:cs typeface="Manrope" pitchFamily="34" charset="-120"/>
              </a:rPr>
              <a:t>Ready for review</a:t>
            </a:r>
            <a:endParaRPr lang="en-US" sz="950" dirty="0"/>
          </a:p>
        </p:txBody>
      </p:sp>
      <p:sp>
        <p:nvSpPr>
          <p:cNvPr id="25" name="Shape 19"/>
          <p:cNvSpPr/>
          <p:nvPr/>
        </p:nvSpPr>
        <p:spPr>
          <a:xfrm>
            <a:off x="10195560" y="5669280"/>
            <a:ext cx="1051560" cy="292608"/>
          </a:xfrm>
          <a:prstGeom prst="roundRect">
            <a:avLst>
              <a:gd name="adj" fmla="val 50000"/>
            </a:avLst>
          </a:prstGeom>
          <a:solidFill>
            <a:srgbClr val="1C2123"/>
          </a:solidFill>
          <a:ln/>
        </p:spPr>
      </p:sp>
      <p:sp>
        <p:nvSpPr>
          <p:cNvPr id="26" name="Text 20"/>
          <p:cNvSpPr txBox="1"/>
          <p:nvPr/>
        </p:nvSpPr>
        <p:spPr>
          <a:xfrm>
            <a:off x="10195560" y="5669280"/>
            <a:ext cx="1051560" cy="292608"/>
          </a:xfrm>
          <a:prstGeom prst="rect">
            <a:avLst/>
          </a:prstGeom>
          <a:noFill/>
          <a:ln/>
        </p:spPr>
        <p:txBody>
          <a:bodyPr wrap="square" lIns="0" tIns="0" rIns="0" bIns="0" rtlCol="0" anchor="ctr"/>
          <a:lstStyle/>
          <a:p>
            <a:pPr algn="ctr" indent="0" marL="0">
              <a:buNone/>
            </a:pPr>
            <a:r>
              <a:rPr lang="en-US" sz="950" b="1" dirty="0">
                <a:solidFill>
                  <a:srgbClr val="9AA7A2"/>
                </a:solidFill>
                <a:latin typeface="Manrope" pitchFamily="34" charset="0"/>
                <a:ea typeface="Manrope" pitchFamily="34" charset="-122"/>
                <a:cs typeface="Manrope" pitchFamily="34" charset="-120"/>
              </a:rPr>
              <a:t>Backburner</a:t>
            </a:r>
            <a:endParaRPr lang="en-US" sz="950" dirty="0"/>
          </a:p>
        </p:txBody>
      </p:sp>
      <p:sp>
        <p:nvSpPr>
          <p:cNvPr id="27" name="Text 21"/>
          <p:cNvSpPr txBox="1"/>
          <p:nvPr/>
        </p:nvSpPr>
        <p:spPr>
          <a:xfrm>
            <a:off x="548640" y="6446520"/>
            <a:ext cx="5486400" cy="201168"/>
          </a:xfrm>
          <a:prstGeom prst="rect">
            <a:avLst/>
          </a:prstGeom>
          <a:noFill/>
          <a:ln/>
        </p:spPr>
        <p:txBody>
          <a:bodyPr wrap="square" lIns="0" tIns="0" rIns="0" bIns="0" rtlCol="0" anchor="t"/>
          <a:lstStyle/>
          <a:p>
            <a:pPr indent="0" marL="0">
              <a:buNone/>
            </a:pPr>
            <a:r>
              <a:rPr lang="en-US" sz="800" b="1" spc="200" kern="0" dirty="0">
                <a:solidFill>
                  <a:srgbClr val="6B7773"/>
                </a:solidFill>
                <a:latin typeface="Plus Jakarta Sans" pitchFamily="34" charset="0"/>
                <a:ea typeface="Plus Jakarta Sans" pitchFamily="34" charset="-122"/>
                <a:cs typeface="Plus Jakarta Sans" pitchFamily="34" charset="-120"/>
              </a:rPr>
              <a:t>BOD APP  ·  RUN YOUR STUDIO THE CALM WAY</a:t>
            </a:r>
            <a:endParaRPr lang="en-US" sz="800" dirty="0"/>
          </a:p>
        </p:txBody>
      </p:sp>
      <p:sp>
        <p:nvSpPr>
          <p:cNvPr id="28" name="Text 22"/>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b="1" dirty="0">
                <a:solidFill>
                  <a:srgbClr val="6B7773"/>
                </a:solidFill>
                <a:latin typeface="Plus Jakarta Sans" pitchFamily="34" charset="0"/>
                <a:ea typeface="Plus Jakarta Sans" pitchFamily="34" charset="-122"/>
                <a:cs typeface="Plus Jakarta Sans"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04  ·  THE WORKFLOW</a:t>
            </a:r>
            <a:endParaRPr lang="en-US" sz="1000" dirty="0"/>
          </a:p>
        </p:txBody>
      </p:sp>
      <p:sp>
        <p:nvSpPr>
          <p:cNvPr id="3" name="Text 1"/>
          <p:cNvSpPr txBox="1"/>
          <p:nvPr/>
        </p:nvSpPr>
        <p:spPr>
          <a:xfrm>
            <a:off x="7985455" y="457200"/>
            <a:ext cx="3657600" cy="228600"/>
          </a:xfrm>
          <a:prstGeom prst="rect">
            <a:avLst/>
          </a:prstGeom>
          <a:noFill/>
          <a:ln/>
        </p:spPr>
        <p:txBody>
          <a:bodyPr wrap="square" lIns="0" tIns="0" rIns="0" bIns="0" rtlCol="0" anchor="t"/>
          <a:lstStyle/>
          <a:p>
            <a:pPr algn="r" indent="0" marL="0">
              <a:buNone/>
            </a:pPr>
            <a:r>
              <a:rPr lang="en-US" sz="900" b="1" spc="200" kern="0" dirty="0">
                <a:solidFill>
                  <a:srgbClr val="6B7773"/>
                </a:solidFill>
                <a:latin typeface="Plus Jakarta Sans" pitchFamily="34" charset="0"/>
                <a:ea typeface="Plus Jakarta Sans" pitchFamily="34" charset="-122"/>
                <a:cs typeface="Plus Jakarta Sans" pitchFamily="34" charset="-120"/>
              </a:rPr>
              <a:t>BOD APP  /  SALES DECK</a:t>
            </a:r>
            <a:endParaRPr lang="en-US" sz="9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indent="0" marL="0">
              <a:buNone/>
            </a:pPr>
            <a:r>
              <a:rPr lang="en-US" sz="3400" b="1" dirty="0">
                <a:solidFill>
                  <a:srgbClr val="F4F6F5"/>
                </a:solidFill>
                <a:latin typeface="Epilogue" pitchFamily="34" charset="0"/>
                <a:ea typeface="Epilogue" pitchFamily="34" charset="-122"/>
                <a:cs typeface="Epilogue" pitchFamily="34" charset="-120"/>
              </a:rPr>
              <a:t>Brief to billed.</a:t>
            </a:r>
            <a:endParaRPr lang="en-US" sz="3400" dirty="0"/>
          </a:p>
        </p:txBody>
      </p:sp>
      <p:sp>
        <p:nvSpPr>
          <p:cNvPr id="5" name="Text 3"/>
          <p:cNvSpPr txBox="1"/>
          <p:nvPr/>
        </p:nvSpPr>
        <p:spPr>
          <a:xfrm>
            <a:off x="548640" y="1536192"/>
            <a:ext cx="11094415" cy="548640"/>
          </a:xfrm>
          <a:prstGeom prst="rect">
            <a:avLst/>
          </a:prstGeom>
          <a:noFill/>
          <a:ln/>
        </p:spPr>
        <p:txBody>
          <a:bodyPr wrap="square" lIns="0" tIns="0" rIns="0" bIns="0" rtlCol="0" anchor="t"/>
          <a:lstStyle/>
          <a:p>
            <a:pPr indent="0" marL="0">
              <a:lnSpc>
                <a:spcPct val="115000"/>
              </a:lnSpc>
              <a:buNone/>
            </a:pPr>
            <a:r>
              <a:rPr lang="en-US" sz="1500" dirty="0">
                <a:solidFill>
                  <a:srgbClr val="9AA7A2"/>
                </a:solidFill>
                <a:latin typeface="Manrope" pitchFamily="34" charset="0"/>
                <a:ea typeface="Manrope" pitchFamily="34" charset="-122"/>
                <a:cs typeface="Manrope" pitchFamily="34" charset="-120"/>
              </a:rPr>
              <a:t>Five stages, role-aware at every step. Nothing shipped goes uninvoiced.</a:t>
            </a:r>
            <a:endParaRPr lang="en-US" sz="1500" dirty="0"/>
          </a:p>
        </p:txBody>
      </p:sp>
      <p:sp>
        <p:nvSpPr>
          <p:cNvPr id="6" name="Shape 4"/>
          <p:cNvSpPr/>
          <p:nvPr/>
        </p:nvSpPr>
        <p:spPr>
          <a:xfrm>
            <a:off x="1005840" y="2852928"/>
            <a:ext cx="10180015" cy="0"/>
          </a:xfrm>
          <a:prstGeom prst="line">
            <a:avLst/>
          </a:prstGeom>
          <a:noFill/>
          <a:ln w="19050">
            <a:solidFill>
              <a:srgbClr val="262C2E"/>
            </a:solidFill>
            <a:prstDash val="dash"/>
          </a:ln>
        </p:spPr>
      </p:sp>
      <p:sp>
        <p:nvSpPr>
          <p:cNvPr id="7" name="Shape 5"/>
          <p:cNvSpPr/>
          <p:nvPr/>
        </p:nvSpPr>
        <p:spPr>
          <a:xfrm>
            <a:off x="548640" y="2286000"/>
            <a:ext cx="2057400" cy="2834640"/>
          </a:xfrm>
          <a:prstGeom prst="roundRect">
            <a:avLst>
              <a:gd name="adj" fmla="val 7111"/>
            </a:avLst>
          </a:prstGeom>
          <a:solidFill>
            <a:srgbClr val="15191A"/>
          </a:solidFill>
          <a:ln w="9525">
            <a:solidFill>
              <a:srgbClr val="262C2E"/>
            </a:solidFill>
            <a:prstDash val="solid"/>
          </a:ln>
        </p:spPr>
      </p:sp>
      <p:sp>
        <p:nvSpPr>
          <p:cNvPr id="8" name="Shape 6"/>
          <p:cNvSpPr/>
          <p:nvPr/>
        </p:nvSpPr>
        <p:spPr>
          <a:xfrm>
            <a:off x="777240" y="2560320"/>
            <a:ext cx="566928" cy="566928"/>
          </a:xfrm>
          <a:prstGeom prst="ellipse">
            <a:avLst/>
          </a:prstGeom>
          <a:solidFill>
            <a:srgbClr val="9AA7A2"/>
          </a:solidFill>
          <a:ln/>
        </p:spPr>
      </p:sp>
      <p:sp>
        <p:nvSpPr>
          <p:cNvPr id="9" name="Text 7"/>
          <p:cNvSpPr txBox="1"/>
          <p:nvPr/>
        </p:nvSpPr>
        <p:spPr>
          <a:xfrm>
            <a:off x="777240" y="2560320"/>
            <a:ext cx="566928" cy="566928"/>
          </a:xfrm>
          <a:prstGeom prst="rect">
            <a:avLst/>
          </a:prstGeom>
          <a:noFill/>
          <a:ln/>
        </p:spPr>
        <p:txBody>
          <a:bodyPr wrap="square" lIns="0" tIns="0" rIns="0" bIns="0" rtlCol="0" anchor="ctr"/>
          <a:lstStyle/>
          <a:p>
            <a:pPr algn="ctr" indent="0" marL="0">
              <a:buNone/>
            </a:pPr>
            <a:r>
              <a:rPr lang="en-US" sz="1800" b="1" dirty="0">
                <a:solidFill>
                  <a:srgbClr val="0B0D0C"/>
                </a:solidFill>
                <a:latin typeface="Epilogue" pitchFamily="34" charset="0"/>
                <a:ea typeface="Epilogue" pitchFamily="34" charset="-122"/>
                <a:cs typeface="Epilogue" pitchFamily="34" charset="-120"/>
              </a:rPr>
              <a:t>1</a:t>
            </a:r>
            <a:endParaRPr lang="en-US" sz="1800" dirty="0"/>
          </a:p>
        </p:txBody>
      </p:sp>
      <p:sp>
        <p:nvSpPr>
          <p:cNvPr id="10" name="Text 8"/>
          <p:cNvSpPr txBox="1"/>
          <p:nvPr/>
        </p:nvSpPr>
        <p:spPr>
          <a:xfrm>
            <a:off x="777240" y="3310128"/>
            <a:ext cx="1691640" cy="365760"/>
          </a:xfrm>
          <a:prstGeom prst="rect">
            <a:avLst/>
          </a:prstGeom>
          <a:noFill/>
          <a:ln/>
        </p:spPr>
        <p:txBody>
          <a:bodyPr wrap="square" lIns="0" tIns="0" rIns="0" bIns="0" rtlCol="0" anchor="t"/>
          <a:lstStyle/>
          <a:p>
            <a:pPr indent="0" marL="0">
              <a:buNone/>
            </a:pPr>
            <a:r>
              <a:rPr lang="en-US" sz="1800" b="1" dirty="0">
                <a:solidFill>
                  <a:srgbClr val="F4F6F5"/>
                </a:solidFill>
                <a:latin typeface="Epilogue" pitchFamily="34" charset="0"/>
                <a:ea typeface="Epilogue" pitchFamily="34" charset="-122"/>
                <a:cs typeface="Epilogue" pitchFamily="34" charset="-120"/>
              </a:rPr>
              <a:t>Pending</a:t>
            </a:r>
            <a:endParaRPr lang="en-US" sz="1800" dirty="0"/>
          </a:p>
        </p:txBody>
      </p:sp>
      <p:sp>
        <p:nvSpPr>
          <p:cNvPr id="11" name="Text 9"/>
          <p:cNvSpPr txBox="1"/>
          <p:nvPr/>
        </p:nvSpPr>
        <p:spPr>
          <a:xfrm>
            <a:off x="777240" y="3730752"/>
            <a:ext cx="1645920" cy="731520"/>
          </a:xfrm>
          <a:prstGeom prst="rect">
            <a:avLst/>
          </a:prstGeom>
          <a:noFill/>
          <a:ln/>
        </p:spPr>
        <p:txBody>
          <a:bodyPr wrap="square" lIns="0" tIns="0" rIns="0" bIns="0" rtlCol="0" anchor="t"/>
          <a:lstStyle/>
          <a:p>
            <a:pPr indent="0" marL="0">
              <a:lnSpc>
                <a:spcPct val="115000"/>
              </a:lnSpc>
              <a:buNone/>
            </a:pPr>
            <a:r>
              <a:rPr lang="en-US" sz="1250" dirty="0">
                <a:solidFill>
                  <a:srgbClr val="9AA7A2"/>
                </a:solidFill>
                <a:latin typeface="Manrope" pitchFamily="34" charset="0"/>
                <a:ea typeface="Manrope" pitchFamily="34" charset="-122"/>
                <a:cs typeface="Manrope" pitchFamily="34" charset="-120"/>
              </a:rPr>
              <a:t>Captured or requested. Waits for approval.</a:t>
            </a:r>
            <a:endParaRPr lang="en-US" sz="1250" dirty="0"/>
          </a:p>
        </p:txBody>
      </p:sp>
      <p:sp>
        <p:nvSpPr>
          <p:cNvPr id="12" name="Shape 10"/>
          <p:cNvSpPr/>
          <p:nvPr/>
        </p:nvSpPr>
        <p:spPr>
          <a:xfrm>
            <a:off x="777240" y="4553712"/>
            <a:ext cx="1600200" cy="329184"/>
          </a:xfrm>
          <a:prstGeom prst="roundRect">
            <a:avLst>
              <a:gd name="adj" fmla="val 50000"/>
            </a:avLst>
          </a:prstGeom>
          <a:solidFill>
            <a:srgbClr val="1C2123"/>
          </a:solidFill>
          <a:ln/>
        </p:spPr>
      </p:sp>
      <p:sp>
        <p:nvSpPr>
          <p:cNvPr id="13" name="Text 11"/>
          <p:cNvSpPr txBox="1"/>
          <p:nvPr/>
        </p:nvSpPr>
        <p:spPr>
          <a:xfrm>
            <a:off x="777240" y="4553712"/>
            <a:ext cx="1600200" cy="329184"/>
          </a:xfrm>
          <a:prstGeom prst="rect">
            <a:avLst/>
          </a:prstGeom>
          <a:noFill/>
          <a:ln/>
        </p:spPr>
        <p:txBody>
          <a:bodyPr wrap="square" lIns="0" tIns="0" rIns="0" bIns="0" rtlCol="0" anchor="ctr"/>
          <a:lstStyle/>
          <a:p>
            <a:pPr algn="ctr" indent="0" marL="0">
              <a:buNone/>
            </a:pPr>
            <a:r>
              <a:rPr lang="en-US" sz="850" b="1" spc="120" kern="0" dirty="0">
                <a:solidFill>
                  <a:srgbClr val="9AA7A2"/>
                </a:solidFill>
                <a:latin typeface="Plus Jakarta Sans" pitchFamily="34" charset="0"/>
                <a:ea typeface="Plus Jakarta Sans" pitchFamily="34" charset="-122"/>
                <a:cs typeface="Plus Jakarta Sans" pitchFamily="34" charset="-120"/>
              </a:rPr>
              <a:t>PM APPROVES</a:t>
            </a:r>
            <a:endParaRPr lang="en-US" sz="850" dirty="0"/>
          </a:p>
        </p:txBody>
      </p:sp>
      <p:sp>
        <p:nvSpPr>
          <p:cNvPr id="14" name="Text 12"/>
          <p:cNvSpPr txBox="1"/>
          <p:nvPr/>
        </p:nvSpPr>
        <p:spPr>
          <a:xfrm>
            <a:off x="2606040" y="2651760"/>
            <a:ext cx="201854" cy="384048"/>
          </a:xfrm>
          <a:prstGeom prst="rect">
            <a:avLst/>
          </a:prstGeom>
          <a:noFill/>
          <a:ln/>
        </p:spPr>
        <p:txBody>
          <a:bodyPr wrap="square" lIns="0" tIns="0" rIns="0" bIns="0" rtlCol="0" anchor="ctr"/>
          <a:lstStyle/>
          <a:p>
            <a:pPr algn="ctr" indent="0" marL="0">
              <a:buNone/>
            </a:pPr>
            <a:r>
              <a:rPr lang="en-US" sz="1600" b="1" dirty="0">
                <a:solidFill>
                  <a:srgbClr val="6B7773"/>
                </a:solidFill>
                <a:latin typeface="Manrope" pitchFamily="34" charset="0"/>
                <a:ea typeface="Manrope" pitchFamily="34" charset="-122"/>
                <a:cs typeface="Manrope" pitchFamily="34" charset="-120"/>
              </a:rPr>
              <a:t>→</a:t>
            </a:r>
            <a:endParaRPr lang="en-US" sz="1600" dirty="0"/>
          </a:p>
        </p:txBody>
      </p:sp>
      <p:sp>
        <p:nvSpPr>
          <p:cNvPr id="15" name="Shape 13"/>
          <p:cNvSpPr/>
          <p:nvPr/>
        </p:nvSpPr>
        <p:spPr>
          <a:xfrm>
            <a:off x="2807894" y="2286000"/>
            <a:ext cx="2057400" cy="2834640"/>
          </a:xfrm>
          <a:prstGeom prst="roundRect">
            <a:avLst>
              <a:gd name="adj" fmla="val 7111"/>
            </a:avLst>
          </a:prstGeom>
          <a:solidFill>
            <a:srgbClr val="15191A"/>
          </a:solidFill>
          <a:ln w="9525">
            <a:solidFill>
              <a:srgbClr val="262C2E"/>
            </a:solidFill>
            <a:prstDash val="solid"/>
          </a:ln>
        </p:spPr>
      </p:sp>
      <p:sp>
        <p:nvSpPr>
          <p:cNvPr id="16" name="Shape 14"/>
          <p:cNvSpPr/>
          <p:nvPr/>
        </p:nvSpPr>
        <p:spPr>
          <a:xfrm>
            <a:off x="3036494" y="2560320"/>
            <a:ext cx="566928" cy="566928"/>
          </a:xfrm>
          <a:prstGeom prst="ellipse">
            <a:avLst/>
          </a:prstGeom>
          <a:solidFill>
            <a:srgbClr val="5B8CF0"/>
          </a:solidFill>
          <a:ln/>
        </p:spPr>
      </p:sp>
      <p:sp>
        <p:nvSpPr>
          <p:cNvPr id="17" name="Text 15"/>
          <p:cNvSpPr txBox="1"/>
          <p:nvPr/>
        </p:nvSpPr>
        <p:spPr>
          <a:xfrm>
            <a:off x="3036494" y="2560320"/>
            <a:ext cx="566928" cy="566928"/>
          </a:xfrm>
          <a:prstGeom prst="rect">
            <a:avLst/>
          </a:prstGeom>
          <a:noFill/>
          <a:ln/>
        </p:spPr>
        <p:txBody>
          <a:bodyPr wrap="square" lIns="0" tIns="0" rIns="0" bIns="0" rtlCol="0" anchor="ctr"/>
          <a:lstStyle/>
          <a:p>
            <a:pPr algn="ctr" indent="0" marL="0">
              <a:buNone/>
            </a:pPr>
            <a:r>
              <a:rPr lang="en-US" sz="1800" b="1" dirty="0">
                <a:solidFill>
                  <a:srgbClr val="0B0D0C"/>
                </a:solidFill>
                <a:latin typeface="Epilogue" pitchFamily="34" charset="0"/>
                <a:ea typeface="Epilogue" pitchFamily="34" charset="-122"/>
                <a:cs typeface="Epilogue" pitchFamily="34" charset="-120"/>
              </a:rPr>
              <a:t>2</a:t>
            </a:r>
            <a:endParaRPr lang="en-US" sz="1800" dirty="0"/>
          </a:p>
        </p:txBody>
      </p:sp>
      <p:sp>
        <p:nvSpPr>
          <p:cNvPr id="18" name="Text 16"/>
          <p:cNvSpPr txBox="1"/>
          <p:nvPr/>
        </p:nvSpPr>
        <p:spPr>
          <a:xfrm>
            <a:off x="3036494" y="3310128"/>
            <a:ext cx="1691640" cy="365760"/>
          </a:xfrm>
          <a:prstGeom prst="rect">
            <a:avLst/>
          </a:prstGeom>
          <a:noFill/>
          <a:ln/>
        </p:spPr>
        <p:txBody>
          <a:bodyPr wrap="square" lIns="0" tIns="0" rIns="0" bIns="0" rtlCol="0" anchor="t"/>
          <a:lstStyle/>
          <a:p>
            <a:pPr indent="0" marL="0">
              <a:buNone/>
            </a:pPr>
            <a:r>
              <a:rPr lang="en-US" sz="1800" b="1" dirty="0">
                <a:solidFill>
                  <a:srgbClr val="F4F6F5"/>
                </a:solidFill>
                <a:latin typeface="Epilogue" pitchFamily="34" charset="0"/>
                <a:ea typeface="Epilogue" pitchFamily="34" charset="-122"/>
                <a:cs typeface="Epilogue" pitchFamily="34" charset="-120"/>
              </a:rPr>
              <a:t>In Progress</a:t>
            </a:r>
            <a:endParaRPr lang="en-US" sz="1800" dirty="0"/>
          </a:p>
        </p:txBody>
      </p:sp>
      <p:sp>
        <p:nvSpPr>
          <p:cNvPr id="19" name="Text 17"/>
          <p:cNvSpPr txBox="1"/>
          <p:nvPr/>
        </p:nvSpPr>
        <p:spPr>
          <a:xfrm>
            <a:off x="3036494" y="3730752"/>
            <a:ext cx="1645920" cy="731520"/>
          </a:xfrm>
          <a:prstGeom prst="rect">
            <a:avLst/>
          </a:prstGeom>
          <a:noFill/>
          <a:ln/>
        </p:spPr>
        <p:txBody>
          <a:bodyPr wrap="square" lIns="0" tIns="0" rIns="0" bIns="0" rtlCol="0" anchor="t"/>
          <a:lstStyle/>
          <a:p>
            <a:pPr indent="0" marL="0">
              <a:lnSpc>
                <a:spcPct val="115000"/>
              </a:lnSpc>
              <a:buNone/>
            </a:pPr>
            <a:r>
              <a:rPr lang="en-US" sz="1250" dirty="0">
                <a:solidFill>
                  <a:srgbClr val="9AA7A2"/>
                </a:solidFill>
                <a:latin typeface="Manrope" pitchFamily="34" charset="0"/>
                <a:ea typeface="Manrope" pitchFamily="34" charset="-122"/>
                <a:cs typeface="Manrope" pitchFamily="34" charset="-120"/>
              </a:rPr>
              <a:t>Assigned and moving, with a live vibe.</a:t>
            </a:r>
            <a:endParaRPr lang="en-US" sz="1250" dirty="0"/>
          </a:p>
        </p:txBody>
      </p:sp>
      <p:sp>
        <p:nvSpPr>
          <p:cNvPr id="20" name="Shape 18"/>
          <p:cNvSpPr/>
          <p:nvPr/>
        </p:nvSpPr>
        <p:spPr>
          <a:xfrm>
            <a:off x="3036494" y="4553712"/>
            <a:ext cx="1600200" cy="329184"/>
          </a:xfrm>
          <a:prstGeom prst="roundRect">
            <a:avLst>
              <a:gd name="adj" fmla="val 50000"/>
            </a:avLst>
          </a:prstGeom>
          <a:solidFill>
            <a:srgbClr val="1C2123"/>
          </a:solidFill>
          <a:ln/>
        </p:spPr>
      </p:sp>
      <p:sp>
        <p:nvSpPr>
          <p:cNvPr id="21" name="Text 19"/>
          <p:cNvSpPr txBox="1"/>
          <p:nvPr/>
        </p:nvSpPr>
        <p:spPr>
          <a:xfrm>
            <a:off x="3036494" y="4553712"/>
            <a:ext cx="1600200" cy="329184"/>
          </a:xfrm>
          <a:prstGeom prst="rect">
            <a:avLst/>
          </a:prstGeom>
          <a:noFill/>
          <a:ln/>
        </p:spPr>
        <p:txBody>
          <a:bodyPr wrap="square" lIns="0" tIns="0" rIns="0" bIns="0" rtlCol="0" anchor="ctr"/>
          <a:lstStyle/>
          <a:p>
            <a:pPr algn="ctr" indent="0" marL="0">
              <a:buNone/>
            </a:pPr>
            <a:r>
              <a:rPr lang="en-US" sz="850" b="1" spc="120" kern="0" dirty="0">
                <a:solidFill>
                  <a:srgbClr val="5B8CF0"/>
                </a:solidFill>
                <a:latin typeface="Plus Jakarta Sans" pitchFamily="34" charset="0"/>
                <a:ea typeface="Plus Jakarta Sans" pitchFamily="34" charset="-122"/>
                <a:cs typeface="Plus Jakarta Sans" pitchFamily="34" charset="-120"/>
              </a:rPr>
              <a:t>TEAM OWNS</a:t>
            </a:r>
            <a:endParaRPr lang="en-US" sz="850" dirty="0"/>
          </a:p>
        </p:txBody>
      </p:sp>
      <p:sp>
        <p:nvSpPr>
          <p:cNvPr id="22" name="Text 20"/>
          <p:cNvSpPr txBox="1"/>
          <p:nvPr/>
        </p:nvSpPr>
        <p:spPr>
          <a:xfrm>
            <a:off x="4865294" y="2651760"/>
            <a:ext cx="201854" cy="384048"/>
          </a:xfrm>
          <a:prstGeom prst="rect">
            <a:avLst/>
          </a:prstGeom>
          <a:noFill/>
          <a:ln/>
        </p:spPr>
        <p:txBody>
          <a:bodyPr wrap="square" lIns="0" tIns="0" rIns="0" bIns="0" rtlCol="0" anchor="ctr"/>
          <a:lstStyle/>
          <a:p>
            <a:pPr algn="ctr" indent="0" marL="0">
              <a:buNone/>
            </a:pPr>
            <a:r>
              <a:rPr lang="en-US" sz="1600" b="1" dirty="0">
                <a:solidFill>
                  <a:srgbClr val="6B7773"/>
                </a:solidFill>
                <a:latin typeface="Manrope" pitchFamily="34" charset="0"/>
                <a:ea typeface="Manrope" pitchFamily="34" charset="-122"/>
                <a:cs typeface="Manrope" pitchFamily="34" charset="-120"/>
              </a:rPr>
              <a:t>→</a:t>
            </a:r>
            <a:endParaRPr lang="en-US" sz="1600" dirty="0"/>
          </a:p>
        </p:txBody>
      </p:sp>
      <p:sp>
        <p:nvSpPr>
          <p:cNvPr id="23" name="Shape 21"/>
          <p:cNvSpPr/>
          <p:nvPr/>
        </p:nvSpPr>
        <p:spPr>
          <a:xfrm>
            <a:off x="5067148" y="2286000"/>
            <a:ext cx="2057400" cy="2834640"/>
          </a:xfrm>
          <a:prstGeom prst="roundRect">
            <a:avLst>
              <a:gd name="adj" fmla="val 7111"/>
            </a:avLst>
          </a:prstGeom>
          <a:solidFill>
            <a:srgbClr val="15191A"/>
          </a:solidFill>
          <a:ln w="9525">
            <a:solidFill>
              <a:srgbClr val="262C2E"/>
            </a:solidFill>
            <a:prstDash val="solid"/>
          </a:ln>
        </p:spPr>
      </p:sp>
      <p:sp>
        <p:nvSpPr>
          <p:cNvPr id="24" name="Shape 22"/>
          <p:cNvSpPr/>
          <p:nvPr/>
        </p:nvSpPr>
        <p:spPr>
          <a:xfrm>
            <a:off x="5295748" y="2560320"/>
            <a:ext cx="566928" cy="566928"/>
          </a:xfrm>
          <a:prstGeom prst="ellipse">
            <a:avLst/>
          </a:prstGeom>
          <a:solidFill>
            <a:srgbClr val="4ADE80"/>
          </a:solidFill>
          <a:ln/>
        </p:spPr>
      </p:sp>
      <p:sp>
        <p:nvSpPr>
          <p:cNvPr id="25" name="Text 23"/>
          <p:cNvSpPr txBox="1"/>
          <p:nvPr/>
        </p:nvSpPr>
        <p:spPr>
          <a:xfrm>
            <a:off x="5295748" y="2560320"/>
            <a:ext cx="566928" cy="566928"/>
          </a:xfrm>
          <a:prstGeom prst="rect">
            <a:avLst/>
          </a:prstGeom>
          <a:noFill/>
          <a:ln/>
        </p:spPr>
        <p:txBody>
          <a:bodyPr wrap="square" lIns="0" tIns="0" rIns="0" bIns="0" rtlCol="0" anchor="ctr"/>
          <a:lstStyle/>
          <a:p>
            <a:pPr algn="ctr" indent="0" marL="0">
              <a:buNone/>
            </a:pPr>
            <a:r>
              <a:rPr lang="en-US" sz="1800" b="1" dirty="0">
                <a:solidFill>
                  <a:srgbClr val="0B0D0C"/>
                </a:solidFill>
                <a:latin typeface="Epilogue" pitchFamily="34" charset="0"/>
                <a:ea typeface="Epilogue" pitchFamily="34" charset="-122"/>
                <a:cs typeface="Epilogue" pitchFamily="34" charset="-120"/>
              </a:rPr>
              <a:t>3</a:t>
            </a:r>
            <a:endParaRPr lang="en-US" sz="1800" dirty="0"/>
          </a:p>
        </p:txBody>
      </p:sp>
      <p:sp>
        <p:nvSpPr>
          <p:cNvPr id="26" name="Text 24"/>
          <p:cNvSpPr txBox="1"/>
          <p:nvPr/>
        </p:nvSpPr>
        <p:spPr>
          <a:xfrm>
            <a:off x="5295748" y="3310128"/>
            <a:ext cx="1691640" cy="365760"/>
          </a:xfrm>
          <a:prstGeom prst="rect">
            <a:avLst/>
          </a:prstGeom>
          <a:noFill/>
          <a:ln/>
        </p:spPr>
        <p:txBody>
          <a:bodyPr wrap="square" lIns="0" tIns="0" rIns="0" bIns="0" rtlCol="0" anchor="t"/>
          <a:lstStyle/>
          <a:p>
            <a:pPr indent="0" marL="0">
              <a:buNone/>
            </a:pPr>
            <a:r>
              <a:rPr lang="en-US" sz="1800" b="1" dirty="0">
                <a:solidFill>
                  <a:srgbClr val="F4F6F5"/>
                </a:solidFill>
                <a:latin typeface="Epilogue" pitchFamily="34" charset="0"/>
                <a:ea typeface="Epilogue" pitchFamily="34" charset="-122"/>
                <a:cs typeface="Epilogue" pitchFamily="34" charset="-120"/>
              </a:rPr>
              <a:t>Completed</a:t>
            </a:r>
            <a:endParaRPr lang="en-US" sz="1800" dirty="0"/>
          </a:p>
        </p:txBody>
      </p:sp>
      <p:sp>
        <p:nvSpPr>
          <p:cNvPr id="27" name="Text 25"/>
          <p:cNvSpPr txBox="1"/>
          <p:nvPr/>
        </p:nvSpPr>
        <p:spPr>
          <a:xfrm>
            <a:off x="5295748" y="3730752"/>
            <a:ext cx="1645920" cy="731520"/>
          </a:xfrm>
          <a:prstGeom prst="rect">
            <a:avLst/>
          </a:prstGeom>
          <a:noFill/>
          <a:ln/>
        </p:spPr>
        <p:txBody>
          <a:bodyPr wrap="square" lIns="0" tIns="0" rIns="0" bIns="0" rtlCol="0" anchor="t"/>
          <a:lstStyle/>
          <a:p>
            <a:pPr indent="0" marL="0">
              <a:lnSpc>
                <a:spcPct val="115000"/>
              </a:lnSpc>
              <a:buNone/>
            </a:pPr>
            <a:r>
              <a:rPr lang="en-US" sz="1250" dirty="0">
                <a:solidFill>
                  <a:srgbClr val="9AA7A2"/>
                </a:solidFill>
                <a:latin typeface="Manrope" pitchFamily="34" charset="0"/>
                <a:ea typeface="Manrope" pitchFamily="34" charset="-122"/>
                <a:cs typeface="Manrope" pitchFamily="34" charset="-120"/>
              </a:rPr>
              <a:t>Delivered. Counts toward your week.</a:t>
            </a:r>
            <a:endParaRPr lang="en-US" sz="1250" dirty="0"/>
          </a:p>
        </p:txBody>
      </p:sp>
      <p:sp>
        <p:nvSpPr>
          <p:cNvPr id="28" name="Shape 26"/>
          <p:cNvSpPr/>
          <p:nvPr/>
        </p:nvSpPr>
        <p:spPr>
          <a:xfrm>
            <a:off x="5295748" y="4553712"/>
            <a:ext cx="1600200" cy="329184"/>
          </a:xfrm>
          <a:prstGeom prst="roundRect">
            <a:avLst>
              <a:gd name="adj" fmla="val 50000"/>
            </a:avLst>
          </a:prstGeom>
          <a:solidFill>
            <a:srgbClr val="1C2123"/>
          </a:solidFill>
          <a:ln/>
        </p:spPr>
      </p:sp>
      <p:sp>
        <p:nvSpPr>
          <p:cNvPr id="29" name="Text 27"/>
          <p:cNvSpPr txBox="1"/>
          <p:nvPr/>
        </p:nvSpPr>
        <p:spPr>
          <a:xfrm>
            <a:off x="5295748" y="4553712"/>
            <a:ext cx="1600200" cy="329184"/>
          </a:xfrm>
          <a:prstGeom prst="rect">
            <a:avLst/>
          </a:prstGeom>
          <a:noFill/>
          <a:ln/>
        </p:spPr>
        <p:txBody>
          <a:bodyPr wrap="square" lIns="0" tIns="0" rIns="0" bIns="0" rtlCol="0" anchor="ctr"/>
          <a:lstStyle/>
          <a:p>
            <a:pPr algn="ctr" indent="0" marL="0">
              <a:buNone/>
            </a:pPr>
            <a:r>
              <a:rPr lang="en-US" sz="850" b="1" spc="120" kern="0" dirty="0">
                <a:solidFill>
                  <a:srgbClr val="4ADE80"/>
                </a:solidFill>
                <a:latin typeface="Plus Jakarta Sans" pitchFamily="34" charset="0"/>
                <a:ea typeface="Plus Jakarta Sans" pitchFamily="34" charset="-122"/>
                <a:cs typeface="Plus Jakarta Sans" pitchFamily="34" charset="-120"/>
              </a:rPr>
              <a:t>TEAM MARKS</a:t>
            </a:r>
            <a:endParaRPr lang="en-US" sz="850" dirty="0"/>
          </a:p>
        </p:txBody>
      </p:sp>
      <p:sp>
        <p:nvSpPr>
          <p:cNvPr id="30" name="Text 28"/>
          <p:cNvSpPr txBox="1"/>
          <p:nvPr/>
        </p:nvSpPr>
        <p:spPr>
          <a:xfrm>
            <a:off x="7124548" y="2651760"/>
            <a:ext cx="201854" cy="384048"/>
          </a:xfrm>
          <a:prstGeom prst="rect">
            <a:avLst/>
          </a:prstGeom>
          <a:noFill/>
          <a:ln/>
        </p:spPr>
        <p:txBody>
          <a:bodyPr wrap="square" lIns="0" tIns="0" rIns="0" bIns="0" rtlCol="0" anchor="ctr"/>
          <a:lstStyle/>
          <a:p>
            <a:pPr algn="ctr" indent="0" marL="0">
              <a:buNone/>
            </a:pPr>
            <a:r>
              <a:rPr lang="en-US" sz="1600" b="1" dirty="0">
                <a:solidFill>
                  <a:srgbClr val="6B7773"/>
                </a:solidFill>
                <a:latin typeface="Manrope" pitchFamily="34" charset="0"/>
                <a:ea typeface="Manrope" pitchFamily="34" charset="-122"/>
                <a:cs typeface="Manrope" pitchFamily="34" charset="-120"/>
              </a:rPr>
              <a:t>→</a:t>
            </a:r>
            <a:endParaRPr lang="en-US" sz="1600" dirty="0"/>
          </a:p>
        </p:txBody>
      </p:sp>
      <p:sp>
        <p:nvSpPr>
          <p:cNvPr id="31" name="Shape 29"/>
          <p:cNvSpPr/>
          <p:nvPr/>
        </p:nvSpPr>
        <p:spPr>
          <a:xfrm>
            <a:off x="7326401" y="2286000"/>
            <a:ext cx="2057400" cy="2834640"/>
          </a:xfrm>
          <a:prstGeom prst="roundRect">
            <a:avLst>
              <a:gd name="adj" fmla="val 7111"/>
            </a:avLst>
          </a:prstGeom>
          <a:solidFill>
            <a:srgbClr val="15191A"/>
          </a:solidFill>
          <a:ln w="9525">
            <a:solidFill>
              <a:srgbClr val="262C2E"/>
            </a:solidFill>
            <a:prstDash val="solid"/>
          </a:ln>
        </p:spPr>
      </p:sp>
      <p:sp>
        <p:nvSpPr>
          <p:cNvPr id="32" name="Shape 30"/>
          <p:cNvSpPr/>
          <p:nvPr/>
        </p:nvSpPr>
        <p:spPr>
          <a:xfrm>
            <a:off x="7555001" y="2560320"/>
            <a:ext cx="566928" cy="566928"/>
          </a:xfrm>
          <a:prstGeom prst="ellipse">
            <a:avLst/>
          </a:prstGeom>
          <a:solidFill>
            <a:srgbClr val="B8E62E"/>
          </a:solidFill>
          <a:ln/>
        </p:spPr>
      </p:sp>
      <p:sp>
        <p:nvSpPr>
          <p:cNvPr id="33" name="Text 31"/>
          <p:cNvSpPr txBox="1"/>
          <p:nvPr/>
        </p:nvSpPr>
        <p:spPr>
          <a:xfrm>
            <a:off x="7555001" y="2560320"/>
            <a:ext cx="566928" cy="566928"/>
          </a:xfrm>
          <a:prstGeom prst="rect">
            <a:avLst/>
          </a:prstGeom>
          <a:noFill/>
          <a:ln/>
        </p:spPr>
        <p:txBody>
          <a:bodyPr wrap="square" lIns="0" tIns="0" rIns="0" bIns="0" rtlCol="0" anchor="ctr"/>
          <a:lstStyle/>
          <a:p>
            <a:pPr algn="ctr" indent="0" marL="0">
              <a:buNone/>
            </a:pPr>
            <a:r>
              <a:rPr lang="en-US" sz="1800" b="1" dirty="0">
                <a:solidFill>
                  <a:srgbClr val="0B0D0C"/>
                </a:solidFill>
                <a:latin typeface="Epilogue" pitchFamily="34" charset="0"/>
                <a:ea typeface="Epilogue" pitchFamily="34" charset="-122"/>
                <a:cs typeface="Epilogue" pitchFamily="34" charset="-120"/>
              </a:rPr>
              <a:t>4</a:t>
            </a:r>
            <a:endParaRPr lang="en-US" sz="1800" dirty="0"/>
          </a:p>
        </p:txBody>
      </p:sp>
      <p:sp>
        <p:nvSpPr>
          <p:cNvPr id="34" name="Text 32"/>
          <p:cNvSpPr txBox="1"/>
          <p:nvPr/>
        </p:nvSpPr>
        <p:spPr>
          <a:xfrm>
            <a:off x="7555001" y="3310128"/>
            <a:ext cx="1691640" cy="365760"/>
          </a:xfrm>
          <a:prstGeom prst="rect">
            <a:avLst/>
          </a:prstGeom>
          <a:noFill/>
          <a:ln/>
        </p:spPr>
        <p:txBody>
          <a:bodyPr wrap="square" lIns="0" tIns="0" rIns="0" bIns="0" rtlCol="0" anchor="t"/>
          <a:lstStyle/>
          <a:p>
            <a:pPr indent="0" marL="0">
              <a:buNone/>
            </a:pPr>
            <a:r>
              <a:rPr lang="en-US" sz="1800" b="1" dirty="0">
                <a:solidFill>
                  <a:srgbClr val="F4F6F5"/>
                </a:solidFill>
                <a:latin typeface="Epilogue" pitchFamily="34" charset="0"/>
                <a:ea typeface="Epilogue" pitchFamily="34" charset="-122"/>
                <a:cs typeface="Epilogue" pitchFamily="34" charset="-120"/>
              </a:rPr>
              <a:t>Ready to Bill</a:t>
            </a:r>
            <a:endParaRPr lang="en-US" sz="1800" dirty="0"/>
          </a:p>
        </p:txBody>
      </p:sp>
      <p:sp>
        <p:nvSpPr>
          <p:cNvPr id="35" name="Text 33"/>
          <p:cNvSpPr txBox="1"/>
          <p:nvPr/>
        </p:nvSpPr>
        <p:spPr>
          <a:xfrm>
            <a:off x="7555001" y="3730752"/>
            <a:ext cx="1645920" cy="731520"/>
          </a:xfrm>
          <a:prstGeom prst="rect">
            <a:avLst/>
          </a:prstGeom>
          <a:noFill/>
          <a:ln/>
        </p:spPr>
        <p:txBody>
          <a:bodyPr wrap="square" lIns="0" tIns="0" rIns="0" bIns="0" rtlCol="0" anchor="t"/>
          <a:lstStyle/>
          <a:p>
            <a:pPr indent="0" marL="0">
              <a:lnSpc>
                <a:spcPct val="115000"/>
              </a:lnSpc>
              <a:buNone/>
            </a:pPr>
            <a:r>
              <a:rPr lang="en-US" sz="1250" dirty="0">
                <a:solidFill>
                  <a:srgbClr val="9AA7A2"/>
                </a:solidFill>
                <a:latin typeface="Manrope" pitchFamily="34" charset="0"/>
                <a:ea typeface="Manrope" pitchFamily="34" charset="-122"/>
                <a:cs typeface="Manrope" pitchFamily="34" charset="-120"/>
              </a:rPr>
              <a:t>Enters the Finance queue with notes.</a:t>
            </a:r>
            <a:endParaRPr lang="en-US" sz="1250" dirty="0"/>
          </a:p>
        </p:txBody>
      </p:sp>
      <p:sp>
        <p:nvSpPr>
          <p:cNvPr id="36" name="Shape 34"/>
          <p:cNvSpPr/>
          <p:nvPr/>
        </p:nvSpPr>
        <p:spPr>
          <a:xfrm>
            <a:off x="7555001" y="4553712"/>
            <a:ext cx="1600200" cy="329184"/>
          </a:xfrm>
          <a:prstGeom prst="roundRect">
            <a:avLst>
              <a:gd name="adj" fmla="val 50000"/>
            </a:avLst>
          </a:prstGeom>
          <a:solidFill>
            <a:srgbClr val="1C2123"/>
          </a:solidFill>
          <a:ln/>
        </p:spPr>
      </p:sp>
      <p:sp>
        <p:nvSpPr>
          <p:cNvPr id="37" name="Text 35"/>
          <p:cNvSpPr txBox="1"/>
          <p:nvPr/>
        </p:nvSpPr>
        <p:spPr>
          <a:xfrm>
            <a:off x="7555001" y="4553712"/>
            <a:ext cx="1600200" cy="329184"/>
          </a:xfrm>
          <a:prstGeom prst="rect">
            <a:avLst/>
          </a:prstGeom>
          <a:noFill/>
          <a:ln/>
        </p:spPr>
        <p:txBody>
          <a:bodyPr wrap="square" lIns="0" tIns="0" rIns="0" bIns="0" rtlCol="0" anchor="ctr"/>
          <a:lstStyle/>
          <a:p>
            <a:pPr algn="ctr" indent="0" marL="0">
              <a:buNone/>
            </a:pPr>
            <a:r>
              <a:rPr lang="en-US" sz="850" b="1" spc="120" kern="0" dirty="0">
                <a:solidFill>
                  <a:srgbClr val="B8E62E"/>
                </a:solidFill>
                <a:latin typeface="Plus Jakarta Sans" pitchFamily="34" charset="0"/>
                <a:ea typeface="Plus Jakarta Sans" pitchFamily="34" charset="-122"/>
                <a:cs typeface="Plus Jakarta Sans" pitchFamily="34" charset="-120"/>
              </a:rPr>
              <a:t>PM HANDS OFF</a:t>
            </a:r>
            <a:endParaRPr lang="en-US" sz="850" dirty="0"/>
          </a:p>
        </p:txBody>
      </p:sp>
      <p:sp>
        <p:nvSpPr>
          <p:cNvPr id="38" name="Text 36"/>
          <p:cNvSpPr txBox="1"/>
          <p:nvPr/>
        </p:nvSpPr>
        <p:spPr>
          <a:xfrm>
            <a:off x="9383801" y="2651760"/>
            <a:ext cx="201854" cy="384048"/>
          </a:xfrm>
          <a:prstGeom prst="rect">
            <a:avLst/>
          </a:prstGeom>
          <a:noFill/>
          <a:ln/>
        </p:spPr>
        <p:txBody>
          <a:bodyPr wrap="square" lIns="0" tIns="0" rIns="0" bIns="0" rtlCol="0" anchor="ctr"/>
          <a:lstStyle/>
          <a:p>
            <a:pPr algn="ctr" indent="0" marL="0">
              <a:buNone/>
            </a:pPr>
            <a:r>
              <a:rPr lang="en-US" sz="1600" b="1" dirty="0">
                <a:solidFill>
                  <a:srgbClr val="6B7773"/>
                </a:solidFill>
                <a:latin typeface="Manrope" pitchFamily="34" charset="0"/>
                <a:ea typeface="Manrope" pitchFamily="34" charset="-122"/>
                <a:cs typeface="Manrope" pitchFamily="34" charset="-120"/>
              </a:rPr>
              <a:t>→</a:t>
            </a:r>
            <a:endParaRPr lang="en-US" sz="1600" dirty="0"/>
          </a:p>
        </p:txBody>
      </p:sp>
      <p:sp>
        <p:nvSpPr>
          <p:cNvPr id="39" name="Shape 37"/>
          <p:cNvSpPr/>
          <p:nvPr/>
        </p:nvSpPr>
        <p:spPr>
          <a:xfrm>
            <a:off x="9585655" y="2286000"/>
            <a:ext cx="2057400" cy="2834640"/>
          </a:xfrm>
          <a:prstGeom prst="roundRect">
            <a:avLst>
              <a:gd name="adj" fmla="val 7111"/>
            </a:avLst>
          </a:prstGeom>
          <a:solidFill>
            <a:srgbClr val="15191A"/>
          </a:solidFill>
          <a:ln w="9525">
            <a:solidFill>
              <a:srgbClr val="262C2E"/>
            </a:solidFill>
            <a:prstDash val="solid"/>
          </a:ln>
        </p:spPr>
      </p:sp>
      <p:sp>
        <p:nvSpPr>
          <p:cNvPr id="40" name="Shape 38"/>
          <p:cNvSpPr/>
          <p:nvPr/>
        </p:nvSpPr>
        <p:spPr>
          <a:xfrm>
            <a:off x="9814255" y="2560320"/>
            <a:ext cx="566928" cy="566928"/>
          </a:xfrm>
          <a:prstGeom prst="ellipse">
            <a:avLst/>
          </a:prstGeom>
          <a:solidFill>
            <a:srgbClr val="FFC24B"/>
          </a:solidFill>
          <a:ln/>
        </p:spPr>
      </p:sp>
      <p:sp>
        <p:nvSpPr>
          <p:cNvPr id="41" name="Text 39"/>
          <p:cNvSpPr txBox="1"/>
          <p:nvPr/>
        </p:nvSpPr>
        <p:spPr>
          <a:xfrm>
            <a:off x="9814255" y="2560320"/>
            <a:ext cx="566928" cy="566928"/>
          </a:xfrm>
          <a:prstGeom prst="rect">
            <a:avLst/>
          </a:prstGeom>
          <a:noFill/>
          <a:ln/>
        </p:spPr>
        <p:txBody>
          <a:bodyPr wrap="square" lIns="0" tIns="0" rIns="0" bIns="0" rtlCol="0" anchor="ctr"/>
          <a:lstStyle/>
          <a:p>
            <a:pPr algn="ctr" indent="0" marL="0">
              <a:buNone/>
            </a:pPr>
            <a:r>
              <a:rPr lang="en-US" sz="1800" b="1" dirty="0">
                <a:solidFill>
                  <a:srgbClr val="0B0D0C"/>
                </a:solidFill>
                <a:latin typeface="Epilogue" pitchFamily="34" charset="0"/>
                <a:ea typeface="Epilogue" pitchFamily="34" charset="-122"/>
                <a:cs typeface="Epilogue" pitchFamily="34" charset="-120"/>
              </a:rPr>
              <a:t>5</a:t>
            </a:r>
            <a:endParaRPr lang="en-US" sz="1800" dirty="0"/>
          </a:p>
        </p:txBody>
      </p:sp>
      <p:sp>
        <p:nvSpPr>
          <p:cNvPr id="42" name="Text 40"/>
          <p:cNvSpPr txBox="1"/>
          <p:nvPr/>
        </p:nvSpPr>
        <p:spPr>
          <a:xfrm>
            <a:off x="9814255" y="3310128"/>
            <a:ext cx="1691640" cy="365760"/>
          </a:xfrm>
          <a:prstGeom prst="rect">
            <a:avLst/>
          </a:prstGeom>
          <a:noFill/>
          <a:ln/>
        </p:spPr>
        <p:txBody>
          <a:bodyPr wrap="square" lIns="0" tIns="0" rIns="0" bIns="0" rtlCol="0" anchor="t"/>
          <a:lstStyle/>
          <a:p>
            <a:pPr indent="0" marL="0">
              <a:buNone/>
            </a:pPr>
            <a:r>
              <a:rPr lang="en-US" sz="1800" b="1" dirty="0">
                <a:solidFill>
                  <a:srgbClr val="F4F6F5"/>
                </a:solidFill>
                <a:latin typeface="Epilogue" pitchFamily="34" charset="0"/>
                <a:ea typeface="Epilogue" pitchFamily="34" charset="-122"/>
                <a:cs typeface="Epilogue" pitchFamily="34" charset="-120"/>
              </a:rPr>
              <a:t>Billed</a:t>
            </a:r>
            <a:endParaRPr lang="en-US" sz="1800" dirty="0"/>
          </a:p>
        </p:txBody>
      </p:sp>
      <p:sp>
        <p:nvSpPr>
          <p:cNvPr id="43" name="Text 41"/>
          <p:cNvSpPr txBox="1"/>
          <p:nvPr/>
        </p:nvSpPr>
        <p:spPr>
          <a:xfrm>
            <a:off x="9814255" y="3730752"/>
            <a:ext cx="1645920" cy="731520"/>
          </a:xfrm>
          <a:prstGeom prst="rect">
            <a:avLst/>
          </a:prstGeom>
          <a:noFill/>
          <a:ln/>
        </p:spPr>
        <p:txBody>
          <a:bodyPr wrap="square" lIns="0" tIns="0" rIns="0" bIns="0" rtlCol="0" anchor="t"/>
          <a:lstStyle/>
          <a:p>
            <a:pPr indent="0" marL="0">
              <a:lnSpc>
                <a:spcPct val="115000"/>
              </a:lnSpc>
              <a:buNone/>
            </a:pPr>
            <a:r>
              <a:rPr lang="en-US" sz="1250" dirty="0">
                <a:solidFill>
                  <a:srgbClr val="9AA7A2"/>
                </a:solidFill>
                <a:latin typeface="Manrope" pitchFamily="34" charset="0"/>
                <a:ea typeface="Manrope" pitchFamily="34" charset="-122"/>
                <a:cs typeface="Manrope" pitchFamily="34" charset="-120"/>
              </a:rPr>
              <a:t>Invoiced in Zoho and closed out.</a:t>
            </a:r>
            <a:endParaRPr lang="en-US" sz="1250" dirty="0"/>
          </a:p>
        </p:txBody>
      </p:sp>
      <p:sp>
        <p:nvSpPr>
          <p:cNvPr id="44" name="Shape 42"/>
          <p:cNvSpPr/>
          <p:nvPr/>
        </p:nvSpPr>
        <p:spPr>
          <a:xfrm>
            <a:off x="9814255" y="4553712"/>
            <a:ext cx="1600200" cy="329184"/>
          </a:xfrm>
          <a:prstGeom prst="roundRect">
            <a:avLst>
              <a:gd name="adj" fmla="val 50000"/>
            </a:avLst>
          </a:prstGeom>
          <a:solidFill>
            <a:srgbClr val="1C2123"/>
          </a:solidFill>
          <a:ln/>
        </p:spPr>
      </p:sp>
      <p:sp>
        <p:nvSpPr>
          <p:cNvPr id="45" name="Text 43"/>
          <p:cNvSpPr txBox="1"/>
          <p:nvPr/>
        </p:nvSpPr>
        <p:spPr>
          <a:xfrm>
            <a:off x="9814255" y="4553712"/>
            <a:ext cx="1600200" cy="329184"/>
          </a:xfrm>
          <a:prstGeom prst="rect">
            <a:avLst/>
          </a:prstGeom>
          <a:noFill/>
          <a:ln/>
        </p:spPr>
        <p:txBody>
          <a:bodyPr wrap="square" lIns="0" tIns="0" rIns="0" bIns="0" rtlCol="0" anchor="ctr"/>
          <a:lstStyle/>
          <a:p>
            <a:pPr algn="ctr" indent="0" marL="0">
              <a:buNone/>
            </a:pPr>
            <a:r>
              <a:rPr lang="en-US" sz="850" b="1" spc="120" kern="0" dirty="0">
                <a:solidFill>
                  <a:srgbClr val="FFC24B"/>
                </a:solidFill>
                <a:latin typeface="Plus Jakarta Sans" pitchFamily="34" charset="0"/>
                <a:ea typeface="Plus Jakarta Sans" pitchFamily="34" charset="-122"/>
                <a:cs typeface="Plus Jakarta Sans" pitchFamily="34" charset="-120"/>
              </a:rPr>
              <a:t>FINANCE CLOSES</a:t>
            </a:r>
            <a:endParaRPr lang="en-US" sz="850" dirty="0"/>
          </a:p>
        </p:txBody>
      </p:sp>
      <p:sp>
        <p:nvSpPr>
          <p:cNvPr id="46" name="Text 44"/>
          <p:cNvSpPr txBox="1"/>
          <p:nvPr/>
        </p:nvSpPr>
        <p:spPr>
          <a:xfrm>
            <a:off x="548640" y="5440680"/>
            <a:ext cx="11094415" cy="685800"/>
          </a:xfrm>
          <a:prstGeom prst="rect">
            <a:avLst/>
          </a:prstGeom>
          <a:noFill/>
          <a:ln/>
        </p:spPr>
        <p:txBody>
          <a:bodyPr wrap="square" lIns="0" tIns="0" rIns="0" bIns="0" rtlCol="0" anchor="t"/>
          <a:lstStyle/>
          <a:p>
            <a:pPr indent="0" marL="0">
              <a:lnSpc>
                <a:spcPct val="130000"/>
              </a:lnSpc>
              <a:buNone/>
            </a:pPr>
            <a:r>
              <a:rPr lang="en-US" sz="1300" b="1" dirty="0">
                <a:solidFill>
                  <a:srgbClr val="F4F6F5"/>
                </a:solidFill>
                <a:latin typeface="Manrope" pitchFamily="34" charset="0"/>
                <a:ea typeface="Manrope" pitchFamily="34" charset="-122"/>
                <a:cs typeface="Manrope" pitchFamily="34" charset="-120"/>
              </a:rPr>
              <a:t>Role-gated at every step.  </a:t>
            </a:r>
            <a:pPr indent="0" marL="0">
              <a:lnSpc>
                <a:spcPct val="130000"/>
              </a:lnSpc>
              <a:buNone/>
            </a:pPr>
            <a:r>
              <a:rPr lang="en-US" sz="1300" dirty="0">
                <a:solidFill>
                  <a:srgbClr val="9AA7A2"/>
                </a:solidFill>
                <a:latin typeface="Manrope" pitchFamily="34" charset="0"/>
                <a:ea typeface="Manrope" pitchFamily="34" charset="-122"/>
                <a:cs typeface="Manrope" pitchFamily="34" charset="-120"/>
              </a:rPr>
              <a:t>People can only move work their role owns. Billed work is archived; cancelled work stays off-track.</a:t>
            </a:r>
            <a:endParaRPr lang="en-US" sz="1300" dirty="0"/>
          </a:p>
          <a:p>
            <a:pPr indent="0" marL="0">
              <a:lnSpc>
                <a:spcPct val="130000"/>
              </a:lnSpc>
              <a:buNone/>
            </a:pPr>
            <a:r>
              <a:rPr lang="en-US" sz="1300" b="1" dirty="0">
                <a:solidFill>
                  <a:srgbClr val="F4F6F5"/>
                </a:solidFill>
                <a:latin typeface="Manrope" pitchFamily="34" charset="0"/>
                <a:ea typeface="Manrope" pitchFamily="34" charset="-122"/>
                <a:cs typeface="Manrope" pitchFamily="34" charset="-120"/>
              </a:rPr>
              <a:t>No change to your accounting.  </a:t>
            </a:r>
            <a:pPr indent="0" marL="0">
              <a:lnSpc>
                <a:spcPct val="130000"/>
              </a:lnSpc>
              <a:buNone/>
            </a:pPr>
            <a:r>
              <a:rPr lang="en-US" sz="1300" dirty="0">
                <a:solidFill>
                  <a:srgbClr val="9AA7A2"/>
                </a:solidFill>
                <a:latin typeface="Manrope" pitchFamily="34" charset="0"/>
                <a:ea typeface="Manrope" pitchFamily="34" charset="-122"/>
                <a:cs typeface="Manrope" pitchFamily="34" charset="-120"/>
              </a:rPr>
              <a:t>Finance works a first-come Ready to Bill queue with an urgent-bill flag. Amounts stay in Zoho.</a:t>
            </a:r>
            <a:endParaRPr lang="en-US" sz="1300" dirty="0"/>
          </a:p>
        </p:txBody>
      </p:sp>
      <p:sp>
        <p:nvSpPr>
          <p:cNvPr id="47" name="Text 45"/>
          <p:cNvSpPr txBox="1"/>
          <p:nvPr/>
        </p:nvSpPr>
        <p:spPr>
          <a:xfrm>
            <a:off x="548640" y="6446520"/>
            <a:ext cx="5486400" cy="201168"/>
          </a:xfrm>
          <a:prstGeom prst="rect">
            <a:avLst/>
          </a:prstGeom>
          <a:noFill/>
          <a:ln/>
        </p:spPr>
        <p:txBody>
          <a:bodyPr wrap="square" lIns="0" tIns="0" rIns="0" bIns="0" rtlCol="0" anchor="t"/>
          <a:lstStyle/>
          <a:p>
            <a:pPr indent="0" marL="0">
              <a:buNone/>
            </a:pPr>
            <a:r>
              <a:rPr lang="en-US" sz="800" b="1" spc="200" kern="0" dirty="0">
                <a:solidFill>
                  <a:srgbClr val="6B7773"/>
                </a:solidFill>
                <a:latin typeface="Plus Jakarta Sans" pitchFamily="34" charset="0"/>
                <a:ea typeface="Plus Jakarta Sans" pitchFamily="34" charset="-122"/>
                <a:cs typeface="Plus Jakarta Sans" pitchFamily="34" charset="-120"/>
              </a:rPr>
              <a:t>BOD APP  ·  RUN YOUR STUDIO THE CALM WAY</a:t>
            </a:r>
            <a:endParaRPr lang="en-US" sz="800" dirty="0"/>
          </a:p>
        </p:txBody>
      </p:sp>
      <p:sp>
        <p:nvSpPr>
          <p:cNvPr id="48" name="Text 46"/>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b="1" dirty="0">
                <a:solidFill>
                  <a:srgbClr val="6B7773"/>
                </a:solidFill>
                <a:latin typeface="Plus Jakarta Sans" pitchFamily="34" charset="0"/>
                <a:ea typeface="Plus Jakarta Sans" pitchFamily="34" charset="-122"/>
                <a:cs typeface="Plus Jakarta Sans"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548640" y="822960"/>
            <a:ext cx="5486400"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05  ·  AI CAPTURE</a:t>
            </a:r>
            <a:endParaRPr lang="en-US" sz="1000" dirty="0"/>
          </a:p>
        </p:txBody>
      </p:sp>
      <p:sp>
        <p:nvSpPr>
          <p:cNvPr id="3" name="Text 1"/>
          <p:cNvSpPr txBox="1"/>
          <p:nvPr/>
        </p:nvSpPr>
        <p:spPr>
          <a:xfrm>
            <a:off x="548640" y="1143000"/>
            <a:ext cx="5486400" cy="1188720"/>
          </a:xfrm>
          <a:prstGeom prst="rect">
            <a:avLst/>
          </a:prstGeom>
          <a:noFill/>
          <a:ln/>
        </p:spPr>
        <p:txBody>
          <a:bodyPr wrap="square" lIns="0" tIns="0" rIns="0" bIns="0" rtlCol="0" anchor="t"/>
          <a:lstStyle/>
          <a:p>
            <a:pPr indent="0" marL="0">
              <a:buNone/>
            </a:pPr>
            <a:r>
              <a:rPr lang="en-US" sz="3400" b="1" dirty="0">
                <a:solidFill>
                  <a:srgbClr val="F4F6F5"/>
                </a:solidFill>
                <a:latin typeface="Epilogue" pitchFamily="34" charset="0"/>
                <a:ea typeface="Epilogue" pitchFamily="34" charset="-122"/>
                <a:cs typeface="Epilogue" pitchFamily="34" charset="-120"/>
              </a:rPr>
              <a:t>Speak it. It becomes a task.</a:t>
            </a:r>
            <a:endParaRPr lang="en-US" sz="3400" dirty="0"/>
          </a:p>
        </p:txBody>
      </p:sp>
      <p:sp>
        <p:nvSpPr>
          <p:cNvPr id="4" name="Text 2"/>
          <p:cNvSpPr txBox="1"/>
          <p:nvPr/>
        </p:nvSpPr>
        <p:spPr>
          <a:xfrm>
            <a:off x="548640" y="2377440"/>
            <a:ext cx="5120640" cy="914400"/>
          </a:xfrm>
          <a:prstGeom prst="rect">
            <a:avLst/>
          </a:prstGeom>
          <a:noFill/>
          <a:ln/>
        </p:spPr>
        <p:txBody>
          <a:bodyPr wrap="square" lIns="0" tIns="0" rIns="0" bIns="0" rtlCol="0" anchor="t"/>
          <a:lstStyle/>
          <a:p>
            <a:pPr indent="0" marL="0">
              <a:lnSpc>
                <a:spcPct val="120000"/>
              </a:lnSpc>
              <a:buNone/>
            </a:pPr>
            <a:r>
              <a:rPr lang="en-US" sz="1500" dirty="0">
                <a:solidFill>
                  <a:srgbClr val="9AA7A2"/>
                </a:solidFill>
                <a:latin typeface="Manrope" pitchFamily="34" charset="0"/>
                <a:ea typeface="Manrope" pitchFamily="34" charset="-122"/>
                <a:cs typeface="Manrope" pitchFamily="34" charset="-120"/>
              </a:rPr>
              <a:t>A voice note or a messy line of notes turns into a clean, assigned task — the who, what and when already filled in. In the language your team actually speaks.</a:t>
            </a:r>
            <a:endParaRPr lang="en-US" sz="1500" dirty="0"/>
          </a:p>
        </p:txBody>
      </p:sp>
      <p:sp>
        <p:nvSpPr>
          <p:cNvPr id="5" name="Shape 3"/>
          <p:cNvSpPr/>
          <p:nvPr/>
        </p:nvSpPr>
        <p:spPr>
          <a:xfrm>
            <a:off x="548640" y="3429000"/>
            <a:ext cx="921715" cy="310896"/>
          </a:xfrm>
          <a:prstGeom prst="roundRect">
            <a:avLst>
              <a:gd name="adj" fmla="val 50000"/>
            </a:avLst>
          </a:prstGeom>
          <a:solidFill>
            <a:srgbClr val="1C2123"/>
          </a:solidFill>
          <a:ln/>
        </p:spPr>
      </p:sp>
      <p:sp>
        <p:nvSpPr>
          <p:cNvPr id="6" name="Text 4"/>
          <p:cNvSpPr txBox="1"/>
          <p:nvPr/>
        </p:nvSpPr>
        <p:spPr>
          <a:xfrm>
            <a:off x="548640" y="3429000"/>
            <a:ext cx="921715" cy="310896"/>
          </a:xfrm>
          <a:prstGeom prst="rect">
            <a:avLst/>
          </a:prstGeom>
          <a:noFill/>
          <a:ln/>
        </p:spPr>
        <p:txBody>
          <a:bodyPr wrap="square" lIns="0" tIns="0" rIns="0" bIns="0" rtlCol="0" anchor="ctr"/>
          <a:lstStyle/>
          <a:p>
            <a:pPr algn="ctr" indent="0" marL="0">
              <a:buNone/>
            </a:pPr>
            <a:r>
              <a:rPr lang="en-US" sz="950" b="1" dirty="0">
                <a:solidFill>
                  <a:srgbClr val="B8E62E"/>
                </a:solidFill>
                <a:latin typeface="Manrope" pitchFamily="34" charset="0"/>
                <a:ea typeface="Manrope" pitchFamily="34" charset="-122"/>
                <a:cs typeface="Manrope" pitchFamily="34" charset="-120"/>
              </a:rPr>
              <a:t>Malayalam</a:t>
            </a:r>
            <a:endParaRPr lang="en-US" sz="950" dirty="0"/>
          </a:p>
        </p:txBody>
      </p:sp>
      <p:sp>
        <p:nvSpPr>
          <p:cNvPr id="7" name="Shape 5"/>
          <p:cNvSpPr/>
          <p:nvPr/>
        </p:nvSpPr>
        <p:spPr>
          <a:xfrm>
            <a:off x="1543507" y="3429000"/>
            <a:ext cx="790042" cy="310896"/>
          </a:xfrm>
          <a:prstGeom prst="roundRect">
            <a:avLst>
              <a:gd name="adj" fmla="val 50000"/>
            </a:avLst>
          </a:prstGeom>
          <a:solidFill>
            <a:srgbClr val="1C2123"/>
          </a:solidFill>
          <a:ln/>
        </p:spPr>
      </p:sp>
      <p:sp>
        <p:nvSpPr>
          <p:cNvPr id="8" name="Text 6"/>
          <p:cNvSpPr txBox="1"/>
          <p:nvPr/>
        </p:nvSpPr>
        <p:spPr>
          <a:xfrm>
            <a:off x="1543507" y="3429000"/>
            <a:ext cx="790042" cy="310896"/>
          </a:xfrm>
          <a:prstGeom prst="rect">
            <a:avLst/>
          </a:prstGeom>
          <a:noFill/>
          <a:ln/>
        </p:spPr>
        <p:txBody>
          <a:bodyPr wrap="square" lIns="0" tIns="0" rIns="0" bIns="0" rtlCol="0" anchor="ctr"/>
          <a:lstStyle/>
          <a:p>
            <a:pPr algn="ctr" indent="0" marL="0">
              <a:buNone/>
            </a:pPr>
            <a:r>
              <a:rPr lang="en-US" sz="950" b="1" dirty="0">
                <a:solidFill>
                  <a:srgbClr val="B8E62E"/>
                </a:solidFill>
                <a:latin typeface="Manrope" pitchFamily="34" charset="0"/>
                <a:ea typeface="Manrope" pitchFamily="34" charset="-122"/>
                <a:cs typeface="Manrope" pitchFamily="34" charset="-120"/>
              </a:rPr>
              <a:t>English</a:t>
            </a:r>
            <a:endParaRPr lang="en-US" sz="950" dirty="0"/>
          </a:p>
        </p:txBody>
      </p:sp>
      <p:sp>
        <p:nvSpPr>
          <p:cNvPr id="9" name="Shape 7"/>
          <p:cNvSpPr/>
          <p:nvPr/>
        </p:nvSpPr>
        <p:spPr>
          <a:xfrm>
            <a:off x="2406701" y="3429000"/>
            <a:ext cx="855878" cy="310896"/>
          </a:xfrm>
          <a:prstGeom prst="roundRect">
            <a:avLst>
              <a:gd name="adj" fmla="val 50000"/>
            </a:avLst>
          </a:prstGeom>
          <a:solidFill>
            <a:srgbClr val="1C2123"/>
          </a:solidFill>
          <a:ln/>
        </p:spPr>
      </p:sp>
      <p:sp>
        <p:nvSpPr>
          <p:cNvPr id="10" name="Text 8"/>
          <p:cNvSpPr txBox="1"/>
          <p:nvPr/>
        </p:nvSpPr>
        <p:spPr>
          <a:xfrm>
            <a:off x="2406701" y="3429000"/>
            <a:ext cx="855878" cy="310896"/>
          </a:xfrm>
          <a:prstGeom prst="rect">
            <a:avLst/>
          </a:prstGeom>
          <a:noFill/>
          <a:ln/>
        </p:spPr>
        <p:txBody>
          <a:bodyPr wrap="square" lIns="0" tIns="0" rIns="0" bIns="0" rtlCol="0" anchor="ctr"/>
          <a:lstStyle/>
          <a:p>
            <a:pPr algn="ctr" indent="0" marL="0">
              <a:buNone/>
            </a:pPr>
            <a:r>
              <a:rPr lang="en-US" sz="950" b="1" dirty="0">
                <a:solidFill>
                  <a:srgbClr val="B8E62E"/>
                </a:solidFill>
                <a:latin typeface="Manrope" pitchFamily="34" charset="0"/>
                <a:ea typeface="Manrope" pitchFamily="34" charset="-122"/>
                <a:cs typeface="Manrope" pitchFamily="34" charset="-120"/>
              </a:rPr>
              <a:t>Manglish</a:t>
            </a:r>
            <a:endParaRPr lang="en-US" sz="950" dirty="0"/>
          </a:p>
        </p:txBody>
      </p:sp>
      <p:sp>
        <p:nvSpPr>
          <p:cNvPr id="11" name="Shape 9"/>
          <p:cNvSpPr/>
          <p:nvPr/>
        </p:nvSpPr>
        <p:spPr>
          <a:xfrm>
            <a:off x="3335731" y="3429000"/>
            <a:ext cx="1119226" cy="310896"/>
          </a:xfrm>
          <a:prstGeom prst="roundRect">
            <a:avLst>
              <a:gd name="adj" fmla="val 50000"/>
            </a:avLst>
          </a:prstGeom>
          <a:solidFill>
            <a:srgbClr val="1C2123"/>
          </a:solidFill>
          <a:ln/>
        </p:spPr>
      </p:sp>
      <p:sp>
        <p:nvSpPr>
          <p:cNvPr id="12" name="Text 10"/>
          <p:cNvSpPr txBox="1"/>
          <p:nvPr/>
        </p:nvSpPr>
        <p:spPr>
          <a:xfrm>
            <a:off x="3335731" y="3429000"/>
            <a:ext cx="1119226" cy="310896"/>
          </a:xfrm>
          <a:prstGeom prst="rect">
            <a:avLst/>
          </a:prstGeom>
          <a:noFill/>
          <a:ln/>
        </p:spPr>
        <p:txBody>
          <a:bodyPr wrap="square" lIns="0" tIns="0" rIns="0" bIns="0" rtlCol="0" anchor="ctr"/>
          <a:lstStyle/>
          <a:p>
            <a:pPr algn="ctr" indent="0" marL="0">
              <a:buNone/>
            </a:pPr>
            <a:r>
              <a:rPr lang="en-US" sz="950" b="1" dirty="0">
                <a:solidFill>
                  <a:srgbClr val="B8E62E"/>
                </a:solidFill>
                <a:latin typeface="Manrope" pitchFamily="34" charset="0"/>
                <a:ea typeface="Manrope" pitchFamily="34" charset="-122"/>
                <a:cs typeface="Manrope" pitchFamily="34" charset="-120"/>
              </a:rPr>
              <a:t>Voice → task</a:t>
            </a:r>
            <a:endParaRPr lang="en-US" sz="950" dirty="0"/>
          </a:p>
        </p:txBody>
      </p:sp>
      <p:sp>
        <p:nvSpPr>
          <p:cNvPr id="13" name="Shape 11"/>
          <p:cNvSpPr/>
          <p:nvPr/>
        </p:nvSpPr>
        <p:spPr>
          <a:xfrm>
            <a:off x="4528109" y="3429000"/>
            <a:ext cx="1053389" cy="310896"/>
          </a:xfrm>
          <a:prstGeom prst="roundRect">
            <a:avLst>
              <a:gd name="adj" fmla="val 50000"/>
            </a:avLst>
          </a:prstGeom>
          <a:solidFill>
            <a:srgbClr val="1C2123"/>
          </a:solidFill>
          <a:ln/>
        </p:spPr>
      </p:sp>
      <p:sp>
        <p:nvSpPr>
          <p:cNvPr id="14" name="Text 12"/>
          <p:cNvSpPr txBox="1"/>
          <p:nvPr/>
        </p:nvSpPr>
        <p:spPr>
          <a:xfrm>
            <a:off x="4528109" y="3429000"/>
            <a:ext cx="1053389" cy="310896"/>
          </a:xfrm>
          <a:prstGeom prst="rect">
            <a:avLst/>
          </a:prstGeom>
          <a:noFill/>
          <a:ln/>
        </p:spPr>
        <p:txBody>
          <a:bodyPr wrap="square" lIns="0" tIns="0" rIns="0" bIns="0" rtlCol="0" anchor="ctr"/>
          <a:lstStyle/>
          <a:p>
            <a:pPr algn="ctr" indent="0" marL="0">
              <a:buNone/>
            </a:pPr>
            <a:r>
              <a:rPr lang="en-US" sz="950" b="1" dirty="0">
                <a:solidFill>
                  <a:srgbClr val="B8E62E"/>
                </a:solidFill>
                <a:latin typeface="Manrope" pitchFamily="34" charset="0"/>
                <a:ea typeface="Manrope" pitchFamily="34" charset="-122"/>
                <a:cs typeface="Manrope" pitchFamily="34" charset="-120"/>
              </a:rPr>
              <a:t>PDF → tasks</a:t>
            </a:r>
            <a:endParaRPr lang="en-US" sz="950" dirty="0"/>
          </a:p>
        </p:txBody>
      </p:sp>
      <p:pic>
        <p:nvPicPr>
          <p:cNvPr id="15" name="Image 0" descr="preencoded.png">    </p:cNvPr>
          <p:cNvPicPr>
            <a:picLocks noChangeAspect="1"/>
          </p:cNvPicPr>
          <p:nvPr/>
        </p:nvPicPr>
        <p:blipFill>
          <a:blip r:embed="rId1"/>
          <a:stretch>
            <a:fillRect/>
          </a:stretch>
        </p:blipFill>
        <p:spPr>
          <a:xfrm>
            <a:off x="548640" y="4096512"/>
            <a:ext cx="237744" cy="237744"/>
          </a:xfrm>
          <a:prstGeom prst="rect">
            <a:avLst/>
          </a:prstGeom>
        </p:spPr>
      </p:pic>
      <p:sp>
        <p:nvSpPr>
          <p:cNvPr id="16" name="Text 13"/>
          <p:cNvSpPr txBox="1"/>
          <p:nvPr/>
        </p:nvSpPr>
        <p:spPr>
          <a:xfrm>
            <a:off x="932688" y="4069080"/>
            <a:ext cx="4937760" cy="310896"/>
          </a:xfrm>
          <a:prstGeom prst="rect">
            <a:avLst/>
          </a:prstGeom>
          <a:noFill/>
          <a:ln/>
        </p:spPr>
        <p:txBody>
          <a:bodyPr wrap="square" lIns="0" tIns="0" rIns="0" bIns="0" rtlCol="0" anchor="ctr"/>
          <a:lstStyle/>
          <a:p>
            <a:pPr indent="0" marL="0">
              <a:buNone/>
            </a:pPr>
            <a:r>
              <a:rPr lang="en-US" sz="1400" dirty="0">
                <a:solidFill>
                  <a:srgbClr val="F4F6F5"/>
                </a:solidFill>
                <a:latin typeface="Manrope" pitchFamily="34" charset="0"/>
                <a:ea typeface="Manrope" pitchFamily="34" charset="-122"/>
                <a:cs typeface="Manrope" pitchFamily="34" charset="-120"/>
              </a:rPr>
              <a:t>Assignee, deadline and priority parsed for you</a:t>
            </a:r>
            <a:endParaRPr lang="en-US" sz="1400" dirty="0"/>
          </a:p>
        </p:txBody>
      </p:sp>
      <p:pic>
        <p:nvPicPr>
          <p:cNvPr id="17" name="Image 1" descr="preencoded.png">    </p:cNvPr>
          <p:cNvPicPr>
            <a:picLocks noChangeAspect="1"/>
          </p:cNvPicPr>
          <p:nvPr/>
        </p:nvPicPr>
        <p:blipFill>
          <a:blip r:embed="rId2"/>
          <a:stretch>
            <a:fillRect/>
          </a:stretch>
        </p:blipFill>
        <p:spPr>
          <a:xfrm>
            <a:off x="548640" y="4599432"/>
            <a:ext cx="237744" cy="237744"/>
          </a:xfrm>
          <a:prstGeom prst="rect">
            <a:avLst/>
          </a:prstGeom>
        </p:spPr>
      </p:pic>
      <p:sp>
        <p:nvSpPr>
          <p:cNvPr id="18" name="Text 14"/>
          <p:cNvSpPr txBox="1"/>
          <p:nvPr/>
        </p:nvSpPr>
        <p:spPr>
          <a:xfrm>
            <a:off x="932688" y="4572000"/>
            <a:ext cx="4937760" cy="310896"/>
          </a:xfrm>
          <a:prstGeom prst="rect">
            <a:avLst/>
          </a:prstGeom>
          <a:noFill/>
          <a:ln/>
        </p:spPr>
        <p:txBody>
          <a:bodyPr wrap="square" lIns="0" tIns="0" rIns="0" bIns="0" rtlCol="0" anchor="ctr"/>
          <a:lstStyle/>
          <a:p>
            <a:pPr indent="0" marL="0">
              <a:buNone/>
            </a:pPr>
            <a:r>
              <a:rPr lang="en-US" sz="1400" dirty="0">
                <a:solidFill>
                  <a:srgbClr val="F4F6F5"/>
                </a:solidFill>
                <a:latin typeface="Manrope" pitchFamily="34" charset="0"/>
                <a:ea typeface="Manrope" pitchFamily="34" charset="-122"/>
                <a:cs typeface="Manrope" pitchFamily="34" charset="-120"/>
              </a:rPr>
              <a:t>Lands in the PM approval queue, with duplicate detection</a:t>
            </a:r>
            <a:endParaRPr lang="en-US" sz="1400" dirty="0"/>
          </a:p>
        </p:txBody>
      </p:sp>
      <p:pic>
        <p:nvPicPr>
          <p:cNvPr id="19" name="Image 2" descr="preencoded.png">    </p:cNvPr>
          <p:cNvPicPr>
            <a:picLocks noChangeAspect="1"/>
          </p:cNvPicPr>
          <p:nvPr/>
        </p:nvPicPr>
        <p:blipFill>
          <a:blip r:embed="rId3"/>
          <a:stretch>
            <a:fillRect/>
          </a:stretch>
        </p:blipFill>
        <p:spPr>
          <a:xfrm>
            <a:off x="548640" y="5102352"/>
            <a:ext cx="237744" cy="237744"/>
          </a:xfrm>
          <a:prstGeom prst="rect">
            <a:avLst/>
          </a:prstGeom>
        </p:spPr>
      </p:pic>
      <p:sp>
        <p:nvSpPr>
          <p:cNvPr id="20" name="Text 15"/>
          <p:cNvSpPr txBox="1"/>
          <p:nvPr/>
        </p:nvSpPr>
        <p:spPr>
          <a:xfrm>
            <a:off x="932688" y="5074920"/>
            <a:ext cx="4937760" cy="310896"/>
          </a:xfrm>
          <a:prstGeom prst="rect">
            <a:avLst/>
          </a:prstGeom>
          <a:noFill/>
          <a:ln/>
        </p:spPr>
        <p:txBody>
          <a:bodyPr wrap="square" lIns="0" tIns="0" rIns="0" bIns="0" rtlCol="0" anchor="ctr"/>
          <a:lstStyle/>
          <a:p>
            <a:pPr indent="0" marL="0">
              <a:buNone/>
            </a:pPr>
            <a:r>
              <a:rPr lang="en-US" sz="1400" dirty="0">
                <a:solidFill>
                  <a:srgbClr val="F4F6F5"/>
                </a:solidFill>
                <a:latin typeface="Manrope" pitchFamily="34" charset="0"/>
                <a:ea typeface="Manrope" pitchFamily="34" charset="-122"/>
                <a:cs typeface="Manrope" pitchFamily="34" charset="-120"/>
              </a:rPr>
              <a:t>Works from a voice note, rough notes or a PDF brief</a:t>
            </a:r>
            <a:endParaRPr lang="en-US" sz="1400" dirty="0"/>
          </a:p>
        </p:txBody>
      </p:sp>
      <p:sp>
        <p:nvSpPr>
          <p:cNvPr id="21" name="Shape 16"/>
          <p:cNvSpPr/>
          <p:nvPr/>
        </p:nvSpPr>
        <p:spPr>
          <a:xfrm>
            <a:off x="6400800" y="502920"/>
            <a:ext cx="5242255" cy="5806440"/>
          </a:xfrm>
          <a:prstGeom prst="roundRect">
            <a:avLst>
              <a:gd name="adj" fmla="val 3837"/>
            </a:avLst>
          </a:prstGeom>
          <a:solidFill>
            <a:srgbClr val="15191A"/>
          </a:solidFill>
          <a:ln w="9525">
            <a:solidFill>
              <a:srgbClr val="262C2E"/>
            </a:solidFill>
            <a:prstDash val="solid"/>
          </a:ln>
        </p:spPr>
      </p:sp>
      <p:sp>
        <p:nvSpPr>
          <p:cNvPr id="22" name="Shape 17"/>
          <p:cNvSpPr/>
          <p:nvPr/>
        </p:nvSpPr>
        <p:spPr>
          <a:xfrm>
            <a:off x="7772400" y="868680"/>
            <a:ext cx="3550615" cy="1143000"/>
          </a:xfrm>
          <a:prstGeom prst="roundRect">
            <a:avLst>
              <a:gd name="adj" fmla="val 12800"/>
            </a:avLst>
          </a:prstGeom>
          <a:solidFill>
            <a:srgbClr val="25300C"/>
          </a:solidFill>
          <a:ln w="9525">
            <a:solidFill>
              <a:srgbClr val="3C4D12"/>
            </a:solidFill>
            <a:prstDash val="solid"/>
          </a:ln>
        </p:spPr>
      </p:sp>
      <p:sp>
        <p:nvSpPr>
          <p:cNvPr id="23" name="Text 18"/>
          <p:cNvSpPr txBox="1"/>
          <p:nvPr/>
        </p:nvSpPr>
        <p:spPr>
          <a:xfrm>
            <a:off x="8001000" y="1005840"/>
            <a:ext cx="3139135" cy="201168"/>
          </a:xfrm>
          <a:prstGeom prst="rect">
            <a:avLst/>
          </a:prstGeom>
          <a:noFill/>
          <a:ln/>
        </p:spPr>
        <p:txBody>
          <a:bodyPr wrap="square" lIns="0" tIns="0" rIns="0" bIns="0" rtlCol="0" anchor="t"/>
          <a:lstStyle/>
          <a:p>
            <a:pPr indent="0" marL="0">
              <a:buNone/>
            </a:pPr>
            <a:r>
              <a:rPr lang="en-US" sz="850" b="1" spc="150" kern="0" dirty="0">
                <a:solidFill>
                  <a:srgbClr val="B8E62E"/>
                </a:solidFill>
                <a:latin typeface="Plus Jakarta Sans" pitchFamily="34" charset="0"/>
                <a:ea typeface="Plus Jakarta Sans" pitchFamily="34" charset="-122"/>
                <a:cs typeface="Plus Jakarta Sans" pitchFamily="34" charset="-120"/>
              </a:rPr>
              <a:t>YOU  ·  VOICE NOTE  ·  MANGLISH</a:t>
            </a:r>
            <a:endParaRPr lang="en-US" sz="850" dirty="0"/>
          </a:p>
        </p:txBody>
      </p:sp>
      <p:sp>
        <p:nvSpPr>
          <p:cNvPr id="24" name="Text 19"/>
          <p:cNvSpPr txBox="1"/>
          <p:nvPr/>
        </p:nvSpPr>
        <p:spPr>
          <a:xfrm>
            <a:off x="8001000" y="1280160"/>
            <a:ext cx="3139135" cy="640080"/>
          </a:xfrm>
          <a:prstGeom prst="rect">
            <a:avLst/>
          </a:prstGeom>
          <a:noFill/>
          <a:ln/>
        </p:spPr>
        <p:txBody>
          <a:bodyPr wrap="square" lIns="0" tIns="0" rIns="0" bIns="0" rtlCol="0" anchor="t"/>
          <a:lstStyle/>
          <a:p>
            <a:pPr indent="0" marL="0">
              <a:lnSpc>
                <a:spcPct val="115000"/>
              </a:lnSpc>
              <a:buNone/>
            </a:pPr>
            <a:r>
              <a:rPr lang="en-US" sz="1400" b="1" dirty="0">
                <a:solidFill>
                  <a:srgbClr val="F4F6F5"/>
                </a:solidFill>
                <a:latin typeface="Manrope" pitchFamily="34" charset="0"/>
                <a:ea typeface="Manrope" pitchFamily="34" charset="-122"/>
                <a:cs typeface="Manrope" pitchFamily="34" charset="-120"/>
              </a:rPr>
              <a:t>“Naseem-inod OXY landing page copy Friday-il venam, high priority.”</a:t>
            </a:r>
            <a:endParaRPr lang="en-US" sz="1400" dirty="0"/>
          </a:p>
        </p:txBody>
      </p:sp>
      <p:pic>
        <p:nvPicPr>
          <p:cNvPr id="25" name="Image 3" descr="preencoded.png">    </p:cNvPr>
          <p:cNvPicPr>
            <a:picLocks noChangeAspect="1"/>
          </p:cNvPicPr>
          <p:nvPr/>
        </p:nvPicPr>
        <p:blipFill>
          <a:blip r:embed="rId4"/>
          <a:stretch>
            <a:fillRect/>
          </a:stretch>
        </p:blipFill>
        <p:spPr>
          <a:xfrm>
            <a:off x="6720840" y="2286000"/>
            <a:ext cx="438912" cy="438912"/>
          </a:xfrm>
          <a:prstGeom prst="rect">
            <a:avLst/>
          </a:prstGeom>
        </p:spPr>
      </p:pic>
      <p:sp>
        <p:nvSpPr>
          <p:cNvPr id="26" name="Text 20"/>
          <p:cNvSpPr txBox="1"/>
          <p:nvPr/>
        </p:nvSpPr>
        <p:spPr>
          <a:xfrm>
            <a:off x="7315200" y="2304288"/>
            <a:ext cx="2743200" cy="201168"/>
          </a:xfrm>
          <a:prstGeom prst="rect">
            <a:avLst/>
          </a:prstGeom>
          <a:noFill/>
          <a:ln/>
        </p:spPr>
        <p:txBody>
          <a:bodyPr wrap="square" lIns="0" tIns="0" rIns="0" bIns="0" rtlCol="0" anchor="t"/>
          <a:lstStyle/>
          <a:p>
            <a:pPr indent="0" marL="0">
              <a:buNone/>
            </a:pPr>
            <a:r>
              <a:rPr lang="en-US" sz="850" b="1" spc="150" kern="0" dirty="0">
                <a:solidFill>
                  <a:srgbClr val="9AA7A2"/>
                </a:solidFill>
                <a:latin typeface="Plus Jakarta Sans" pitchFamily="34" charset="0"/>
                <a:ea typeface="Plus Jakarta Sans" pitchFamily="34" charset="-122"/>
                <a:cs typeface="Plus Jakarta Sans" pitchFamily="34" charset="-120"/>
              </a:rPr>
              <a:t>BOD APP  ·  DRAFT TASK</a:t>
            </a:r>
            <a:endParaRPr lang="en-US" sz="850" dirty="0"/>
          </a:p>
        </p:txBody>
      </p:sp>
      <p:sp>
        <p:nvSpPr>
          <p:cNvPr id="27" name="Text 21"/>
          <p:cNvSpPr txBox="1"/>
          <p:nvPr/>
        </p:nvSpPr>
        <p:spPr>
          <a:xfrm>
            <a:off x="7315200" y="2542032"/>
            <a:ext cx="3657600" cy="274320"/>
          </a:xfrm>
          <a:prstGeom prst="rect">
            <a:avLst/>
          </a:prstGeom>
          <a:noFill/>
          <a:ln/>
        </p:spPr>
        <p:txBody>
          <a:bodyPr wrap="square" lIns="0" tIns="0" rIns="0" bIns="0" rtlCol="0" anchor="t"/>
          <a:lstStyle/>
          <a:p>
            <a:pPr indent="0" marL="0">
              <a:buNone/>
            </a:pPr>
            <a:r>
              <a:rPr lang="en-US" sz="1300" dirty="0">
                <a:solidFill>
                  <a:srgbClr val="F4F6F5"/>
                </a:solidFill>
                <a:latin typeface="Manrope" pitchFamily="34" charset="0"/>
                <a:ea typeface="Manrope" pitchFamily="34" charset="-122"/>
                <a:cs typeface="Manrope" pitchFamily="34" charset="-120"/>
              </a:rPr>
              <a:t>Here's the task, ready for approval:</a:t>
            </a:r>
            <a:endParaRPr lang="en-US" sz="1300" dirty="0"/>
          </a:p>
        </p:txBody>
      </p:sp>
      <p:sp>
        <p:nvSpPr>
          <p:cNvPr id="28" name="Shape 22"/>
          <p:cNvSpPr/>
          <p:nvPr/>
        </p:nvSpPr>
        <p:spPr>
          <a:xfrm>
            <a:off x="7315200" y="2926080"/>
            <a:ext cx="4007815" cy="2148840"/>
          </a:xfrm>
          <a:prstGeom prst="roundRect">
            <a:avLst>
              <a:gd name="adj" fmla="val 5957"/>
            </a:avLst>
          </a:prstGeom>
          <a:solidFill>
            <a:srgbClr val="1C2123"/>
          </a:solidFill>
          <a:ln w="9525">
            <a:solidFill>
              <a:srgbClr val="262C2E"/>
            </a:solidFill>
            <a:prstDash val="solid"/>
          </a:ln>
        </p:spPr>
      </p:sp>
      <p:sp>
        <p:nvSpPr>
          <p:cNvPr id="29" name="Text 23"/>
          <p:cNvSpPr txBox="1"/>
          <p:nvPr/>
        </p:nvSpPr>
        <p:spPr>
          <a:xfrm>
            <a:off x="7543800" y="3090672"/>
            <a:ext cx="1188720" cy="365760"/>
          </a:xfrm>
          <a:prstGeom prst="rect">
            <a:avLst/>
          </a:prstGeom>
          <a:noFill/>
          <a:ln/>
        </p:spPr>
        <p:txBody>
          <a:bodyPr wrap="square" lIns="0" tIns="0" rIns="0" bIns="0" rtlCol="0" anchor="ctr"/>
          <a:lstStyle/>
          <a:p>
            <a:pPr indent="0" marL="0">
              <a:buNone/>
            </a:pPr>
            <a:r>
              <a:rPr lang="en-US" sz="1250" dirty="0">
                <a:solidFill>
                  <a:srgbClr val="9AA7A2"/>
                </a:solidFill>
                <a:latin typeface="Manrope" pitchFamily="34" charset="0"/>
                <a:ea typeface="Manrope" pitchFamily="34" charset="-122"/>
                <a:cs typeface="Manrope" pitchFamily="34" charset="-120"/>
              </a:rPr>
              <a:t>Task</a:t>
            </a:r>
            <a:endParaRPr lang="en-US" sz="1250" dirty="0"/>
          </a:p>
        </p:txBody>
      </p:sp>
      <p:sp>
        <p:nvSpPr>
          <p:cNvPr id="30" name="Text 24"/>
          <p:cNvSpPr txBox="1"/>
          <p:nvPr/>
        </p:nvSpPr>
        <p:spPr>
          <a:xfrm>
            <a:off x="8778240" y="3090672"/>
            <a:ext cx="2316175" cy="365760"/>
          </a:xfrm>
          <a:prstGeom prst="rect">
            <a:avLst/>
          </a:prstGeom>
          <a:noFill/>
          <a:ln/>
        </p:spPr>
        <p:txBody>
          <a:bodyPr wrap="square" lIns="0" tIns="0" rIns="0" bIns="0" rtlCol="0" anchor="ctr"/>
          <a:lstStyle/>
          <a:p>
            <a:pPr algn="r" indent="0" marL="0">
              <a:buNone/>
            </a:pPr>
            <a:r>
              <a:rPr lang="en-US" sz="1300" b="1" dirty="0">
                <a:solidFill>
                  <a:srgbClr val="F4F6F5"/>
                </a:solidFill>
                <a:latin typeface="Manrope" pitchFamily="34" charset="0"/>
                <a:ea typeface="Manrope" pitchFamily="34" charset="-122"/>
                <a:cs typeface="Manrope" pitchFamily="34" charset="-120"/>
              </a:rPr>
              <a:t>OXY landing page copy</a:t>
            </a:r>
            <a:endParaRPr lang="en-US" sz="1300" dirty="0"/>
          </a:p>
        </p:txBody>
      </p:sp>
      <p:sp>
        <p:nvSpPr>
          <p:cNvPr id="31" name="Shape 25"/>
          <p:cNvSpPr/>
          <p:nvPr/>
        </p:nvSpPr>
        <p:spPr>
          <a:xfrm>
            <a:off x="7543800" y="3520440"/>
            <a:ext cx="3550615" cy="0"/>
          </a:xfrm>
          <a:prstGeom prst="line">
            <a:avLst/>
          </a:prstGeom>
          <a:noFill/>
          <a:ln w="9525">
            <a:solidFill>
              <a:srgbClr val="262C2E"/>
            </a:solidFill>
            <a:prstDash val="solid"/>
          </a:ln>
        </p:spPr>
      </p:sp>
      <p:sp>
        <p:nvSpPr>
          <p:cNvPr id="32" name="Text 26"/>
          <p:cNvSpPr txBox="1"/>
          <p:nvPr/>
        </p:nvSpPr>
        <p:spPr>
          <a:xfrm>
            <a:off x="7543800" y="3566160"/>
            <a:ext cx="1188720" cy="365760"/>
          </a:xfrm>
          <a:prstGeom prst="rect">
            <a:avLst/>
          </a:prstGeom>
          <a:noFill/>
          <a:ln/>
        </p:spPr>
        <p:txBody>
          <a:bodyPr wrap="square" lIns="0" tIns="0" rIns="0" bIns="0" rtlCol="0" anchor="ctr"/>
          <a:lstStyle/>
          <a:p>
            <a:pPr indent="0" marL="0">
              <a:buNone/>
            </a:pPr>
            <a:r>
              <a:rPr lang="en-US" sz="1250" dirty="0">
                <a:solidFill>
                  <a:srgbClr val="9AA7A2"/>
                </a:solidFill>
                <a:latin typeface="Manrope" pitchFamily="34" charset="0"/>
                <a:ea typeface="Manrope" pitchFamily="34" charset="-122"/>
                <a:cs typeface="Manrope" pitchFamily="34" charset="-120"/>
              </a:rPr>
              <a:t>Assignee</a:t>
            </a:r>
            <a:endParaRPr lang="en-US" sz="1250" dirty="0"/>
          </a:p>
        </p:txBody>
      </p:sp>
      <p:sp>
        <p:nvSpPr>
          <p:cNvPr id="33" name="Text 27"/>
          <p:cNvSpPr txBox="1"/>
          <p:nvPr/>
        </p:nvSpPr>
        <p:spPr>
          <a:xfrm>
            <a:off x="8778240" y="3566160"/>
            <a:ext cx="2316175" cy="365760"/>
          </a:xfrm>
          <a:prstGeom prst="rect">
            <a:avLst/>
          </a:prstGeom>
          <a:noFill/>
          <a:ln/>
        </p:spPr>
        <p:txBody>
          <a:bodyPr wrap="square" lIns="0" tIns="0" rIns="0" bIns="0" rtlCol="0" anchor="ctr"/>
          <a:lstStyle/>
          <a:p>
            <a:pPr algn="r" indent="0" marL="0">
              <a:buNone/>
            </a:pPr>
            <a:r>
              <a:rPr lang="en-US" sz="1300" b="1" dirty="0">
                <a:solidFill>
                  <a:srgbClr val="F4F6F5"/>
                </a:solidFill>
                <a:latin typeface="Manrope" pitchFamily="34" charset="0"/>
                <a:ea typeface="Manrope" pitchFamily="34" charset="-122"/>
                <a:cs typeface="Manrope" pitchFamily="34" charset="-120"/>
              </a:rPr>
              <a:t>Naseem</a:t>
            </a:r>
            <a:endParaRPr lang="en-US" sz="1300" dirty="0"/>
          </a:p>
        </p:txBody>
      </p:sp>
      <p:sp>
        <p:nvSpPr>
          <p:cNvPr id="34" name="Shape 28"/>
          <p:cNvSpPr/>
          <p:nvPr/>
        </p:nvSpPr>
        <p:spPr>
          <a:xfrm>
            <a:off x="7543800" y="3995928"/>
            <a:ext cx="3550615" cy="0"/>
          </a:xfrm>
          <a:prstGeom prst="line">
            <a:avLst/>
          </a:prstGeom>
          <a:noFill/>
          <a:ln w="9525">
            <a:solidFill>
              <a:srgbClr val="262C2E"/>
            </a:solidFill>
            <a:prstDash val="solid"/>
          </a:ln>
        </p:spPr>
      </p:sp>
      <p:sp>
        <p:nvSpPr>
          <p:cNvPr id="35" name="Text 29"/>
          <p:cNvSpPr txBox="1"/>
          <p:nvPr/>
        </p:nvSpPr>
        <p:spPr>
          <a:xfrm>
            <a:off x="7543800" y="4041648"/>
            <a:ext cx="1188720" cy="365760"/>
          </a:xfrm>
          <a:prstGeom prst="rect">
            <a:avLst/>
          </a:prstGeom>
          <a:noFill/>
          <a:ln/>
        </p:spPr>
        <p:txBody>
          <a:bodyPr wrap="square" lIns="0" tIns="0" rIns="0" bIns="0" rtlCol="0" anchor="ctr"/>
          <a:lstStyle/>
          <a:p>
            <a:pPr indent="0" marL="0">
              <a:buNone/>
            </a:pPr>
            <a:r>
              <a:rPr lang="en-US" sz="1250" dirty="0">
                <a:solidFill>
                  <a:srgbClr val="9AA7A2"/>
                </a:solidFill>
                <a:latin typeface="Manrope" pitchFamily="34" charset="0"/>
                <a:ea typeface="Manrope" pitchFamily="34" charset="-122"/>
                <a:cs typeface="Manrope" pitchFamily="34" charset="-120"/>
              </a:rPr>
              <a:t>Deadline</a:t>
            </a:r>
            <a:endParaRPr lang="en-US" sz="1250" dirty="0"/>
          </a:p>
        </p:txBody>
      </p:sp>
      <p:sp>
        <p:nvSpPr>
          <p:cNvPr id="36" name="Text 30"/>
          <p:cNvSpPr txBox="1"/>
          <p:nvPr/>
        </p:nvSpPr>
        <p:spPr>
          <a:xfrm>
            <a:off x="8778240" y="4041648"/>
            <a:ext cx="2316175" cy="365760"/>
          </a:xfrm>
          <a:prstGeom prst="rect">
            <a:avLst/>
          </a:prstGeom>
          <a:noFill/>
          <a:ln/>
        </p:spPr>
        <p:txBody>
          <a:bodyPr wrap="square" lIns="0" tIns="0" rIns="0" bIns="0" rtlCol="0" anchor="ctr"/>
          <a:lstStyle/>
          <a:p>
            <a:pPr algn="r" indent="0" marL="0">
              <a:buNone/>
            </a:pPr>
            <a:r>
              <a:rPr lang="en-US" sz="1300" b="1" dirty="0">
                <a:solidFill>
                  <a:srgbClr val="F4F6F5"/>
                </a:solidFill>
                <a:latin typeface="Manrope" pitchFamily="34" charset="0"/>
                <a:ea typeface="Manrope" pitchFamily="34" charset="-122"/>
                <a:cs typeface="Manrope" pitchFamily="34" charset="-120"/>
              </a:rPr>
              <a:t>Friday</a:t>
            </a:r>
            <a:endParaRPr lang="en-US" sz="1300" dirty="0"/>
          </a:p>
        </p:txBody>
      </p:sp>
      <p:sp>
        <p:nvSpPr>
          <p:cNvPr id="37" name="Shape 31"/>
          <p:cNvSpPr/>
          <p:nvPr/>
        </p:nvSpPr>
        <p:spPr>
          <a:xfrm>
            <a:off x="7543800" y="4471416"/>
            <a:ext cx="3550615" cy="0"/>
          </a:xfrm>
          <a:prstGeom prst="line">
            <a:avLst/>
          </a:prstGeom>
          <a:noFill/>
          <a:ln w="9525">
            <a:solidFill>
              <a:srgbClr val="262C2E"/>
            </a:solidFill>
            <a:prstDash val="solid"/>
          </a:ln>
        </p:spPr>
      </p:sp>
      <p:sp>
        <p:nvSpPr>
          <p:cNvPr id="38" name="Text 32"/>
          <p:cNvSpPr txBox="1"/>
          <p:nvPr/>
        </p:nvSpPr>
        <p:spPr>
          <a:xfrm>
            <a:off x="7543800" y="4517136"/>
            <a:ext cx="1188720" cy="365760"/>
          </a:xfrm>
          <a:prstGeom prst="rect">
            <a:avLst/>
          </a:prstGeom>
          <a:noFill/>
          <a:ln/>
        </p:spPr>
        <p:txBody>
          <a:bodyPr wrap="square" lIns="0" tIns="0" rIns="0" bIns="0" rtlCol="0" anchor="ctr"/>
          <a:lstStyle/>
          <a:p>
            <a:pPr indent="0" marL="0">
              <a:buNone/>
            </a:pPr>
            <a:r>
              <a:rPr lang="en-US" sz="1250" dirty="0">
                <a:solidFill>
                  <a:srgbClr val="9AA7A2"/>
                </a:solidFill>
                <a:latin typeface="Manrope" pitchFamily="34" charset="0"/>
                <a:ea typeface="Manrope" pitchFamily="34" charset="-122"/>
                <a:cs typeface="Manrope" pitchFamily="34" charset="-120"/>
              </a:rPr>
              <a:t>Priority</a:t>
            </a:r>
            <a:endParaRPr lang="en-US" sz="1250" dirty="0"/>
          </a:p>
        </p:txBody>
      </p:sp>
      <p:sp>
        <p:nvSpPr>
          <p:cNvPr id="39" name="Text 33"/>
          <p:cNvSpPr txBox="1"/>
          <p:nvPr/>
        </p:nvSpPr>
        <p:spPr>
          <a:xfrm>
            <a:off x="8778240" y="4517136"/>
            <a:ext cx="2316175" cy="365760"/>
          </a:xfrm>
          <a:prstGeom prst="rect">
            <a:avLst/>
          </a:prstGeom>
          <a:noFill/>
          <a:ln/>
        </p:spPr>
        <p:txBody>
          <a:bodyPr wrap="square" lIns="0" tIns="0" rIns="0" bIns="0" rtlCol="0" anchor="ctr"/>
          <a:lstStyle/>
          <a:p>
            <a:pPr algn="r" indent="0" marL="0">
              <a:buNone/>
            </a:pPr>
            <a:r>
              <a:rPr lang="en-US" sz="1300" b="1" dirty="0">
                <a:solidFill>
                  <a:srgbClr val="FF5C7A"/>
                </a:solidFill>
                <a:latin typeface="Manrope" pitchFamily="34" charset="0"/>
                <a:ea typeface="Manrope" pitchFamily="34" charset="-122"/>
                <a:cs typeface="Manrope" pitchFamily="34" charset="-120"/>
              </a:rPr>
              <a:t>High</a:t>
            </a:r>
            <a:endParaRPr lang="en-US" sz="1300" dirty="0"/>
          </a:p>
        </p:txBody>
      </p:sp>
      <p:sp>
        <p:nvSpPr>
          <p:cNvPr id="40" name="Shape 34"/>
          <p:cNvSpPr/>
          <p:nvPr/>
        </p:nvSpPr>
        <p:spPr>
          <a:xfrm>
            <a:off x="7315200" y="5303520"/>
            <a:ext cx="1554480" cy="402336"/>
          </a:xfrm>
          <a:prstGeom prst="roundRect">
            <a:avLst>
              <a:gd name="adj" fmla="val 50000"/>
            </a:avLst>
          </a:prstGeom>
          <a:solidFill>
            <a:srgbClr val="B8E62E"/>
          </a:solidFill>
          <a:ln/>
        </p:spPr>
      </p:sp>
      <p:sp>
        <p:nvSpPr>
          <p:cNvPr id="41" name="Text 35"/>
          <p:cNvSpPr txBox="1"/>
          <p:nvPr/>
        </p:nvSpPr>
        <p:spPr>
          <a:xfrm>
            <a:off x="7315200" y="5303520"/>
            <a:ext cx="1554480" cy="402336"/>
          </a:xfrm>
          <a:prstGeom prst="rect">
            <a:avLst/>
          </a:prstGeom>
          <a:noFill/>
          <a:ln/>
        </p:spPr>
        <p:txBody>
          <a:bodyPr wrap="square" lIns="0" tIns="0" rIns="0" bIns="0" rtlCol="0" anchor="ctr"/>
          <a:lstStyle/>
          <a:p>
            <a:pPr algn="ctr" indent="0" marL="0">
              <a:buNone/>
            </a:pPr>
            <a:r>
              <a:rPr lang="en-US" sz="1000" b="1" spc="150" kern="0" dirty="0">
                <a:solidFill>
                  <a:srgbClr val="0B0D0C"/>
                </a:solidFill>
                <a:latin typeface="Plus Jakarta Sans" pitchFamily="34" charset="0"/>
                <a:ea typeface="Plus Jakarta Sans" pitchFamily="34" charset="-122"/>
                <a:cs typeface="Plus Jakarta Sans" pitchFamily="34" charset="-120"/>
              </a:rPr>
              <a:t>APPROVE</a:t>
            </a:r>
            <a:endParaRPr lang="en-US" sz="1000" dirty="0"/>
          </a:p>
        </p:txBody>
      </p:sp>
      <p:sp>
        <p:nvSpPr>
          <p:cNvPr id="42" name="Shape 36"/>
          <p:cNvSpPr/>
          <p:nvPr/>
        </p:nvSpPr>
        <p:spPr>
          <a:xfrm>
            <a:off x="9006840" y="5303520"/>
            <a:ext cx="1280160" cy="402336"/>
          </a:xfrm>
          <a:prstGeom prst="roundRect">
            <a:avLst>
              <a:gd name="adj" fmla="val 50000"/>
            </a:avLst>
          </a:prstGeom>
          <a:solidFill>
            <a:srgbClr val="1C2123"/>
          </a:solidFill>
          <a:ln w="9525">
            <a:solidFill>
              <a:srgbClr val="262C2E"/>
            </a:solidFill>
            <a:prstDash val="solid"/>
          </a:ln>
        </p:spPr>
      </p:sp>
      <p:sp>
        <p:nvSpPr>
          <p:cNvPr id="43" name="Text 37"/>
          <p:cNvSpPr txBox="1"/>
          <p:nvPr/>
        </p:nvSpPr>
        <p:spPr>
          <a:xfrm>
            <a:off x="9006840" y="5303520"/>
            <a:ext cx="1280160" cy="402336"/>
          </a:xfrm>
          <a:prstGeom prst="rect">
            <a:avLst/>
          </a:prstGeom>
          <a:noFill/>
          <a:ln/>
        </p:spPr>
        <p:txBody>
          <a:bodyPr wrap="square" lIns="0" tIns="0" rIns="0" bIns="0" rtlCol="0" anchor="ctr"/>
          <a:lstStyle/>
          <a:p>
            <a:pPr algn="ctr" indent="0" marL="0">
              <a:buNone/>
            </a:pPr>
            <a:r>
              <a:rPr lang="en-US" sz="1000" b="1" spc="150" kern="0" dirty="0">
                <a:solidFill>
                  <a:srgbClr val="F4F6F5"/>
                </a:solidFill>
                <a:latin typeface="Plus Jakarta Sans" pitchFamily="34" charset="0"/>
                <a:ea typeface="Plus Jakarta Sans" pitchFamily="34" charset="-122"/>
                <a:cs typeface="Plus Jakarta Sans" pitchFamily="34" charset="-120"/>
              </a:rPr>
              <a:t>EDIT</a:t>
            </a:r>
            <a:endParaRPr lang="en-US" sz="1000" dirty="0"/>
          </a:p>
        </p:txBody>
      </p:sp>
      <p:sp>
        <p:nvSpPr>
          <p:cNvPr id="44" name="Text 38"/>
          <p:cNvSpPr txBox="1"/>
          <p:nvPr/>
        </p:nvSpPr>
        <p:spPr>
          <a:xfrm>
            <a:off x="548640" y="6446520"/>
            <a:ext cx="5486400" cy="201168"/>
          </a:xfrm>
          <a:prstGeom prst="rect">
            <a:avLst/>
          </a:prstGeom>
          <a:noFill/>
          <a:ln/>
        </p:spPr>
        <p:txBody>
          <a:bodyPr wrap="square" lIns="0" tIns="0" rIns="0" bIns="0" rtlCol="0" anchor="t"/>
          <a:lstStyle/>
          <a:p>
            <a:pPr indent="0" marL="0">
              <a:buNone/>
            </a:pPr>
            <a:r>
              <a:rPr lang="en-US" sz="800" b="1" spc="200" kern="0" dirty="0">
                <a:solidFill>
                  <a:srgbClr val="6B7773"/>
                </a:solidFill>
                <a:latin typeface="Plus Jakarta Sans" pitchFamily="34" charset="0"/>
                <a:ea typeface="Plus Jakarta Sans" pitchFamily="34" charset="-122"/>
                <a:cs typeface="Plus Jakarta Sans" pitchFamily="34" charset="-120"/>
              </a:rPr>
              <a:t>BOD APP  ·  RUN YOUR STUDIO THE CALM WAY</a:t>
            </a:r>
            <a:endParaRPr lang="en-US" sz="800" dirty="0"/>
          </a:p>
        </p:txBody>
      </p:sp>
      <p:sp>
        <p:nvSpPr>
          <p:cNvPr id="45" name="Text 39"/>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b="1" dirty="0">
                <a:solidFill>
                  <a:srgbClr val="6B7773"/>
                </a:solidFill>
                <a:latin typeface="Plus Jakarta Sans" pitchFamily="34" charset="0"/>
                <a:ea typeface="Plus Jakarta Sans" pitchFamily="34" charset="-122"/>
                <a:cs typeface="Plus Jakarta Sans"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548640" y="822960"/>
            <a:ext cx="6400800"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06  ·  ANALYTICS &amp; AUTO STANDUP</a:t>
            </a:r>
            <a:endParaRPr lang="en-US" sz="1000" dirty="0"/>
          </a:p>
        </p:txBody>
      </p:sp>
      <p:sp>
        <p:nvSpPr>
          <p:cNvPr id="3" name="Text 1"/>
          <p:cNvSpPr txBox="1"/>
          <p:nvPr/>
        </p:nvSpPr>
        <p:spPr>
          <a:xfrm>
            <a:off x="548640" y="1143000"/>
            <a:ext cx="7315200" cy="685800"/>
          </a:xfrm>
          <a:prstGeom prst="rect">
            <a:avLst/>
          </a:prstGeom>
          <a:noFill/>
          <a:ln/>
        </p:spPr>
        <p:txBody>
          <a:bodyPr wrap="square" lIns="0" tIns="0" rIns="0" bIns="0" rtlCol="0" anchor="t"/>
          <a:lstStyle/>
          <a:p>
            <a:pPr indent="0" marL="0">
              <a:buNone/>
            </a:pPr>
            <a:r>
              <a:rPr lang="en-US" sz="3000" b="1" dirty="0">
                <a:solidFill>
                  <a:srgbClr val="F4F6F5"/>
                </a:solidFill>
                <a:latin typeface="Epilogue" pitchFamily="34" charset="0"/>
                <a:ea typeface="Epilogue" pitchFamily="34" charset="-122"/>
                <a:cs typeface="Epilogue" pitchFamily="34" charset="-120"/>
              </a:rPr>
              <a:t>See the whole studio at a glance.</a:t>
            </a:r>
            <a:endParaRPr lang="en-US" sz="3000" dirty="0"/>
          </a:p>
        </p:txBody>
      </p:sp>
      <p:sp>
        <p:nvSpPr>
          <p:cNvPr id="4" name="Text 2"/>
          <p:cNvSpPr txBox="1"/>
          <p:nvPr/>
        </p:nvSpPr>
        <p:spPr>
          <a:xfrm>
            <a:off x="548640" y="1920240"/>
            <a:ext cx="6583680" cy="731520"/>
          </a:xfrm>
          <a:prstGeom prst="rect">
            <a:avLst/>
          </a:prstGeom>
          <a:noFill/>
          <a:ln/>
        </p:spPr>
        <p:txBody>
          <a:bodyPr wrap="square" lIns="0" tIns="0" rIns="0" bIns="0" rtlCol="0" anchor="t"/>
          <a:lstStyle/>
          <a:p>
            <a:pPr indent="0" marL="0">
              <a:lnSpc>
                <a:spcPct val="120000"/>
              </a:lnSpc>
              <a:buNone/>
            </a:pPr>
            <a:r>
              <a:rPr lang="en-US" sz="1500" dirty="0">
                <a:solidFill>
                  <a:srgbClr val="9AA7A2"/>
                </a:solidFill>
                <a:latin typeface="Manrope" pitchFamily="34" charset="0"/>
                <a:ea typeface="Manrope" pitchFamily="34" charset="-122"/>
                <a:cs typeface="Manrope" pitchFamily="34" charset="-120"/>
              </a:rPr>
              <a:t>Deliverables shipped, clients served, average turnaround — the numbers a founder actually asks for, without a single spreadsheet.</a:t>
            </a:r>
            <a:endParaRPr lang="en-US" sz="1500" dirty="0"/>
          </a:p>
        </p:txBody>
      </p:sp>
      <p:sp>
        <p:nvSpPr>
          <p:cNvPr id="5" name="Shape 3"/>
          <p:cNvSpPr/>
          <p:nvPr/>
        </p:nvSpPr>
        <p:spPr>
          <a:xfrm>
            <a:off x="548640" y="2926080"/>
            <a:ext cx="3246120" cy="1463040"/>
          </a:xfrm>
          <a:prstGeom prst="roundRect">
            <a:avLst>
              <a:gd name="adj" fmla="val 10000"/>
            </a:avLst>
          </a:prstGeom>
          <a:solidFill>
            <a:srgbClr val="15191A"/>
          </a:solidFill>
          <a:ln w="9525">
            <a:solidFill>
              <a:srgbClr val="262C2E"/>
            </a:solidFill>
            <a:prstDash val="solid"/>
          </a:ln>
        </p:spPr>
      </p:sp>
      <p:sp>
        <p:nvSpPr>
          <p:cNvPr id="6" name="Shape 4"/>
          <p:cNvSpPr/>
          <p:nvPr/>
        </p:nvSpPr>
        <p:spPr>
          <a:xfrm>
            <a:off x="777240" y="3154680"/>
            <a:ext cx="438912" cy="438912"/>
          </a:xfrm>
          <a:prstGeom prst="roundRect">
            <a:avLst>
              <a:gd name="adj" fmla="val 28000"/>
            </a:avLst>
          </a:prstGeom>
          <a:solidFill>
            <a:srgbClr val="1C2123"/>
          </a:solidFill>
          <a:ln/>
        </p:spPr>
      </p:sp>
      <p:pic>
        <p:nvPicPr>
          <p:cNvPr id="7" name="Image 0" descr="preencoded.png">    </p:cNvPr>
          <p:cNvPicPr>
            <a:picLocks noChangeAspect="1"/>
          </p:cNvPicPr>
          <p:nvPr/>
        </p:nvPicPr>
        <p:blipFill>
          <a:blip r:embed="rId1"/>
          <a:stretch>
            <a:fillRect/>
          </a:stretch>
        </p:blipFill>
        <p:spPr>
          <a:xfrm>
            <a:off x="882579" y="3260019"/>
            <a:ext cx="228234" cy="228234"/>
          </a:xfrm>
          <a:prstGeom prst="rect">
            <a:avLst/>
          </a:prstGeom>
        </p:spPr>
      </p:pic>
      <p:sp>
        <p:nvSpPr>
          <p:cNvPr id="8" name="Text 5"/>
          <p:cNvSpPr txBox="1"/>
          <p:nvPr/>
        </p:nvSpPr>
        <p:spPr>
          <a:xfrm>
            <a:off x="777240" y="3703320"/>
            <a:ext cx="2834640" cy="274320"/>
          </a:xfrm>
          <a:prstGeom prst="rect">
            <a:avLst/>
          </a:prstGeom>
          <a:noFill/>
          <a:ln/>
        </p:spPr>
        <p:txBody>
          <a:bodyPr wrap="square" lIns="0" tIns="0" rIns="0" bIns="0" rtlCol="0" anchor="t"/>
          <a:lstStyle/>
          <a:p>
            <a:pPr indent="0" marL="0">
              <a:buNone/>
            </a:pPr>
            <a:r>
              <a:rPr lang="en-US" sz="1350" b="1" dirty="0">
                <a:solidFill>
                  <a:srgbClr val="F4F6F5"/>
                </a:solidFill>
                <a:latin typeface="Epilogue" pitchFamily="34" charset="0"/>
                <a:ea typeface="Epilogue" pitchFamily="34" charset="-122"/>
                <a:cs typeface="Epilogue" pitchFamily="34" charset="-120"/>
              </a:rPr>
              <a:t>Output per client</a:t>
            </a:r>
            <a:endParaRPr lang="en-US" sz="1350" dirty="0"/>
          </a:p>
        </p:txBody>
      </p:sp>
      <p:sp>
        <p:nvSpPr>
          <p:cNvPr id="9" name="Text 6"/>
          <p:cNvSpPr txBox="1"/>
          <p:nvPr/>
        </p:nvSpPr>
        <p:spPr>
          <a:xfrm>
            <a:off x="777240" y="3959352"/>
            <a:ext cx="2834640" cy="384048"/>
          </a:xfrm>
          <a:prstGeom prst="rect">
            <a:avLst/>
          </a:prstGeom>
          <a:noFill/>
          <a:ln/>
        </p:spPr>
        <p:txBody>
          <a:bodyPr wrap="square" lIns="0" tIns="0" rIns="0" bIns="0" rtlCol="0" anchor="t"/>
          <a:lstStyle/>
          <a:p>
            <a:pPr indent="0" marL="0">
              <a:lnSpc>
                <a:spcPct val="105000"/>
              </a:lnSpc>
              <a:buNone/>
            </a:pPr>
            <a:r>
              <a:rPr lang="en-US" sz="1050" dirty="0">
                <a:solidFill>
                  <a:srgbClr val="9AA7A2"/>
                </a:solidFill>
                <a:latin typeface="Manrope" pitchFamily="34" charset="0"/>
                <a:ea typeface="Manrope" pitchFamily="34" charset="-122"/>
                <a:cs typeface="Manrope" pitchFamily="34" charset="-120"/>
              </a:rPr>
              <a:t>Every client gets its own colour, so the workload split is obvious.</a:t>
            </a:r>
            <a:endParaRPr lang="en-US" sz="1050" dirty="0"/>
          </a:p>
        </p:txBody>
      </p:sp>
      <p:sp>
        <p:nvSpPr>
          <p:cNvPr id="10" name="Shape 7"/>
          <p:cNvSpPr/>
          <p:nvPr/>
        </p:nvSpPr>
        <p:spPr>
          <a:xfrm>
            <a:off x="3931920" y="2926080"/>
            <a:ext cx="3246120" cy="1463040"/>
          </a:xfrm>
          <a:prstGeom prst="roundRect">
            <a:avLst>
              <a:gd name="adj" fmla="val 10000"/>
            </a:avLst>
          </a:prstGeom>
          <a:solidFill>
            <a:srgbClr val="15191A"/>
          </a:solidFill>
          <a:ln w="9525">
            <a:solidFill>
              <a:srgbClr val="262C2E"/>
            </a:solidFill>
            <a:prstDash val="solid"/>
          </a:ln>
        </p:spPr>
      </p:sp>
      <p:sp>
        <p:nvSpPr>
          <p:cNvPr id="11" name="Shape 8"/>
          <p:cNvSpPr/>
          <p:nvPr/>
        </p:nvSpPr>
        <p:spPr>
          <a:xfrm>
            <a:off x="4160520" y="3154680"/>
            <a:ext cx="438912" cy="438912"/>
          </a:xfrm>
          <a:prstGeom prst="roundRect">
            <a:avLst>
              <a:gd name="adj" fmla="val 28000"/>
            </a:avLst>
          </a:prstGeom>
          <a:solidFill>
            <a:srgbClr val="1C2123"/>
          </a:solidFill>
          <a:ln/>
        </p:spPr>
      </p:sp>
      <p:pic>
        <p:nvPicPr>
          <p:cNvPr id="12" name="Image 1" descr="preencoded.png">    </p:cNvPr>
          <p:cNvPicPr>
            <a:picLocks noChangeAspect="1"/>
          </p:cNvPicPr>
          <p:nvPr/>
        </p:nvPicPr>
        <p:blipFill>
          <a:blip r:embed="rId2"/>
          <a:stretch>
            <a:fillRect/>
          </a:stretch>
        </p:blipFill>
        <p:spPr>
          <a:xfrm>
            <a:off x="4265859" y="3260019"/>
            <a:ext cx="228234" cy="228234"/>
          </a:xfrm>
          <a:prstGeom prst="rect">
            <a:avLst/>
          </a:prstGeom>
        </p:spPr>
      </p:pic>
      <p:sp>
        <p:nvSpPr>
          <p:cNvPr id="13" name="Text 9"/>
          <p:cNvSpPr txBox="1"/>
          <p:nvPr/>
        </p:nvSpPr>
        <p:spPr>
          <a:xfrm>
            <a:off x="4160520" y="3703320"/>
            <a:ext cx="2834640" cy="274320"/>
          </a:xfrm>
          <a:prstGeom prst="rect">
            <a:avLst/>
          </a:prstGeom>
          <a:noFill/>
          <a:ln/>
        </p:spPr>
        <p:txBody>
          <a:bodyPr wrap="square" lIns="0" tIns="0" rIns="0" bIns="0" rtlCol="0" anchor="t"/>
          <a:lstStyle/>
          <a:p>
            <a:pPr indent="0" marL="0">
              <a:buNone/>
            </a:pPr>
            <a:r>
              <a:rPr lang="en-US" sz="1350" b="1" dirty="0">
                <a:solidFill>
                  <a:srgbClr val="F4F6F5"/>
                </a:solidFill>
                <a:latin typeface="Epilogue" pitchFamily="34" charset="0"/>
                <a:ea typeface="Epilogue" pitchFamily="34" charset="-122"/>
                <a:cs typeface="Epilogue" pitchFamily="34" charset="-120"/>
              </a:rPr>
              <a:t>AI summaries</a:t>
            </a:r>
            <a:endParaRPr lang="en-US" sz="1350" dirty="0"/>
          </a:p>
        </p:txBody>
      </p:sp>
      <p:sp>
        <p:nvSpPr>
          <p:cNvPr id="14" name="Text 10"/>
          <p:cNvSpPr txBox="1"/>
          <p:nvPr/>
        </p:nvSpPr>
        <p:spPr>
          <a:xfrm>
            <a:off x="4160520" y="3959352"/>
            <a:ext cx="2834640" cy="384048"/>
          </a:xfrm>
          <a:prstGeom prst="rect">
            <a:avLst/>
          </a:prstGeom>
          <a:noFill/>
          <a:ln/>
        </p:spPr>
        <p:txBody>
          <a:bodyPr wrap="square" lIns="0" tIns="0" rIns="0" bIns="0" rtlCol="0" anchor="t"/>
          <a:lstStyle/>
          <a:p>
            <a:pPr indent="0" marL="0">
              <a:lnSpc>
                <a:spcPct val="105000"/>
              </a:lnSpc>
              <a:buNone/>
            </a:pPr>
            <a:r>
              <a:rPr lang="en-US" sz="1050" dirty="0">
                <a:solidFill>
                  <a:srgbClr val="9AA7A2"/>
                </a:solidFill>
                <a:latin typeface="Manrope" pitchFamily="34" charset="0"/>
                <a:ea typeface="Manrope" pitchFamily="34" charset="-122"/>
                <a:cs typeface="Manrope" pitchFamily="34" charset="-120"/>
              </a:rPr>
              <a:t>A daily briefing per person and a plain-English read of the week.</a:t>
            </a:r>
            <a:endParaRPr lang="en-US" sz="1050" dirty="0"/>
          </a:p>
        </p:txBody>
      </p:sp>
      <p:sp>
        <p:nvSpPr>
          <p:cNvPr id="15" name="Shape 11"/>
          <p:cNvSpPr/>
          <p:nvPr/>
        </p:nvSpPr>
        <p:spPr>
          <a:xfrm>
            <a:off x="548640" y="4526280"/>
            <a:ext cx="3246120" cy="1463040"/>
          </a:xfrm>
          <a:prstGeom prst="roundRect">
            <a:avLst>
              <a:gd name="adj" fmla="val 10000"/>
            </a:avLst>
          </a:prstGeom>
          <a:solidFill>
            <a:srgbClr val="15191A"/>
          </a:solidFill>
          <a:ln w="9525">
            <a:solidFill>
              <a:srgbClr val="262C2E"/>
            </a:solidFill>
            <a:prstDash val="solid"/>
          </a:ln>
        </p:spPr>
      </p:sp>
      <p:sp>
        <p:nvSpPr>
          <p:cNvPr id="16" name="Shape 12"/>
          <p:cNvSpPr/>
          <p:nvPr/>
        </p:nvSpPr>
        <p:spPr>
          <a:xfrm>
            <a:off x="777240" y="4754880"/>
            <a:ext cx="438912" cy="438912"/>
          </a:xfrm>
          <a:prstGeom prst="roundRect">
            <a:avLst>
              <a:gd name="adj" fmla="val 28000"/>
            </a:avLst>
          </a:prstGeom>
          <a:solidFill>
            <a:srgbClr val="1C2123"/>
          </a:solidFill>
          <a:ln/>
        </p:spPr>
      </p:sp>
      <p:pic>
        <p:nvPicPr>
          <p:cNvPr id="17" name="Image 2" descr="preencoded.png">    </p:cNvPr>
          <p:cNvPicPr>
            <a:picLocks noChangeAspect="1"/>
          </p:cNvPicPr>
          <p:nvPr/>
        </p:nvPicPr>
        <p:blipFill>
          <a:blip r:embed="rId3"/>
          <a:stretch>
            <a:fillRect/>
          </a:stretch>
        </p:blipFill>
        <p:spPr>
          <a:xfrm>
            <a:off x="882579" y="4860219"/>
            <a:ext cx="228234" cy="228234"/>
          </a:xfrm>
          <a:prstGeom prst="rect">
            <a:avLst/>
          </a:prstGeom>
        </p:spPr>
      </p:pic>
      <p:sp>
        <p:nvSpPr>
          <p:cNvPr id="18" name="Text 13"/>
          <p:cNvSpPr txBox="1"/>
          <p:nvPr/>
        </p:nvSpPr>
        <p:spPr>
          <a:xfrm>
            <a:off x="777240" y="5303520"/>
            <a:ext cx="2834640" cy="274320"/>
          </a:xfrm>
          <a:prstGeom prst="rect">
            <a:avLst/>
          </a:prstGeom>
          <a:noFill/>
          <a:ln/>
        </p:spPr>
        <p:txBody>
          <a:bodyPr wrap="square" lIns="0" tIns="0" rIns="0" bIns="0" rtlCol="0" anchor="t"/>
          <a:lstStyle/>
          <a:p>
            <a:pPr indent="0" marL="0">
              <a:buNone/>
            </a:pPr>
            <a:r>
              <a:rPr lang="en-US" sz="1350" b="1" dirty="0">
                <a:solidFill>
                  <a:srgbClr val="F4F6F5"/>
                </a:solidFill>
                <a:latin typeface="Epilogue" pitchFamily="34" charset="0"/>
                <a:ea typeface="Epilogue" pitchFamily="34" charset="-122"/>
                <a:cs typeface="Epilogue" pitchFamily="34" charset="-120"/>
              </a:rPr>
              <a:t>Auto standup at 6 PM</a:t>
            </a:r>
            <a:endParaRPr lang="en-US" sz="1350" dirty="0"/>
          </a:p>
        </p:txBody>
      </p:sp>
      <p:sp>
        <p:nvSpPr>
          <p:cNvPr id="19" name="Text 14"/>
          <p:cNvSpPr txBox="1"/>
          <p:nvPr/>
        </p:nvSpPr>
        <p:spPr>
          <a:xfrm>
            <a:off x="777240" y="5559552"/>
            <a:ext cx="2834640" cy="384048"/>
          </a:xfrm>
          <a:prstGeom prst="rect">
            <a:avLst/>
          </a:prstGeom>
          <a:noFill/>
          <a:ln/>
        </p:spPr>
        <p:txBody>
          <a:bodyPr wrap="square" lIns="0" tIns="0" rIns="0" bIns="0" rtlCol="0" anchor="t"/>
          <a:lstStyle/>
          <a:p>
            <a:pPr indent="0" marL="0">
              <a:lnSpc>
                <a:spcPct val="105000"/>
              </a:lnSpc>
              <a:buNone/>
            </a:pPr>
            <a:r>
              <a:rPr lang="en-US" sz="1050" dirty="0">
                <a:solidFill>
                  <a:srgbClr val="9AA7A2"/>
                </a:solidFill>
                <a:latin typeface="Manrope" pitchFamily="34" charset="0"/>
                <a:ea typeface="Manrope" pitchFamily="34" charset="-122"/>
                <a:cs typeface="Manrope" pitchFamily="34" charset="-120"/>
              </a:rPr>
              <a:t>A daily digest of what shipped and what's next. One tap to copy.</a:t>
            </a:r>
            <a:endParaRPr lang="en-US" sz="1050" dirty="0"/>
          </a:p>
        </p:txBody>
      </p:sp>
      <p:sp>
        <p:nvSpPr>
          <p:cNvPr id="20" name="Shape 15"/>
          <p:cNvSpPr/>
          <p:nvPr/>
        </p:nvSpPr>
        <p:spPr>
          <a:xfrm>
            <a:off x="3931920" y="4526280"/>
            <a:ext cx="3246120" cy="1463040"/>
          </a:xfrm>
          <a:prstGeom prst="roundRect">
            <a:avLst>
              <a:gd name="adj" fmla="val 10000"/>
            </a:avLst>
          </a:prstGeom>
          <a:solidFill>
            <a:srgbClr val="15191A"/>
          </a:solidFill>
          <a:ln w="9525">
            <a:solidFill>
              <a:srgbClr val="262C2E"/>
            </a:solidFill>
            <a:prstDash val="solid"/>
          </a:ln>
        </p:spPr>
      </p:sp>
      <p:sp>
        <p:nvSpPr>
          <p:cNvPr id="21" name="Shape 16"/>
          <p:cNvSpPr/>
          <p:nvPr/>
        </p:nvSpPr>
        <p:spPr>
          <a:xfrm>
            <a:off x="4160520" y="4754880"/>
            <a:ext cx="438912" cy="438912"/>
          </a:xfrm>
          <a:prstGeom prst="roundRect">
            <a:avLst>
              <a:gd name="adj" fmla="val 28000"/>
            </a:avLst>
          </a:prstGeom>
          <a:solidFill>
            <a:srgbClr val="1C2123"/>
          </a:solidFill>
          <a:ln/>
        </p:spPr>
      </p:sp>
      <p:pic>
        <p:nvPicPr>
          <p:cNvPr id="22" name="Image 3" descr="preencoded.png">    </p:cNvPr>
          <p:cNvPicPr>
            <a:picLocks noChangeAspect="1"/>
          </p:cNvPicPr>
          <p:nvPr/>
        </p:nvPicPr>
        <p:blipFill>
          <a:blip r:embed="rId4"/>
          <a:stretch>
            <a:fillRect/>
          </a:stretch>
        </p:blipFill>
        <p:spPr>
          <a:xfrm>
            <a:off x="4265859" y="4860219"/>
            <a:ext cx="228234" cy="228234"/>
          </a:xfrm>
          <a:prstGeom prst="rect">
            <a:avLst/>
          </a:prstGeom>
        </p:spPr>
      </p:pic>
      <p:sp>
        <p:nvSpPr>
          <p:cNvPr id="23" name="Text 17"/>
          <p:cNvSpPr txBox="1"/>
          <p:nvPr/>
        </p:nvSpPr>
        <p:spPr>
          <a:xfrm>
            <a:off x="4160520" y="5303520"/>
            <a:ext cx="2834640" cy="274320"/>
          </a:xfrm>
          <a:prstGeom prst="rect">
            <a:avLst/>
          </a:prstGeom>
          <a:noFill/>
          <a:ln/>
        </p:spPr>
        <p:txBody>
          <a:bodyPr wrap="square" lIns="0" tIns="0" rIns="0" bIns="0" rtlCol="0" anchor="t"/>
          <a:lstStyle/>
          <a:p>
            <a:pPr indent="0" marL="0">
              <a:buNone/>
            </a:pPr>
            <a:r>
              <a:rPr lang="en-US" sz="1350" b="1" dirty="0">
                <a:solidFill>
                  <a:srgbClr val="F4F6F5"/>
                </a:solidFill>
                <a:latin typeface="Epilogue" pitchFamily="34" charset="0"/>
                <a:ea typeface="Epilogue" pitchFamily="34" charset="-122"/>
                <a:cs typeface="Epilogue" pitchFamily="34" charset="-120"/>
              </a:rPr>
              <a:t>Blocked-task nudges</a:t>
            </a:r>
            <a:endParaRPr lang="en-US" sz="1350" dirty="0"/>
          </a:p>
        </p:txBody>
      </p:sp>
      <p:sp>
        <p:nvSpPr>
          <p:cNvPr id="24" name="Text 18"/>
          <p:cNvSpPr txBox="1"/>
          <p:nvPr/>
        </p:nvSpPr>
        <p:spPr>
          <a:xfrm>
            <a:off x="4160520" y="5559552"/>
            <a:ext cx="2834640" cy="384048"/>
          </a:xfrm>
          <a:prstGeom prst="rect">
            <a:avLst/>
          </a:prstGeom>
          <a:noFill/>
          <a:ln/>
        </p:spPr>
        <p:txBody>
          <a:bodyPr wrap="square" lIns="0" tIns="0" rIns="0" bIns="0" rtlCol="0" anchor="t"/>
          <a:lstStyle/>
          <a:p>
            <a:pPr indent="0" marL="0">
              <a:lnSpc>
                <a:spcPct val="105000"/>
              </a:lnSpc>
              <a:buNone/>
            </a:pPr>
            <a:r>
              <a:rPr lang="en-US" sz="1050" dirty="0">
                <a:solidFill>
                  <a:srgbClr val="9AA7A2"/>
                </a:solidFill>
                <a:latin typeface="Manrope" pitchFamily="34" charset="0"/>
                <a:ea typeface="Manrope" pitchFamily="34" charset="-122"/>
                <a:cs typeface="Manrope" pitchFamily="34" charset="-120"/>
              </a:rPr>
              <a:t>48 hours waiting on a client? The follow-up is drafted for you.</a:t>
            </a:r>
            <a:endParaRPr lang="en-US" sz="1050" dirty="0"/>
          </a:p>
        </p:txBody>
      </p:sp>
      <p:pic>
        <p:nvPicPr>
          <p:cNvPr id="25" name="Image 4" descr="/tmp/claude-0/-home-user-Claude-Works/c609e3f7-e17f-5f43-8424-4df30cb9a6a9/scratchpad/build/img/fig_analytics_crop.png">    </p:cNvPr>
          <p:cNvPicPr>
            <a:picLocks noChangeAspect="1"/>
          </p:cNvPicPr>
          <p:nvPr/>
        </p:nvPicPr>
        <p:blipFill>
          <a:blip r:embed="rId5"/>
          <a:stretch>
            <a:fillRect/>
          </a:stretch>
        </p:blipFill>
        <p:spPr>
          <a:xfrm>
            <a:off x="8275320" y="411480"/>
            <a:ext cx="2957170" cy="6035040"/>
          </a:xfrm>
          <a:prstGeom prst="rect">
            <a:avLst/>
          </a:prstGeom>
        </p:spPr>
      </p:pic>
      <p:sp>
        <p:nvSpPr>
          <p:cNvPr id="26" name="Text 19"/>
          <p:cNvSpPr txBox="1"/>
          <p:nvPr/>
        </p:nvSpPr>
        <p:spPr>
          <a:xfrm>
            <a:off x="548640" y="6446520"/>
            <a:ext cx="5486400" cy="201168"/>
          </a:xfrm>
          <a:prstGeom prst="rect">
            <a:avLst/>
          </a:prstGeom>
          <a:noFill/>
          <a:ln/>
        </p:spPr>
        <p:txBody>
          <a:bodyPr wrap="square" lIns="0" tIns="0" rIns="0" bIns="0" rtlCol="0" anchor="t"/>
          <a:lstStyle/>
          <a:p>
            <a:pPr indent="0" marL="0">
              <a:buNone/>
            </a:pPr>
            <a:r>
              <a:rPr lang="en-US" sz="800" b="1" spc="200" kern="0" dirty="0">
                <a:solidFill>
                  <a:srgbClr val="6B7773"/>
                </a:solidFill>
                <a:latin typeface="Plus Jakarta Sans" pitchFamily="34" charset="0"/>
                <a:ea typeface="Plus Jakarta Sans" pitchFamily="34" charset="-122"/>
                <a:cs typeface="Plus Jakarta Sans" pitchFamily="34" charset="-120"/>
              </a:rPr>
              <a:t>BOD APP  ·  RUN YOUR STUDIO THE CALM WAY</a:t>
            </a:r>
            <a:endParaRPr lang="en-US" sz="800" dirty="0"/>
          </a:p>
        </p:txBody>
      </p:sp>
      <p:sp>
        <p:nvSpPr>
          <p:cNvPr id="27" name="Text 20"/>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b="1" dirty="0">
                <a:solidFill>
                  <a:srgbClr val="6B7773"/>
                </a:solidFill>
                <a:latin typeface="Plus Jakarta Sans" pitchFamily="34" charset="0"/>
                <a:ea typeface="Plus Jakarta Sans" pitchFamily="34" charset="-122"/>
                <a:cs typeface="Plus Jakarta Sans"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07  ·  EVERYTHING IN ONE WORKSPACE</a:t>
            </a:r>
            <a:endParaRPr lang="en-US" sz="1000" dirty="0"/>
          </a:p>
        </p:txBody>
      </p:sp>
      <p:sp>
        <p:nvSpPr>
          <p:cNvPr id="3" name="Text 1"/>
          <p:cNvSpPr txBox="1"/>
          <p:nvPr/>
        </p:nvSpPr>
        <p:spPr>
          <a:xfrm>
            <a:off x="7985455" y="457200"/>
            <a:ext cx="3657600" cy="228600"/>
          </a:xfrm>
          <a:prstGeom prst="rect">
            <a:avLst/>
          </a:prstGeom>
          <a:noFill/>
          <a:ln/>
        </p:spPr>
        <p:txBody>
          <a:bodyPr wrap="square" lIns="0" tIns="0" rIns="0" bIns="0" rtlCol="0" anchor="t"/>
          <a:lstStyle/>
          <a:p>
            <a:pPr algn="r" indent="0" marL="0">
              <a:buNone/>
            </a:pPr>
            <a:r>
              <a:rPr lang="en-US" sz="900" b="1" spc="200" kern="0" dirty="0">
                <a:solidFill>
                  <a:srgbClr val="6B7773"/>
                </a:solidFill>
                <a:latin typeface="Plus Jakarta Sans" pitchFamily="34" charset="0"/>
                <a:ea typeface="Plus Jakarta Sans" pitchFamily="34" charset="-122"/>
                <a:cs typeface="Plus Jakarta Sans" pitchFamily="34" charset="-120"/>
              </a:rPr>
              <a:t>BOD APP  /  SALES DECK</a:t>
            </a:r>
            <a:endParaRPr lang="en-US" sz="9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indent="0" marL="0">
              <a:buNone/>
            </a:pPr>
            <a:r>
              <a:rPr lang="en-US" sz="3400" b="1" dirty="0">
                <a:solidFill>
                  <a:srgbClr val="F4F6F5"/>
                </a:solidFill>
                <a:latin typeface="Epilogue" pitchFamily="34" charset="0"/>
                <a:ea typeface="Epilogue" pitchFamily="34" charset="-122"/>
                <a:cs typeface="Epilogue" pitchFamily="34" charset="-120"/>
              </a:rPr>
              <a:t>Less juggling. More shipping.</a:t>
            </a:r>
            <a:endParaRPr lang="en-US" sz="3400" dirty="0"/>
          </a:p>
        </p:txBody>
      </p:sp>
      <p:sp>
        <p:nvSpPr>
          <p:cNvPr id="5" name="Text 3"/>
          <p:cNvSpPr txBox="1"/>
          <p:nvPr/>
        </p:nvSpPr>
        <p:spPr>
          <a:xfrm>
            <a:off x="548640" y="1536192"/>
            <a:ext cx="11094415" cy="548640"/>
          </a:xfrm>
          <a:prstGeom prst="rect">
            <a:avLst/>
          </a:prstGeom>
          <a:noFill/>
          <a:ln/>
        </p:spPr>
        <p:txBody>
          <a:bodyPr wrap="square" lIns="0" tIns="0" rIns="0" bIns="0" rtlCol="0" anchor="t"/>
          <a:lstStyle/>
          <a:p>
            <a:pPr indent="0" marL="0">
              <a:lnSpc>
                <a:spcPct val="115000"/>
              </a:lnSpc>
              <a:buNone/>
            </a:pPr>
            <a:r>
              <a:rPr lang="en-US" sz="1500" dirty="0">
                <a:solidFill>
                  <a:srgbClr val="9AA7A2"/>
                </a:solidFill>
                <a:latin typeface="Manrope" pitchFamily="34" charset="0"/>
                <a:ea typeface="Manrope" pitchFamily="34" charset="-122"/>
                <a:cs typeface="Manrope" pitchFamily="34" charset="-120"/>
              </a:rPr>
              <a:t>Twelve features that replace a board, a sheet, a WhatsApp group and a standup meeting.</a:t>
            </a:r>
            <a:endParaRPr lang="en-US" sz="1500" dirty="0"/>
          </a:p>
        </p:txBody>
      </p:sp>
      <p:sp>
        <p:nvSpPr>
          <p:cNvPr id="6" name="Shape 4"/>
          <p:cNvSpPr/>
          <p:nvPr/>
        </p:nvSpPr>
        <p:spPr>
          <a:xfrm>
            <a:off x="548640" y="2148840"/>
            <a:ext cx="2636444" cy="1261872"/>
          </a:xfrm>
          <a:prstGeom prst="roundRect">
            <a:avLst>
              <a:gd name="adj" fmla="val 11594"/>
            </a:avLst>
          </a:prstGeom>
          <a:solidFill>
            <a:srgbClr val="15191A"/>
          </a:solidFill>
          <a:ln w="9525">
            <a:solidFill>
              <a:srgbClr val="262C2E"/>
            </a:solidFill>
            <a:prstDash val="solid"/>
          </a:ln>
        </p:spPr>
      </p:sp>
      <p:sp>
        <p:nvSpPr>
          <p:cNvPr id="7" name="Shape 5"/>
          <p:cNvSpPr/>
          <p:nvPr/>
        </p:nvSpPr>
        <p:spPr>
          <a:xfrm>
            <a:off x="749808" y="2350008"/>
            <a:ext cx="420624" cy="420624"/>
          </a:xfrm>
          <a:prstGeom prst="roundRect">
            <a:avLst>
              <a:gd name="adj" fmla="val 28000"/>
            </a:avLst>
          </a:prstGeom>
          <a:solidFill>
            <a:srgbClr val="1C2123"/>
          </a:solidFill>
          <a:ln/>
        </p:spPr>
      </p:sp>
      <p:pic>
        <p:nvPicPr>
          <p:cNvPr id="8" name="Image 0" descr="preencoded.png">    </p:cNvPr>
          <p:cNvPicPr>
            <a:picLocks noChangeAspect="1"/>
          </p:cNvPicPr>
          <p:nvPr/>
        </p:nvPicPr>
        <p:blipFill>
          <a:blip r:embed="rId1"/>
          <a:stretch>
            <a:fillRect/>
          </a:stretch>
        </p:blipFill>
        <p:spPr>
          <a:xfrm>
            <a:off x="850758" y="2450958"/>
            <a:ext cx="218724" cy="218724"/>
          </a:xfrm>
          <a:prstGeom prst="rect">
            <a:avLst/>
          </a:prstGeom>
        </p:spPr>
      </p:pic>
      <p:sp>
        <p:nvSpPr>
          <p:cNvPr id="9" name="Text 6"/>
          <p:cNvSpPr txBox="1"/>
          <p:nvPr/>
        </p:nvSpPr>
        <p:spPr>
          <a:xfrm>
            <a:off x="1298448" y="2350008"/>
            <a:ext cx="1767764" cy="420624"/>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Focus Queue</a:t>
            </a:r>
            <a:endParaRPr lang="en-US" sz="1400" dirty="0"/>
          </a:p>
        </p:txBody>
      </p:sp>
      <p:sp>
        <p:nvSpPr>
          <p:cNvPr id="10" name="Text 7"/>
          <p:cNvSpPr txBox="1"/>
          <p:nvPr/>
        </p:nvSpPr>
        <p:spPr>
          <a:xfrm>
            <a:off x="749808" y="2880360"/>
            <a:ext cx="2270684"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One auto-sorted list for today, overdue first.</a:t>
            </a:r>
            <a:endParaRPr lang="en-US" sz="1100" dirty="0"/>
          </a:p>
        </p:txBody>
      </p:sp>
      <p:sp>
        <p:nvSpPr>
          <p:cNvPr id="11" name="Shape 8"/>
          <p:cNvSpPr/>
          <p:nvPr/>
        </p:nvSpPr>
        <p:spPr>
          <a:xfrm>
            <a:off x="3367964" y="2148840"/>
            <a:ext cx="2636444" cy="1261872"/>
          </a:xfrm>
          <a:prstGeom prst="roundRect">
            <a:avLst>
              <a:gd name="adj" fmla="val 11594"/>
            </a:avLst>
          </a:prstGeom>
          <a:solidFill>
            <a:srgbClr val="15191A"/>
          </a:solidFill>
          <a:ln w="9525">
            <a:solidFill>
              <a:srgbClr val="262C2E"/>
            </a:solidFill>
            <a:prstDash val="solid"/>
          </a:ln>
        </p:spPr>
      </p:sp>
      <p:sp>
        <p:nvSpPr>
          <p:cNvPr id="12" name="Shape 9"/>
          <p:cNvSpPr/>
          <p:nvPr/>
        </p:nvSpPr>
        <p:spPr>
          <a:xfrm>
            <a:off x="3569132" y="2350008"/>
            <a:ext cx="420624" cy="420624"/>
          </a:xfrm>
          <a:prstGeom prst="roundRect">
            <a:avLst>
              <a:gd name="adj" fmla="val 28000"/>
            </a:avLst>
          </a:prstGeom>
          <a:solidFill>
            <a:srgbClr val="1C2123"/>
          </a:solidFill>
          <a:ln/>
        </p:spPr>
      </p:sp>
      <p:pic>
        <p:nvPicPr>
          <p:cNvPr id="13" name="Image 1" descr="preencoded.png">    </p:cNvPr>
          <p:cNvPicPr>
            <a:picLocks noChangeAspect="1"/>
          </p:cNvPicPr>
          <p:nvPr/>
        </p:nvPicPr>
        <p:blipFill>
          <a:blip r:embed="rId2"/>
          <a:stretch>
            <a:fillRect/>
          </a:stretch>
        </p:blipFill>
        <p:spPr>
          <a:xfrm>
            <a:off x="3670082" y="2450958"/>
            <a:ext cx="218724" cy="218724"/>
          </a:xfrm>
          <a:prstGeom prst="rect">
            <a:avLst/>
          </a:prstGeom>
        </p:spPr>
      </p:pic>
      <p:sp>
        <p:nvSpPr>
          <p:cNvPr id="14" name="Text 10"/>
          <p:cNvSpPr txBox="1"/>
          <p:nvPr/>
        </p:nvSpPr>
        <p:spPr>
          <a:xfrm>
            <a:off x="4117772" y="2350008"/>
            <a:ext cx="1767764" cy="420624"/>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Task pipeline</a:t>
            </a:r>
            <a:endParaRPr lang="en-US" sz="1400" dirty="0"/>
          </a:p>
        </p:txBody>
      </p:sp>
      <p:sp>
        <p:nvSpPr>
          <p:cNvPr id="15" name="Text 11"/>
          <p:cNvSpPr txBox="1"/>
          <p:nvPr/>
        </p:nvSpPr>
        <p:spPr>
          <a:xfrm>
            <a:off x="3569132" y="2880360"/>
            <a:ext cx="2270684"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Pending to Billed, role-aware at every step.</a:t>
            </a:r>
            <a:endParaRPr lang="en-US" sz="1100" dirty="0"/>
          </a:p>
        </p:txBody>
      </p:sp>
      <p:sp>
        <p:nvSpPr>
          <p:cNvPr id="16" name="Shape 12"/>
          <p:cNvSpPr/>
          <p:nvPr/>
        </p:nvSpPr>
        <p:spPr>
          <a:xfrm>
            <a:off x="6187288" y="2148840"/>
            <a:ext cx="2636444" cy="1261872"/>
          </a:xfrm>
          <a:prstGeom prst="roundRect">
            <a:avLst>
              <a:gd name="adj" fmla="val 11594"/>
            </a:avLst>
          </a:prstGeom>
          <a:solidFill>
            <a:srgbClr val="15191A"/>
          </a:solidFill>
          <a:ln w="9525">
            <a:solidFill>
              <a:srgbClr val="262C2E"/>
            </a:solidFill>
            <a:prstDash val="solid"/>
          </a:ln>
        </p:spPr>
      </p:sp>
      <p:sp>
        <p:nvSpPr>
          <p:cNvPr id="17" name="Shape 13"/>
          <p:cNvSpPr/>
          <p:nvPr/>
        </p:nvSpPr>
        <p:spPr>
          <a:xfrm>
            <a:off x="6388456" y="2350008"/>
            <a:ext cx="420624" cy="420624"/>
          </a:xfrm>
          <a:prstGeom prst="roundRect">
            <a:avLst>
              <a:gd name="adj" fmla="val 28000"/>
            </a:avLst>
          </a:prstGeom>
          <a:solidFill>
            <a:srgbClr val="1C2123"/>
          </a:solidFill>
          <a:ln/>
        </p:spPr>
      </p:sp>
      <p:pic>
        <p:nvPicPr>
          <p:cNvPr id="18" name="Image 2" descr="preencoded.png">    </p:cNvPr>
          <p:cNvPicPr>
            <a:picLocks noChangeAspect="1"/>
          </p:cNvPicPr>
          <p:nvPr/>
        </p:nvPicPr>
        <p:blipFill>
          <a:blip r:embed="rId3"/>
          <a:stretch>
            <a:fillRect/>
          </a:stretch>
        </p:blipFill>
        <p:spPr>
          <a:xfrm>
            <a:off x="6489405" y="2450958"/>
            <a:ext cx="218724" cy="218724"/>
          </a:xfrm>
          <a:prstGeom prst="rect">
            <a:avLst/>
          </a:prstGeom>
        </p:spPr>
      </p:pic>
      <p:sp>
        <p:nvSpPr>
          <p:cNvPr id="19" name="Text 14"/>
          <p:cNvSpPr txBox="1"/>
          <p:nvPr/>
        </p:nvSpPr>
        <p:spPr>
          <a:xfrm>
            <a:off x="6937096" y="2350008"/>
            <a:ext cx="1767764" cy="420624"/>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Vibe status</a:t>
            </a:r>
            <a:endParaRPr lang="en-US" sz="1400" dirty="0"/>
          </a:p>
        </p:txBody>
      </p:sp>
      <p:sp>
        <p:nvSpPr>
          <p:cNvPr id="20" name="Text 15"/>
          <p:cNvSpPr txBox="1"/>
          <p:nvPr/>
        </p:nvSpPr>
        <p:spPr>
          <a:xfrm>
            <a:off x="6388456" y="2880360"/>
            <a:ext cx="2270684"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Long-press a task to set its mood.</a:t>
            </a:r>
            <a:endParaRPr lang="en-US" sz="1100" dirty="0"/>
          </a:p>
        </p:txBody>
      </p:sp>
      <p:sp>
        <p:nvSpPr>
          <p:cNvPr id="21" name="Shape 16"/>
          <p:cNvSpPr/>
          <p:nvPr/>
        </p:nvSpPr>
        <p:spPr>
          <a:xfrm>
            <a:off x="9006611" y="2148840"/>
            <a:ext cx="2636444" cy="1261872"/>
          </a:xfrm>
          <a:prstGeom prst="roundRect">
            <a:avLst>
              <a:gd name="adj" fmla="val 11594"/>
            </a:avLst>
          </a:prstGeom>
          <a:solidFill>
            <a:srgbClr val="15191A"/>
          </a:solidFill>
          <a:ln w="9525">
            <a:solidFill>
              <a:srgbClr val="262C2E"/>
            </a:solidFill>
            <a:prstDash val="solid"/>
          </a:ln>
        </p:spPr>
      </p:sp>
      <p:sp>
        <p:nvSpPr>
          <p:cNvPr id="22" name="Shape 17"/>
          <p:cNvSpPr/>
          <p:nvPr/>
        </p:nvSpPr>
        <p:spPr>
          <a:xfrm>
            <a:off x="9207779" y="2350008"/>
            <a:ext cx="420624" cy="420624"/>
          </a:xfrm>
          <a:prstGeom prst="roundRect">
            <a:avLst>
              <a:gd name="adj" fmla="val 28000"/>
            </a:avLst>
          </a:prstGeom>
          <a:solidFill>
            <a:srgbClr val="1C2123"/>
          </a:solidFill>
          <a:ln/>
        </p:spPr>
      </p:sp>
      <p:pic>
        <p:nvPicPr>
          <p:cNvPr id="23" name="Image 3" descr="preencoded.png">    </p:cNvPr>
          <p:cNvPicPr>
            <a:picLocks noChangeAspect="1"/>
          </p:cNvPicPr>
          <p:nvPr/>
        </p:nvPicPr>
        <p:blipFill>
          <a:blip r:embed="rId4"/>
          <a:stretch>
            <a:fillRect/>
          </a:stretch>
        </p:blipFill>
        <p:spPr>
          <a:xfrm>
            <a:off x="9308729" y="2450958"/>
            <a:ext cx="218724" cy="218724"/>
          </a:xfrm>
          <a:prstGeom prst="rect">
            <a:avLst/>
          </a:prstGeom>
        </p:spPr>
      </p:pic>
      <p:sp>
        <p:nvSpPr>
          <p:cNvPr id="24" name="Text 18"/>
          <p:cNvSpPr txBox="1"/>
          <p:nvPr/>
        </p:nvSpPr>
        <p:spPr>
          <a:xfrm>
            <a:off x="9756419" y="2350008"/>
            <a:ext cx="1767764" cy="420624"/>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AI capture</a:t>
            </a:r>
            <a:endParaRPr lang="en-US" sz="1400" dirty="0"/>
          </a:p>
        </p:txBody>
      </p:sp>
      <p:sp>
        <p:nvSpPr>
          <p:cNvPr id="25" name="Text 19"/>
          <p:cNvSpPr txBox="1"/>
          <p:nvPr/>
        </p:nvSpPr>
        <p:spPr>
          <a:xfrm>
            <a:off x="9207779" y="2880360"/>
            <a:ext cx="2270684"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Voice or text in Malayalam, English, Manglish.</a:t>
            </a:r>
            <a:endParaRPr lang="en-US" sz="1100" dirty="0"/>
          </a:p>
        </p:txBody>
      </p:sp>
      <p:sp>
        <p:nvSpPr>
          <p:cNvPr id="26" name="Shape 20"/>
          <p:cNvSpPr/>
          <p:nvPr/>
        </p:nvSpPr>
        <p:spPr>
          <a:xfrm>
            <a:off x="548640" y="3575304"/>
            <a:ext cx="2636444" cy="1261872"/>
          </a:xfrm>
          <a:prstGeom prst="roundRect">
            <a:avLst>
              <a:gd name="adj" fmla="val 11594"/>
            </a:avLst>
          </a:prstGeom>
          <a:solidFill>
            <a:srgbClr val="15191A"/>
          </a:solidFill>
          <a:ln w="9525">
            <a:solidFill>
              <a:srgbClr val="262C2E"/>
            </a:solidFill>
            <a:prstDash val="solid"/>
          </a:ln>
        </p:spPr>
      </p:sp>
      <p:sp>
        <p:nvSpPr>
          <p:cNvPr id="27" name="Shape 21"/>
          <p:cNvSpPr/>
          <p:nvPr/>
        </p:nvSpPr>
        <p:spPr>
          <a:xfrm>
            <a:off x="749808" y="3776472"/>
            <a:ext cx="420624" cy="420624"/>
          </a:xfrm>
          <a:prstGeom prst="roundRect">
            <a:avLst>
              <a:gd name="adj" fmla="val 28000"/>
            </a:avLst>
          </a:prstGeom>
          <a:solidFill>
            <a:srgbClr val="1C2123"/>
          </a:solidFill>
          <a:ln/>
        </p:spPr>
      </p:sp>
      <p:pic>
        <p:nvPicPr>
          <p:cNvPr id="28" name="Image 4" descr="preencoded.png">    </p:cNvPr>
          <p:cNvPicPr>
            <a:picLocks noChangeAspect="1"/>
          </p:cNvPicPr>
          <p:nvPr/>
        </p:nvPicPr>
        <p:blipFill>
          <a:blip r:embed="rId5"/>
          <a:stretch>
            <a:fillRect/>
          </a:stretch>
        </p:blipFill>
        <p:spPr>
          <a:xfrm>
            <a:off x="850758" y="3877422"/>
            <a:ext cx="218724" cy="218724"/>
          </a:xfrm>
          <a:prstGeom prst="rect">
            <a:avLst/>
          </a:prstGeom>
        </p:spPr>
      </p:pic>
      <p:sp>
        <p:nvSpPr>
          <p:cNvPr id="29" name="Text 22"/>
          <p:cNvSpPr txBox="1"/>
          <p:nvPr/>
        </p:nvSpPr>
        <p:spPr>
          <a:xfrm>
            <a:off x="1298448" y="3776472"/>
            <a:ext cx="1767764" cy="420624"/>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Client colours</a:t>
            </a:r>
            <a:endParaRPr lang="en-US" sz="1400" dirty="0"/>
          </a:p>
        </p:txBody>
      </p:sp>
      <p:sp>
        <p:nvSpPr>
          <p:cNvPr id="30" name="Text 23"/>
          <p:cNvSpPr txBox="1"/>
          <p:nvPr/>
        </p:nvSpPr>
        <p:spPr>
          <a:xfrm>
            <a:off x="749808" y="4306824"/>
            <a:ext cx="2270684"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Every client gets its own accent, everywhere.</a:t>
            </a:r>
            <a:endParaRPr lang="en-US" sz="1100" dirty="0"/>
          </a:p>
        </p:txBody>
      </p:sp>
      <p:sp>
        <p:nvSpPr>
          <p:cNvPr id="31" name="Shape 24"/>
          <p:cNvSpPr/>
          <p:nvPr/>
        </p:nvSpPr>
        <p:spPr>
          <a:xfrm>
            <a:off x="3367964" y="3575304"/>
            <a:ext cx="2636444" cy="1261872"/>
          </a:xfrm>
          <a:prstGeom prst="roundRect">
            <a:avLst>
              <a:gd name="adj" fmla="val 11594"/>
            </a:avLst>
          </a:prstGeom>
          <a:solidFill>
            <a:srgbClr val="15191A"/>
          </a:solidFill>
          <a:ln w="9525">
            <a:solidFill>
              <a:srgbClr val="262C2E"/>
            </a:solidFill>
            <a:prstDash val="solid"/>
          </a:ln>
        </p:spPr>
      </p:sp>
      <p:sp>
        <p:nvSpPr>
          <p:cNvPr id="32" name="Shape 25"/>
          <p:cNvSpPr/>
          <p:nvPr/>
        </p:nvSpPr>
        <p:spPr>
          <a:xfrm>
            <a:off x="3569132" y="3776472"/>
            <a:ext cx="420624" cy="420624"/>
          </a:xfrm>
          <a:prstGeom prst="roundRect">
            <a:avLst>
              <a:gd name="adj" fmla="val 28000"/>
            </a:avLst>
          </a:prstGeom>
          <a:solidFill>
            <a:srgbClr val="1C2123"/>
          </a:solidFill>
          <a:ln/>
        </p:spPr>
      </p:sp>
      <p:pic>
        <p:nvPicPr>
          <p:cNvPr id="33" name="Image 5" descr="preencoded.png">    </p:cNvPr>
          <p:cNvPicPr>
            <a:picLocks noChangeAspect="1"/>
          </p:cNvPicPr>
          <p:nvPr/>
        </p:nvPicPr>
        <p:blipFill>
          <a:blip r:embed="rId6"/>
          <a:stretch>
            <a:fillRect/>
          </a:stretch>
        </p:blipFill>
        <p:spPr>
          <a:xfrm>
            <a:off x="3670082" y="3877422"/>
            <a:ext cx="218724" cy="218724"/>
          </a:xfrm>
          <a:prstGeom prst="rect">
            <a:avLst/>
          </a:prstGeom>
        </p:spPr>
      </p:pic>
      <p:sp>
        <p:nvSpPr>
          <p:cNvPr id="34" name="Text 26"/>
          <p:cNvSpPr txBox="1"/>
          <p:nvPr/>
        </p:nvSpPr>
        <p:spPr>
          <a:xfrm>
            <a:off x="4117772" y="3776472"/>
            <a:ext cx="1767764" cy="420624"/>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Smart nudges</a:t>
            </a:r>
            <a:endParaRPr lang="en-US" sz="1400" dirty="0"/>
          </a:p>
        </p:txBody>
      </p:sp>
      <p:sp>
        <p:nvSpPr>
          <p:cNvPr id="35" name="Text 27"/>
          <p:cNvSpPr txBox="1"/>
          <p:nvPr/>
        </p:nvSpPr>
        <p:spPr>
          <a:xfrm>
            <a:off x="3569132" y="4306824"/>
            <a:ext cx="2270684"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A follow-up drafted after 48h on a client.</a:t>
            </a:r>
            <a:endParaRPr lang="en-US" sz="1100" dirty="0"/>
          </a:p>
        </p:txBody>
      </p:sp>
      <p:sp>
        <p:nvSpPr>
          <p:cNvPr id="36" name="Shape 28"/>
          <p:cNvSpPr/>
          <p:nvPr/>
        </p:nvSpPr>
        <p:spPr>
          <a:xfrm>
            <a:off x="6187288" y="3575304"/>
            <a:ext cx="2636444" cy="1261872"/>
          </a:xfrm>
          <a:prstGeom prst="roundRect">
            <a:avLst>
              <a:gd name="adj" fmla="val 11594"/>
            </a:avLst>
          </a:prstGeom>
          <a:solidFill>
            <a:srgbClr val="15191A"/>
          </a:solidFill>
          <a:ln w="9525">
            <a:solidFill>
              <a:srgbClr val="262C2E"/>
            </a:solidFill>
            <a:prstDash val="solid"/>
          </a:ln>
        </p:spPr>
      </p:sp>
      <p:sp>
        <p:nvSpPr>
          <p:cNvPr id="37" name="Shape 29"/>
          <p:cNvSpPr/>
          <p:nvPr/>
        </p:nvSpPr>
        <p:spPr>
          <a:xfrm>
            <a:off x="6388456" y="3776472"/>
            <a:ext cx="420624" cy="420624"/>
          </a:xfrm>
          <a:prstGeom prst="roundRect">
            <a:avLst>
              <a:gd name="adj" fmla="val 28000"/>
            </a:avLst>
          </a:prstGeom>
          <a:solidFill>
            <a:srgbClr val="1C2123"/>
          </a:solidFill>
          <a:ln/>
        </p:spPr>
      </p:sp>
      <p:pic>
        <p:nvPicPr>
          <p:cNvPr id="38" name="Image 6" descr="preencoded.png">    </p:cNvPr>
          <p:cNvPicPr>
            <a:picLocks noChangeAspect="1"/>
          </p:cNvPicPr>
          <p:nvPr/>
        </p:nvPicPr>
        <p:blipFill>
          <a:blip r:embed="rId7"/>
          <a:stretch>
            <a:fillRect/>
          </a:stretch>
        </p:blipFill>
        <p:spPr>
          <a:xfrm>
            <a:off x="6489405" y="3877422"/>
            <a:ext cx="218724" cy="218724"/>
          </a:xfrm>
          <a:prstGeom prst="rect">
            <a:avLst/>
          </a:prstGeom>
        </p:spPr>
      </p:pic>
      <p:sp>
        <p:nvSpPr>
          <p:cNvPr id="39" name="Text 30"/>
          <p:cNvSpPr txBox="1"/>
          <p:nvPr/>
        </p:nvSpPr>
        <p:spPr>
          <a:xfrm>
            <a:off x="6937096" y="3776472"/>
            <a:ext cx="1767764" cy="420624"/>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Auto standup</a:t>
            </a:r>
            <a:endParaRPr lang="en-US" sz="1400" dirty="0"/>
          </a:p>
        </p:txBody>
      </p:sp>
      <p:sp>
        <p:nvSpPr>
          <p:cNvPr id="40" name="Text 31"/>
          <p:cNvSpPr txBox="1"/>
          <p:nvPr/>
        </p:nvSpPr>
        <p:spPr>
          <a:xfrm>
            <a:off x="6388456" y="4306824"/>
            <a:ext cx="2270684"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A 6 PM digest, one tap to copy or post.</a:t>
            </a:r>
            <a:endParaRPr lang="en-US" sz="1100" dirty="0"/>
          </a:p>
        </p:txBody>
      </p:sp>
      <p:sp>
        <p:nvSpPr>
          <p:cNvPr id="41" name="Shape 32"/>
          <p:cNvSpPr/>
          <p:nvPr/>
        </p:nvSpPr>
        <p:spPr>
          <a:xfrm>
            <a:off x="9006611" y="3575304"/>
            <a:ext cx="2636444" cy="1261872"/>
          </a:xfrm>
          <a:prstGeom prst="roundRect">
            <a:avLst>
              <a:gd name="adj" fmla="val 11594"/>
            </a:avLst>
          </a:prstGeom>
          <a:solidFill>
            <a:srgbClr val="15191A"/>
          </a:solidFill>
          <a:ln w="9525">
            <a:solidFill>
              <a:srgbClr val="262C2E"/>
            </a:solidFill>
            <a:prstDash val="solid"/>
          </a:ln>
        </p:spPr>
      </p:sp>
      <p:sp>
        <p:nvSpPr>
          <p:cNvPr id="42" name="Shape 33"/>
          <p:cNvSpPr/>
          <p:nvPr/>
        </p:nvSpPr>
        <p:spPr>
          <a:xfrm>
            <a:off x="9207779" y="3776472"/>
            <a:ext cx="420624" cy="420624"/>
          </a:xfrm>
          <a:prstGeom prst="roundRect">
            <a:avLst>
              <a:gd name="adj" fmla="val 28000"/>
            </a:avLst>
          </a:prstGeom>
          <a:solidFill>
            <a:srgbClr val="1C2123"/>
          </a:solidFill>
          <a:ln/>
        </p:spPr>
      </p:sp>
      <p:pic>
        <p:nvPicPr>
          <p:cNvPr id="43" name="Image 7" descr="preencoded.png">    </p:cNvPr>
          <p:cNvPicPr>
            <a:picLocks noChangeAspect="1"/>
          </p:cNvPicPr>
          <p:nvPr/>
        </p:nvPicPr>
        <p:blipFill>
          <a:blip r:embed="rId8"/>
          <a:stretch>
            <a:fillRect/>
          </a:stretch>
        </p:blipFill>
        <p:spPr>
          <a:xfrm>
            <a:off x="9308729" y="3877422"/>
            <a:ext cx="218724" cy="218724"/>
          </a:xfrm>
          <a:prstGeom prst="rect">
            <a:avLst/>
          </a:prstGeom>
        </p:spPr>
      </p:pic>
      <p:sp>
        <p:nvSpPr>
          <p:cNvPr id="44" name="Text 34"/>
          <p:cNvSpPr txBox="1"/>
          <p:nvPr/>
        </p:nvSpPr>
        <p:spPr>
          <a:xfrm>
            <a:off x="9756419" y="3776472"/>
            <a:ext cx="1767764" cy="420624"/>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Billing checklist</a:t>
            </a:r>
            <a:endParaRPr lang="en-US" sz="1400" dirty="0"/>
          </a:p>
        </p:txBody>
      </p:sp>
      <p:sp>
        <p:nvSpPr>
          <p:cNvPr id="45" name="Text 35"/>
          <p:cNvSpPr txBox="1"/>
          <p:nvPr/>
        </p:nvSpPr>
        <p:spPr>
          <a:xfrm>
            <a:off x="9207779" y="4306824"/>
            <a:ext cx="2270684"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What to bill, not how much. Zoho keeps the rest.</a:t>
            </a:r>
            <a:endParaRPr lang="en-US" sz="1100" dirty="0"/>
          </a:p>
        </p:txBody>
      </p:sp>
      <p:sp>
        <p:nvSpPr>
          <p:cNvPr id="46" name="Shape 36"/>
          <p:cNvSpPr/>
          <p:nvPr/>
        </p:nvSpPr>
        <p:spPr>
          <a:xfrm>
            <a:off x="548640" y="5001768"/>
            <a:ext cx="2636444" cy="1261872"/>
          </a:xfrm>
          <a:prstGeom prst="roundRect">
            <a:avLst>
              <a:gd name="adj" fmla="val 11594"/>
            </a:avLst>
          </a:prstGeom>
          <a:solidFill>
            <a:srgbClr val="15191A"/>
          </a:solidFill>
          <a:ln w="9525">
            <a:solidFill>
              <a:srgbClr val="262C2E"/>
            </a:solidFill>
            <a:prstDash val="solid"/>
          </a:ln>
        </p:spPr>
      </p:sp>
      <p:sp>
        <p:nvSpPr>
          <p:cNvPr id="47" name="Shape 37"/>
          <p:cNvSpPr/>
          <p:nvPr/>
        </p:nvSpPr>
        <p:spPr>
          <a:xfrm>
            <a:off x="749808" y="5202936"/>
            <a:ext cx="420624" cy="420624"/>
          </a:xfrm>
          <a:prstGeom prst="roundRect">
            <a:avLst>
              <a:gd name="adj" fmla="val 28000"/>
            </a:avLst>
          </a:prstGeom>
          <a:solidFill>
            <a:srgbClr val="1C2123"/>
          </a:solidFill>
          <a:ln/>
        </p:spPr>
      </p:sp>
      <p:pic>
        <p:nvPicPr>
          <p:cNvPr id="48" name="Image 8" descr="preencoded.png">    </p:cNvPr>
          <p:cNvPicPr>
            <a:picLocks noChangeAspect="1"/>
          </p:cNvPicPr>
          <p:nvPr/>
        </p:nvPicPr>
        <p:blipFill>
          <a:blip r:embed="rId9"/>
          <a:stretch>
            <a:fillRect/>
          </a:stretch>
        </p:blipFill>
        <p:spPr>
          <a:xfrm>
            <a:off x="850758" y="5303886"/>
            <a:ext cx="218724" cy="218724"/>
          </a:xfrm>
          <a:prstGeom prst="rect">
            <a:avLst/>
          </a:prstGeom>
        </p:spPr>
      </p:pic>
      <p:sp>
        <p:nvSpPr>
          <p:cNvPr id="49" name="Text 38"/>
          <p:cNvSpPr txBox="1"/>
          <p:nvPr/>
        </p:nvSpPr>
        <p:spPr>
          <a:xfrm>
            <a:off x="1298448" y="5202936"/>
            <a:ext cx="1767764" cy="420624"/>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Approvals hub</a:t>
            </a:r>
            <a:endParaRPr lang="en-US" sz="1400" dirty="0"/>
          </a:p>
        </p:txBody>
      </p:sp>
      <p:sp>
        <p:nvSpPr>
          <p:cNvPr id="50" name="Text 39"/>
          <p:cNvSpPr txBox="1"/>
          <p:nvPr/>
        </p:nvSpPr>
        <p:spPr>
          <a:xfrm>
            <a:off x="749808" y="5733288"/>
            <a:ext cx="2270684"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Requests, notes and PDF tasks in one PM inbox.</a:t>
            </a:r>
            <a:endParaRPr lang="en-US" sz="1100" dirty="0"/>
          </a:p>
        </p:txBody>
      </p:sp>
      <p:sp>
        <p:nvSpPr>
          <p:cNvPr id="51" name="Shape 40"/>
          <p:cNvSpPr/>
          <p:nvPr/>
        </p:nvSpPr>
        <p:spPr>
          <a:xfrm>
            <a:off x="3367964" y="5001768"/>
            <a:ext cx="2636444" cy="1261872"/>
          </a:xfrm>
          <a:prstGeom prst="roundRect">
            <a:avLst>
              <a:gd name="adj" fmla="val 11594"/>
            </a:avLst>
          </a:prstGeom>
          <a:solidFill>
            <a:srgbClr val="15191A"/>
          </a:solidFill>
          <a:ln w="9525">
            <a:solidFill>
              <a:srgbClr val="262C2E"/>
            </a:solidFill>
            <a:prstDash val="solid"/>
          </a:ln>
        </p:spPr>
      </p:sp>
      <p:sp>
        <p:nvSpPr>
          <p:cNvPr id="52" name="Shape 41"/>
          <p:cNvSpPr/>
          <p:nvPr/>
        </p:nvSpPr>
        <p:spPr>
          <a:xfrm>
            <a:off x="3569132" y="5202936"/>
            <a:ext cx="420624" cy="420624"/>
          </a:xfrm>
          <a:prstGeom prst="roundRect">
            <a:avLst>
              <a:gd name="adj" fmla="val 28000"/>
            </a:avLst>
          </a:prstGeom>
          <a:solidFill>
            <a:srgbClr val="1C2123"/>
          </a:solidFill>
          <a:ln/>
        </p:spPr>
      </p:sp>
      <p:pic>
        <p:nvPicPr>
          <p:cNvPr id="53" name="Image 9" descr="preencoded.png">    </p:cNvPr>
          <p:cNvPicPr>
            <a:picLocks noChangeAspect="1"/>
          </p:cNvPicPr>
          <p:nvPr/>
        </p:nvPicPr>
        <p:blipFill>
          <a:blip r:embed="rId10"/>
          <a:stretch>
            <a:fillRect/>
          </a:stretch>
        </p:blipFill>
        <p:spPr>
          <a:xfrm>
            <a:off x="3670082" y="5303886"/>
            <a:ext cx="218724" cy="218724"/>
          </a:xfrm>
          <a:prstGeom prst="rect">
            <a:avLst/>
          </a:prstGeom>
        </p:spPr>
      </p:pic>
      <p:sp>
        <p:nvSpPr>
          <p:cNvPr id="54" name="Text 42"/>
          <p:cNvSpPr txBox="1"/>
          <p:nvPr/>
        </p:nvSpPr>
        <p:spPr>
          <a:xfrm>
            <a:off x="4117772" y="5202936"/>
            <a:ext cx="1767764" cy="420624"/>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Team &amp; task chat</a:t>
            </a:r>
            <a:endParaRPr lang="en-US" sz="1400" dirty="0"/>
          </a:p>
        </p:txBody>
      </p:sp>
      <p:sp>
        <p:nvSpPr>
          <p:cNvPr id="55" name="Text 43"/>
          <p:cNvSpPr txBox="1"/>
          <p:nvPr/>
        </p:nvSpPr>
        <p:spPr>
          <a:xfrm>
            <a:off x="3569132" y="5733288"/>
            <a:ext cx="2270684"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Group and per-task threads, files, voice notes.</a:t>
            </a:r>
            <a:endParaRPr lang="en-US" sz="1100" dirty="0"/>
          </a:p>
        </p:txBody>
      </p:sp>
      <p:sp>
        <p:nvSpPr>
          <p:cNvPr id="56" name="Shape 44"/>
          <p:cNvSpPr/>
          <p:nvPr/>
        </p:nvSpPr>
        <p:spPr>
          <a:xfrm>
            <a:off x="6187288" y="5001768"/>
            <a:ext cx="2636444" cy="1261872"/>
          </a:xfrm>
          <a:prstGeom prst="roundRect">
            <a:avLst>
              <a:gd name="adj" fmla="val 11594"/>
            </a:avLst>
          </a:prstGeom>
          <a:solidFill>
            <a:srgbClr val="15191A"/>
          </a:solidFill>
          <a:ln w="9525">
            <a:solidFill>
              <a:srgbClr val="262C2E"/>
            </a:solidFill>
            <a:prstDash val="solid"/>
          </a:ln>
        </p:spPr>
      </p:sp>
      <p:sp>
        <p:nvSpPr>
          <p:cNvPr id="57" name="Shape 45"/>
          <p:cNvSpPr/>
          <p:nvPr/>
        </p:nvSpPr>
        <p:spPr>
          <a:xfrm>
            <a:off x="6388456" y="5202936"/>
            <a:ext cx="420624" cy="420624"/>
          </a:xfrm>
          <a:prstGeom prst="roundRect">
            <a:avLst>
              <a:gd name="adj" fmla="val 28000"/>
            </a:avLst>
          </a:prstGeom>
          <a:solidFill>
            <a:srgbClr val="1C2123"/>
          </a:solidFill>
          <a:ln/>
        </p:spPr>
      </p:sp>
      <p:pic>
        <p:nvPicPr>
          <p:cNvPr id="58" name="Image 10" descr="preencoded.png">    </p:cNvPr>
          <p:cNvPicPr>
            <a:picLocks noChangeAspect="1"/>
          </p:cNvPicPr>
          <p:nvPr/>
        </p:nvPicPr>
        <p:blipFill>
          <a:blip r:embed="rId11"/>
          <a:stretch>
            <a:fillRect/>
          </a:stretch>
        </p:blipFill>
        <p:spPr>
          <a:xfrm>
            <a:off x="6489405" y="5303886"/>
            <a:ext cx="218724" cy="218724"/>
          </a:xfrm>
          <a:prstGeom prst="rect">
            <a:avLst/>
          </a:prstGeom>
        </p:spPr>
      </p:pic>
      <p:sp>
        <p:nvSpPr>
          <p:cNvPr id="59" name="Text 46"/>
          <p:cNvSpPr txBox="1"/>
          <p:nvPr/>
        </p:nvSpPr>
        <p:spPr>
          <a:xfrm>
            <a:off x="6937096" y="5202936"/>
            <a:ext cx="1767764" cy="420624"/>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What's next? AI</a:t>
            </a:r>
            <a:endParaRPr lang="en-US" sz="1400" dirty="0"/>
          </a:p>
        </p:txBody>
      </p:sp>
      <p:sp>
        <p:nvSpPr>
          <p:cNvPr id="60" name="Text 47"/>
          <p:cNvSpPr txBox="1"/>
          <p:nvPr/>
        </p:nvSpPr>
        <p:spPr>
          <a:xfrm>
            <a:off x="6388456" y="5733288"/>
            <a:ext cx="2270684"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Ask which task to pick up next. Get a reason.</a:t>
            </a:r>
            <a:endParaRPr lang="en-US" sz="1100" dirty="0"/>
          </a:p>
        </p:txBody>
      </p:sp>
      <p:sp>
        <p:nvSpPr>
          <p:cNvPr id="61" name="Shape 48"/>
          <p:cNvSpPr/>
          <p:nvPr/>
        </p:nvSpPr>
        <p:spPr>
          <a:xfrm>
            <a:off x="9006611" y="5001768"/>
            <a:ext cx="2636444" cy="1261872"/>
          </a:xfrm>
          <a:prstGeom prst="roundRect">
            <a:avLst>
              <a:gd name="adj" fmla="val 11594"/>
            </a:avLst>
          </a:prstGeom>
          <a:solidFill>
            <a:srgbClr val="15191A"/>
          </a:solidFill>
          <a:ln w="9525">
            <a:solidFill>
              <a:srgbClr val="262C2E"/>
            </a:solidFill>
            <a:prstDash val="solid"/>
          </a:ln>
        </p:spPr>
      </p:sp>
      <p:sp>
        <p:nvSpPr>
          <p:cNvPr id="62" name="Shape 49"/>
          <p:cNvSpPr/>
          <p:nvPr/>
        </p:nvSpPr>
        <p:spPr>
          <a:xfrm>
            <a:off x="9207779" y="5202936"/>
            <a:ext cx="420624" cy="420624"/>
          </a:xfrm>
          <a:prstGeom prst="roundRect">
            <a:avLst>
              <a:gd name="adj" fmla="val 28000"/>
            </a:avLst>
          </a:prstGeom>
          <a:solidFill>
            <a:srgbClr val="1C2123"/>
          </a:solidFill>
          <a:ln/>
        </p:spPr>
      </p:sp>
      <p:pic>
        <p:nvPicPr>
          <p:cNvPr id="63" name="Image 11" descr="preencoded.png">    </p:cNvPr>
          <p:cNvPicPr>
            <a:picLocks noChangeAspect="1"/>
          </p:cNvPicPr>
          <p:nvPr/>
        </p:nvPicPr>
        <p:blipFill>
          <a:blip r:embed="rId12"/>
          <a:stretch>
            <a:fillRect/>
          </a:stretch>
        </p:blipFill>
        <p:spPr>
          <a:xfrm>
            <a:off x="9308729" y="5303886"/>
            <a:ext cx="218724" cy="218724"/>
          </a:xfrm>
          <a:prstGeom prst="rect">
            <a:avLst/>
          </a:prstGeom>
        </p:spPr>
      </p:pic>
      <p:sp>
        <p:nvSpPr>
          <p:cNvPr id="64" name="Text 50"/>
          <p:cNvSpPr txBox="1"/>
          <p:nvPr/>
        </p:nvSpPr>
        <p:spPr>
          <a:xfrm>
            <a:off x="9756419" y="5202936"/>
            <a:ext cx="1767764" cy="420624"/>
          </a:xfrm>
          <a:prstGeom prst="rect">
            <a:avLst/>
          </a:prstGeom>
          <a:noFill/>
          <a:ln/>
        </p:spPr>
        <p:txBody>
          <a:bodyPr wrap="square" lIns="0" tIns="0" rIns="0" bIns="0" rtlCol="0" anchor="ctr"/>
          <a:lstStyle/>
          <a:p>
            <a:pPr indent="0" marL="0">
              <a:buNone/>
            </a:pPr>
            <a:r>
              <a:rPr lang="en-US" sz="1400" b="1" dirty="0">
                <a:solidFill>
                  <a:srgbClr val="F4F6F5"/>
                </a:solidFill>
                <a:latin typeface="Epilogue" pitchFamily="34" charset="0"/>
                <a:ea typeface="Epilogue" pitchFamily="34" charset="-122"/>
                <a:cs typeface="Epilogue" pitchFamily="34" charset="-120"/>
              </a:rPr>
              <a:t>Home widgets</a:t>
            </a:r>
            <a:endParaRPr lang="en-US" sz="1400" dirty="0"/>
          </a:p>
        </p:txBody>
      </p:sp>
      <p:sp>
        <p:nvSpPr>
          <p:cNvPr id="65" name="Text 51"/>
          <p:cNvSpPr txBox="1"/>
          <p:nvPr/>
        </p:nvSpPr>
        <p:spPr>
          <a:xfrm>
            <a:off x="9207779" y="5733288"/>
            <a:ext cx="2270684" cy="457200"/>
          </a:xfrm>
          <a:prstGeom prst="rect">
            <a:avLst/>
          </a:prstGeom>
          <a:noFill/>
          <a:ln/>
        </p:spPr>
        <p:txBody>
          <a:bodyPr wrap="square" lIns="0" tIns="0" rIns="0" bIns="0" rtlCol="0" anchor="t"/>
          <a:lstStyle/>
          <a:p>
            <a:pPr indent="0" marL="0">
              <a:lnSpc>
                <a:spcPct val="110000"/>
              </a:lnSpc>
              <a:buNone/>
            </a:pPr>
            <a:r>
              <a:rPr lang="en-US" sz="1100" dirty="0">
                <a:solidFill>
                  <a:srgbClr val="9AA7A2"/>
                </a:solidFill>
                <a:latin typeface="Manrope" pitchFamily="34" charset="0"/>
                <a:ea typeface="Manrope" pitchFamily="34" charset="-122"/>
                <a:cs typeface="Manrope" pitchFamily="34" charset="-120"/>
              </a:rPr>
              <a:t>Your top tasks and AI briefing on the home screen.</a:t>
            </a:r>
            <a:endParaRPr lang="en-US" sz="1100" dirty="0"/>
          </a:p>
        </p:txBody>
      </p:sp>
      <p:sp>
        <p:nvSpPr>
          <p:cNvPr id="66" name="Text 52"/>
          <p:cNvSpPr txBox="1"/>
          <p:nvPr/>
        </p:nvSpPr>
        <p:spPr>
          <a:xfrm>
            <a:off x="548640" y="6446520"/>
            <a:ext cx="5486400" cy="201168"/>
          </a:xfrm>
          <a:prstGeom prst="rect">
            <a:avLst/>
          </a:prstGeom>
          <a:noFill/>
          <a:ln/>
        </p:spPr>
        <p:txBody>
          <a:bodyPr wrap="square" lIns="0" tIns="0" rIns="0" bIns="0" rtlCol="0" anchor="t"/>
          <a:lstStyle/>
          <a:p>
            <a:pPr indent="0" marL="0">
              <a:buNone/>
            </a:pPr>
            <a:r>
              <a:rPr lang="en-US" sz="800" b="1" spc="200" kern="0" dirty="0">
                <a:solidFill>
                  <a:srgbClr val="6B7773"/>
                </a:solidFill>
                <a:latin typeface="Plus Jakarta Sans" pitchFamily="34" charset="0"/>
                <a:ea typeface="Plus Jakarta Sans" pitchFamily="34" charset="-122"/>
                <a:cs typeface="Plus Jakarta Sans" pitchFamily="34" charset="-120"/>
              </a:rPr>
              <a:t>BOD APP  ·  RUN YOUR STUDIO THE CALM WAY</a:t>
            </a:r>
            <a:endParaRPr lang="en-US" sz="800" dirty="0"/>
          </a:p>
        </p:txBody>
      </p:sp>
      <p:sp>
        <p:nvSpPr>
          <p:cNvPr id="67" name="Text 53"/>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b="1" dirty="0">
                <a:solidFill>
                  <a:srgbClr val="6B7773"/>
                </a:solidFill>
                <a:latin typeface="Plus Jakarta Sans" pitchFamily="34" charset="0"/>
                <a:ea typeface="Plus Jakarta Sans" pitchFamily="34" charset="-122"/>
                <a:cs typeface="Plus Jakarta Sans"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08  ·  BUILT FOR THE WHOLE STUDIO</a:t>
            </a:r>
            <a:endParaRPr lang="en-US" sz="1000" dirty="0"/>
          </a:p>
        </p:txBody>
      </p:sp>
      <p:sp>
        <p:nvSpPr>
          <p:cNvPr id="3" name="Text 1"/>
          <p:cNvSpPr txBox="1"/>
          <p:nvPr/>
        </p:nvSpPr>
        <p:spPr>
          <a:xfrm>
            <a:off x="7985455" y="457200"/>
            <a:ext cx="3657600" cy="228600"/>
          </a:xfrm>
          <a:prstGeom prst="rect">
            <a:avLst/>
          </a:prstGeom>
          <a:noFill/>
          <a:ln/>
        </p:spPr>
        <p:txBody>
          <a:bodyPr wrap="square" lIns="0" tIns="0" rIns="0" bIns="0" rtlCol="0" anchor="t"/>
          <a:lstStyle/>
          <a:p>
            <a:pPr algn="r" indent="0" marL="0">
              <a:buNone/>
            </a:pPr>
            <a:r>
              <a:rPr lang="en-US" sz="900" b="1" spc="200" kern="0" dirty="0">
                <a:solidFill>
                  <a:srgbClr val="6B7773"/>
                </a:solidFill>
                <a:latin typeface="Plus Jakarta Sans" pitchFamily="34" charset="0"/>
                <a:ea typeface="Plus Jakarta Sans" pitchFamily="34" charset="-122"/>
                <a:cs typeface="Plus Jakarta Sans" pitchFamily="34" charset="-120"/>
              </a:rPr>
              <a:t>BOD APP  /  SALES DECK</a:t>
            </a:r>
            <a:endParaRPr lang="en-US" sz="9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indent="0" marL="0">
              <a:buNone/>
            </a:pPr>
            <a:r>
              <a:rPr lang="en-US" sz="3400" b="1" dirty="0">
                <a:solidFill>
                  <a:srgbClr val="F4F6F5"/>
                </a:solidFill>
                <a:latin typeface="Epilogue" pitchFamily="34" charset="0"/>
                <a:ea typeface="Epilogue" pitchFamily="34" charset="-122"/>
                <a:cs typeface="Epilogue" pitchFamily="34" charset="-120"/>
              </a:rPr>
              <a:t>One app, every seat.</a:t>
            </a:r>
            <a:endParaRPr lang="en-US" sz="3400" dirty="0"/>
          </a:p>
        </p:txBody>
      </p:sp>
      <p:sp>
        <p:nvSpPr>
          <p:cNvPr id="5" name="Text 3"/>
          <p:cNvSpPr txBox="1"/>
          <p:nvPr/>
        </p:nvSpPr>
        <p:spPr>
          <a:xfrm>
            <a:off x="548640" y="1536192"/>
            <a:ext cx="11094415" cy="548640"/>
          </a:xfrm>
          <a:prstGeom prst="rect">
            <a:avLst/>
          </a:prstGeom>
          <a:noFill/>
          <a:ln/>
        </p:spPr>
        <p:txBody>
          <a:bodyPr wrap="square" lIns="0" tIns="0" rIns="0" bIns="0" rtlCol="0" anchor="t"/>
          <a:lstStyle/>
          <a:p>
            <a:pPr indent="0" marL="0">
              <a:lnSpc>
                <a:spcPct val="115000"/>
              </a:lnSpc>
              <a:buNone/>
            </a:pPr>
            <a:r>
              <a:rPr lang="en-US" sz="1500" dirty="0">
                <a:solidFill>
                  <a:srgbClr val="9AA7A2"/>
                </a:solidFill>
                <a:latin typeface="Manrope" pitchFamily="34" charset="0"/>
                <a:ea typeface="Manrope" pitchFamily="34" charset="-122"/>
                <a:cs typeface="Manrope" pitchFamily="34" charset="-120"/>
              </a:rPr>
              <a:t>Everyone sees the same work through their own lens — no status meetings required.</a:t>
            </a:r>
            <a:endParaRPr lang="en-US" sz="1500" dirty="0"/>
          </a:p>
        </p:txBody>
      </p:sp>
      <p:sp>
        <p:nvSpPr>
          <p:cNvPr id="6" name="Shape 4"/>
          <p:cNvSpPr/>
          <p:nvPr/>
        </p:nvSpPr>
        <p:spPr>
          <a:xfrm>
            <a:off x="548640" y="2240280"/>
            <a:ext cx="2622728" cy="3840480"/>
          </a:xfrm>
          <a:prstGeom prst="roundRect">
            <a:avLst>
              <a:gd name="adj" fmla="val 5578"/>
            </a:avLst>
          </a:prstGeom>
          <a:solidFill>
            <a:srgbClr val="B8E62E"/>
          </a:solidFill>
          <a:ln/>
        </p:spPr>
      </p:sp>
      <p:sp>
        <p:nvSpPr>
          <p:cNvPr id="7" name="Shape 5"/>
          <p:cNvSpPr/>
          <p:nvPr/>
        </p:nvSpPr>
        <p:spPr>
          <a:xfrm>
            <a:off x="822960" y="2514600"/>
            <a:ext cx="566928" cy="566928"/>
          </a:xfrm>
          <a:prstGeom prst="roundRect">
            <a:avLst>
              <a:gd name="adj" fmla="val 28000"/>
            </a:avLst>
          </a:prstGeom>
          <a:solidFill>
            <a:srgbClr val="0B0D0C"/>
          </a:solidFill>
          <a:ln/>
        </p:spPr>
      </p:sp>
      <p:pic>
        <p:nvPicPr>
          <p:cNvPr id="8" name="Image 0" descr="preencoded.png">    </p:cNvPr>
          <p:cNvPicPr>
            <a:picLocks noChangeAspect="1"/>
          </p:cNvPicPr>
          <p:nvPr/>
        </p:nvPicPr>
        <p:blipFill>
          <a:blip r:embed="rId1"/>
          <a:stretch>
            <a:fillRect/>
          </a:stretch>
        </p:blipFill>
        <p:spPr>
          <a:xfrm>
            <a:off x="959023" y="2650663"/>
            <a:ext cx="294803" cy="294803"/>
          </a:xfrm>
          <a:prstGeom prst="rect">
            <a:avLst/>
          </a:prstGeom>
        </p:spPr>
      </p:pic>
      <p:sp>
        <p:nvSpPr>
          <p:cNvPr id="9" name="Text 6"/>
          <p:cNvSpPr txBox="1"/>
          <p:nvPr/>
        </p:nvSpPr>
        <p:spPr>
          <a:xfrm>
            <a:off x="822960" y="3291840"/>
            <a:ext cx="2165528" cy="365760"/>
          </a:xfrm>
          <a:prstGeom prst="rect">
            <a:avLst/>
          </a:prstGeom>
          <a:noFill/>
          <a:ln/>
        </p:spPr>
        <p:txBody>
          <a:bodyPr wrap="square" lIns="0" tIns="0" rIns="0" bIns="0" rtlCol="0" anchor="t"/>
          <a:lstStyle/>
          <a:p>
            <a:pPr indent="0" marL="0">
              <a:buNone/>
            </a:pPr>
            <a:r>
              <a:rPr lang="en-US" sz="1900" b="1" dirty="0">
                <a:solidFill>
                  <a:srgbClr val="0B0D0C"/>
                </a:solidFill>
                <a:latin typeface="Epilogue" pitchFamily="34" charset="0"/>
                <a:ea typeface="Epilogue" pitchFamily="34" charset="-122"/>
                <a:cs typeface="Epilogue" pitchFamily="34" charset="-120"/>
              </a:rPr>
              <a:t>Founder</a:t>
            </a:r>
            <a:endParaRPr lang="en-US" sz="1900" dirty="0"/>
          </a:p>
        </p:txBody>
      </p:sp>
      <p:sp>
        <p:nvSpPr>
          <p:cNvPr id="10" name="Text 7"/>
          <p:cNvSpPr txBox="1"/>
          <p:nvPr/>
        </p:nvSpPr>
        <p:spPr>
          <a:xfrm>
            <a:off x="822960" y="3721608"/>
            <a:ext cx="2119808" cy="1188720"/>
          </a:xfrm>
          <a:prstGeom prst="rect">
            <a:avLst/>
          </a:prstGeom>
          <a:noFill/>
          <a:ln/>
        </p:spPr>
        <p:txBody>
          <a:bodyPr wrap="square" lIns="0" tIns="0" rIns="0" bIns="0" rtlCol="0" anchor="t"/>
          <a:lstStyle/>
          <a:p>
            <a:pPr indent="0" marL="0">
              <a:lnSpc>
                <a:spcPct val="120000"/>
              </a:lnSpc>
              <a:buNone/>
            </a:pPr>
            <a:r>
              <a:rPr lang="en-US" sz="1250" dirty="0">
                <a:solidFill>
                  <a:srgbClr val="25300C"/>
                </a:solidFill>
                <a:latin typeface="Manrope" pitchFamily="34" charset="0"/>
                <a:ea typeface="Manrope" pitchFamily="34" charset="-122"/>
                <a:cs typeface="Manrope" pitchFamily="34" charset="-120"/>
              </a:rPr>
              <a:t>The whole studio at a glance — deliverables shipped, clients served, and what's ready to bill.</a:t>
            </a:r>
            <a:endParaRPr lang="en-US" sz="1250" dirty="0"/>
          </a:p>
        </p:txBody>
      </p:sp>
      <p:sp>
        <p:nvSpPr>
          <p:cNvPr id="11" name="Text 8"/>
          <p:cNvSpPr txBox="1"/>
          <p:nvPr/>
        </p:nvSpPr>
        <p:spPr>
          <a:xfrm>
            <a:off x="822960" y="4937760"/>
            <a:ext cx="2165528" cy="182880"/>
          </a:xfrm>
          <a:prstGeom prst="rect">
            <a:avLst/>
          </a:prstGeom>
          <a:noFill/>
          <a:ln/>
        </p:spPr>
        <p:txBody>
          <a:bodyPr wrap="square" lIns="0" tIns="0" rIns="0" bIns="0" rtlCol="0" anchor="t"/>
          <a:lstStyle/>
          <a:p>
            <a:pPr indent="0" marL="0">
              <a:buNone/>
            </a:pPr>
            <a:r>
              <a:rPr lang="en-US" sz="800" b="1" spc="150" kern="0" dirty="0">
                <a:solidFill>
                  <a:srgbClr val="3A4A10"/>
                </a:solidFill>
                <a:latin typeface="Plus Jakarta Sans" pitchFamily="34" charset="0"/>
                <a:ea typeface="Plus Jakarta Sans" pitchFamily="34" charset="-122"/>
                <a:cs typeface="Plus Jakarta Sans" pitchFamily="34" charset="-120"/>
              </a:rPr>
              <a:t>THEY LIVE IN</a:t>
            </a:r>
            <a:endParaRPr lang="en-US" sz="800" dirty="0"/>
          </a:p>
        </p:txBody>
      </p:sp>
      <p:sp>
        <p:nvSpPr>
          <p:cNvPr id="12" name="Text 9"/>
          <p:cNvSpPr txBox="1"/>
          <p:nvPr/>
        </p:nvSpPr>
        <p:spPr>
          <a:xfrm>
            <a:off x="822960" y="5166360"/>
            <a:ext cx="2165528" cy="640080"/>
          </a:xfrm>
          <a:prstGeom prst="rect">
            <a:avLst/>
          </a:prstGeom>
          <a:noFill/>
          <a:ln/>
        </p:spPr>
        <p:txBody>
          <a:bodyPr wrap="square" lIns="0" tIns="0" rIns="0" bIns="0" rtlCol="0" anchor="t"/>
          <a:lstStyle/>
          <a:p>
            <a:pPr indent="0" marL="0">
              <a:lnSpc>
                <a:spcPct val="120000"/>
              </a:lnSpc>
              <a:buNone/>
            </a:pPr>
            <a:r>
              <a:rPr lang="en-US" sz="1150" b="1" dirty="0">
                <a:solidFill>
                  <a:srgbClr val="0B0D0C"/>
                </a:solidFill>
                <a:latin typeface="Manrope" pitchFamily="34" charset="0"/>
                <a:ea typeface="Manrope" pitchFamily="34" charset="-122"/>
                <a:cs typeface="Manrope" pitchFamily="34" charset="-120"/>
              </a:rPr>
              <a:t>Analytics  ·  AI weekly summary  ·  6 PM standup</a:t>
            </a:r>
            <a:endParaRPr lang="en-US" sz="1150" dirty="0"/>
          </a:p>
        </p:txBody>
      </p:sp>
      <p:sp>
        <p:nvSpPr>
          <p:cNvPr id="13" name="Shape 10"/>
          <p:cNvSpPr/>
          <p:nvPr/>
        </p:nvSpPr>
        <p:spPr>
          <a:xfrm>
            <a:off x="3372536" y="2240280"/>
            <a:ext cx="2622728" cy="3840480"/>
          </a:xfrm>
          <a:prstGeom prst="roundRect">
            <a:avLst>
              <a:gd name="adj" fmla="val 5578"/>
            </a:avLst>
          </a:prstGeom>
          <a:solidFill>
            <a:srgbClr val="15191A"/>
          </a:solidFill>
          <a:ln w="9525">
            <a:solidFill>
              <a:srgbClr val="262C2E"/>
            </a:solidFill>
            <a:prstDash val="solid"/>
          </a:ln>
        </p:spPr>
      </p:sp>
      <p:sp>
        <p:nvSpPr>
          <p:cNvPr id="14" name="Shape 11"/>
          <p:cNvSpPr/>
          <p:nvPr/>
        </p:nvSpPr>
        <p:spPr>
          <a:xfrm>
            <a:off x="3646856" y="2514600"/>
            <a:ext cx="566928" cy="566928"/>
          </a:xfrm>
          <a:prstGeom prst="roundRect">
            <a:avLst>
              <a:gd name="adj" fmla="val 28000"/>
            </a:avLst>
          </a:prstGeom>
          <a:solidFill>
            <a:srgbClr val="1C2123"/>
          </a:solidFill>
          <a:ln/>
        </p:spPr>
      </p:sp>
      <p:pic>
        <p:nvPicPr>
          <p:cNvPr id="15" name="Image 1" descr="preencoded.png">    </p:cNvPr>
          <p:cNvPicPr>
            <a:picLocks noChangeAspect="1"/>
          </p:cNvPicPr>
          <p:nvPr/>
        </p:nvPicPr>
        <p:blipFill>
          <a:blip r:embed="rId2"/>
          <a:stretch>
            <a:fillRect/>
          </a:stretch>
        </p:blipFill>
        <p:spPr>
          <a:xfrm>
            <a:off x="3782919" y="2650663"/>
            <a:ext cx="294803" cy="294803"/>
          </a:xfrm>
          <a:prstGeom prst="rect">
            <a:avLst/>
          </a:prstGeom>
        </p:spPr>
      </p:pic>
      <p:sp>
        <p:nvSpPr>
          <p:cNvPr id="16" name="Text 12"/>
          <p:cNvSpPr txBox="1"/>
          <p:nvPr/>
        </p:nvSpPr>
        <p:spPr>
          <a:xfrm>
            <a:off x="3646856" y="3291840"/>
            <a:ext cx="2165528" cy="365760"/>
          </a:xfrm>
          <a:prstGeom prst="rect">
            <a:avLst/>
          </a:prstGeom>
          <a:noFill/>
          <a:ln/>
        </p:spPr>
        <p:txBody>
          <a:bodyPr wrap="square" lIns="0" tIns="0" rIns="0" bIns="0" rtlCol="0" anchor="t"/>
          <a:lstStyle/>
          <a:p>
            <a:pPr indent="0" marL="0">
              <a:buNone/>
            </a:pPr>
            <a:r>
              <a:rPr lang="en-US" sz="1900" b="1" dirty="0">
                <a:solidFill>
                  <a:srgbClr val="F4F6F5"/>
                </a:solidFill>
                <a:latin typeface="Epilogue" pitchFamily="34" charset="0"/>
                <a:ea typeface="Epilogue" pitchFamily="34" charset="-122"/>
                <a:cs typeface="Epilogue" pitchFamily="34" charset="-120"/>
              </a:rPr>
              <a:t>Project manager</a:t>
            </a:r>
            <a:endParaRPr lang="en-US" sz="1900" dirty="0"/>
          </a:p>
        </p:txBody>
      </p:sp>
      <p:sp>
        <p:nvSpPr>
          <p:cNvPr id="17" name="Text 13"/>
          <p:cNvSpPr txBox="1"/>
          <p:nvPr/>
        </p:nvSpPr>
        <p:spPr>
          <a:xfrm>
            <a:off x="3646856" y="3721608"/>
            <a:ext cx="2119808" cy="1188720"/>
          </a:xfrm>
          <a:prstGeom prst="rect">
            <a:avLst/>
          </a:prstGeom>
          <a:noFill/>
          <a:ln/>
        </p:spPr>
        <p:txBody>
          <a:bodyPr wrap="square" lIns="0" tIns="0" rIns="0" bIns="0" rtlCol="0" anchor="t"/>
          <a:lstStyle/>
          <a:p>
            <a:pPr indent="0" marL="0">
              <a:lnSpc>
                <a:spcPct val="120000"/>
              </a:lnSpc>
              <a:buNone/>
            </a:pPr>
            <a:r>
              <a:rPr lang="en-US" sz="1250" dirty="0">
                <a:solidFill>
                  <a:srgbClr val="9AA7A2"/>
                </a:solidFill>
                <a:latin typeface="Manrope" pitchFamily="34" charset="0"/>
                <a:ea typeface="Manrope" pitchFamily="34" charset="-122"/>
                <a:cs typeface="Manrope" pitchFamily="34" charset="-120"/>
              </a:rPr>
              <a:t>Assign, chase and approve from one inbox. Blocked-task nudges write the follow-up.</a:t>
            </a:r>
            <a:endParaRPr lang="en-US" sz="1250" dirty="0"/>
          </a:p>
        </p:txBody>
      </p:sp>
      <p:sp>
        <p:nvSpPr>
          <p:cNvPr id="18" name="Text 14"/>
          <p:cNvSpPr txBox="1"/>
          <p:nvPr/>
        </p:nvSpPr>
        <p:spPr>
          <a:xfrm>
            <a:off x="3646856" y="4937760"/>
            <a:ext cx="2165528" cy="182880"/>
          </a:xfrm>
          <a:prstGeom prst="rect">
            <a:avLst/>
          </a:prstGeom>
          <a:noFill/>
          <a:ln/>
        </p:spPr>
        <p:txBody>
          <a:bodyPr wrap="square" lIns="0" tIns="0" rIns="0" bIns="0" rtlCol="0" anchor="t"/>
          <a:lstStyle/>
          <a:p>
            <a:pPr indent="0" marL="0">
              <a:buNone/>
            </a:pPr>
            <a:r>
              <a:rPr lang="en-US" sz="800" b="1" spc="150" kern="0" dirty="0">
                <a:solidFill>
                  <a:srgbClr val="6B7773"/>
                </a:solidFill>
                <a:latin typeface="Plus Jakarta Sans" pitchFamily="34" charset="0"/>
                <a:ea typeface="Plus Jakarta Sans" pitchFamily="34" charset="-122"/>
                <a:cs typeface="Plus Jakarta Sans" pitchFamily="34" charset="-120"/>
              </a:rPr>
              <a:t>THEY LIVE IN</a:t>
            </a:r>
            <a:endParaRPr lang="en-US" sz="800" dirty="0"/>
          </a:p>
        </p:txBody>
      </p:sp>
      <p:sp>
        <p:nvSpPr>
          <p:cNvPr id="19" name="Text 15"/>
          <p:cNvSpPr txBox="1"/>
          <p:nvPr/>
        </p:nvSpPr>
        <p:spPr>
          <a:xfrm>
            <a:off x="3646856" y="5166360"/>
            <a:ext cx="2165528" cy="640080"/>
          </a:xfrm>
          <a:prstGeom prst="rect">
            <a:avLst/>
          </a:prstGeom>
          <a:noFill/>
          <a:ln/>
        </p:spPr>
        <p:txBody>
          <a:bodyPr wrap="square" lIns="0" tIns="0" rIns="0" bIns="0" rtlCol="0" anchor="t"/>
          <a:lstStyle/>
          <a:p>
            <a:pPr indent="0" marL="0">
              <a:lnSpc>
                <a:spcPct val="120000"/>
              </a:lnSpc>
              <a:buNone/>
            </a:pPr>
            <a:r>
              <a:rPr lang="en-US" sz="1150" b="1" dirty="0">
                <a:solidFill>
                  <a:srgbClr val="F4F6F5"/>
                </a:solidFill>
                <a:latin typeface="Manrope" pitchFamily="34" charset="0"/>
                <a:ea typeface="Manrope" pitchFamily="34" charset="-122"/>
                <a:cs typeface="Manrope" pitchFamily="34" charset="-120"/>
              </a:rPr>
              <a:t>Approvals hub  ·  Nudges  ·  AI capture</a:t>
            </a:r>
            <a:endParaRPr lang="en-US" sz="1150" dirty="0"/>
          </a:p>
        </p:txBody>
      </p:sp>
      <p:sp>
        <p:nvSpPr>
          <p:cNvPr id="20" name="Shape 16"/>
          <p:cNvSpPr/>
          <p:nvPr/>
        </p:nvSpPr>
        <p:spPr>
          <a:xfrm>
            <a:off x="6196432" y="2240280"/>
            <a:ext cx="2622728" cy="3840480"/>
          </a:xfrm>
          <a:prstGeom prst="roundRect">
            <a:avLst>
              <a:gd name="adj" fmla="val 5578"/>
            </a:avLst>
          </a:prstGeom>
          <a:solidFill>
            <a:srgbClr val="15191A"/>
          </a:solidFill>
          <a:ln w="9525">
            <a:solidFill>
              <a:srgbClr val="262C2E"/>
            </a:solidFill>
            <a:prstDash val="solid"/>
          </a:ln>
        </p:spPr>
      </p:sp>
      <p:sp>
        <p:nvSpPr>
          <p:cNvPr id="21" name="Shape 17"/>
          <p:cNvSpPr/>
          <p:nvPr/>
        </p:nvSpPr>
        <p:spPr>
          <a:xfrm>
            <a:off x="6470752" y="2514600"/>
            <a:ext cx="566928" cy="566928"/>
          </a:xfrm>
          <a:prstGeom prst="roundRect">
            <a:avLst>
              <a:gd name="adj" fmla="val 28000"/>
            </a:avLst>
          </a:prstGeom>
          <a:solidFill>
            <a:srgbClr val="1C2123"/>
          </a:solidFill>
          <a:ln/>
        </p:spPr>
      </p:sp>
      <p:pic>
        <p:nvPicPr>
          <p:cNvPr id="22" name="Image 2" descr="preencoded.png">    </p:cNvPr>
          <p:cNvPicPr>
            <a:picLocks noChangeAspect="1"/>
          </p:cNvPicPr>
          <p:nvPr/>
        </p:nvPicPr>
        <p:blipFill>
          <a:blip r:embed="rId3"/>
          <a:stretch>
            <a:fillRect/>
          </a:stretch>
        </p:blipFill>
        <p:spPr>
          <a:xfrm>
            <a:off x="6606814" y="2650663"/>
            <a:ext cx="294803" cy="294803"/>
          </a:xfrm>
          <a:prstGeom prst="rect">
            <a:avLst/>
          </a:prstGeom>
        </p:spPr>
      </p:pic>
      <p:sp>
        <p:nvSpPr>
          <p:cNvPr id="23" name="Text 18"/>
          <p:cNvSpPr txBox="1"/>
          <p:nvPr/>
        </p:nvSpPr>
        <p:spPr>
          <a:xfrm>
            <a:off x="6470752" y="3291840"/>
            <a:ext cx="2165528" cy="365760"/>
          </a:xfrm>
          <a:prstGeom prst="rect">
            <a:avLst/>
          </a:prstGeom>
          <a:noFill/>
          <a:ln/>
        </p:spPr>
        <p:txBody>
          <a:bodyPr wrap="square" lIns="0" tIns="0" rIns="0" bIns="0" rtlCol="0" anchor="t"/>
          <a:lstStyle/>
          <a:p>
            <a:pPr indent="0" marL="0">
              <a:buNone/>
            </a:pPr>
            <a:r>
              <a:rPr lang="en-US" sz="1900" b="1" dirty="0">
                <a:solidFill>
                  <a:srgbClr val="F4F6F5"/>
                </a:solidFill>
                <a:latin typeface="Epilogue" pitchFamily="34" charset="0"/>
                <a:ea typeface="Epilogue" pitchFamily="34" charset="-122"/>
                <a:cs typeface="Epilogue" pitchFamily="34" charset="-120"/>
              </a:rPr>
              <a:t>Creative team</a:t>
            </a:r>
            <a:endParaRPr lang="en-US" sz="1900" dirty="0"/>
          </a:p>
        </p:txBody>
      </p:sp>
      <p:sp>
        <p:nvSpPr>
          <p:cNvPr id="24" name="Text 19"/>
          <p:cNvSpPr txBox="1"/>
          <p:nvPr/>
        </p:nvSpPr>
        <p:spPr>
          <a:xfrm>
            <a:off x="6470752" y="3721608"/>
            <a:ext cx="2119808" cy="1188720"/>
          </a:xfrm>
          <a:prstGeom prst="rect">
            <a:avLst/>
          </a:prstGeom>
          <a:noFill/>
          <a:ln/>
        </p:spPr>
        <p:txBody>
          <a:bodyPr wrap="square" lIns="0" tIns="0" rIns="0" bIns="0" rtlCol="0" anchor="t"/>
          <a:lstStyle/>
          <a:p>
            <a:pPr indent="0" marL="0">
              <a:lnSpc>
                <a:spcPct val="120000"/>
              </a:lnSpc>
              <a:buNone/>
            </a:pPr>
            <a:r>
              <a:rPr lang="en-US" sz="1250" dirty="0">
                <a:solidFill>
                  <a:srgbClr val="9AA7A2"/>
                </a:solidFill>
                <a:latin typeface="Manrope" pitchFamily="34" charset="0"/>
                <a:ea typeface="Manrope" pitchFamily="34" charset="-122"/>
                <a:cs typeface="Manrope" pitchFamily="34" charset="-120"/>
              </a:rPr>
              <a:t>A calm focus queue — today's work, auto-sorted, with the vibe of each task at a tap.</a:t>
            </a:r>
            <a:endParaRPr lang="en-US" sz="1250" dirty="0"/>
          </a:p>
        </p:txBody>
      </p:sp>
      <p:sp>
        <p:nvSpPr>
          <p:cNvPr id="25" name="Text 20"/>
          <p:cNvSpPr txBox="1"/>
          <p:nvPr/>
        </p:nvSpPr>
        <p:spPr>
          <a:xfrm>
            <a:off x="6470752" y="4937760"/>
            <a:ext cx="2165528" cy="182880"/>
          </a:xfrm>
          <a:prstGeom prst="rect">
            <a:avLst/>
          </a:prstGeom>
          <a:noFill/>
          <a:ln/>
        </p:spPr>
        <p:txBody>
          <a:bodyPr wrap="square" lIns="0" tIns="0" rIns="0" bIns="0" rtlCol="0" anchor="t"/>
          <a:lstStyle/>
          <a:p>
            <a:pPr indent="0" marL="0">
              <a:buNone/>
            </a:pPr>
            <a:r>
              <a:rPr lang="en-US" sz="800" b="1" spc="150" kern="0" dirty="0">
                <a:solidFill>
                  <a:srgbClr val="6B7773"/>
                </a:solidFill>
                <a:latin typeface="Plus Jakarta Sans" pitchFamily="34" charset="0"/>
                <a:ea typeface="Plus Jakarta Sans" pitchFamily="34" charset="-122"/>
                <a:cs typeface="Plus Jakarta Sans" pitchFamily="34" charset="-120"/>
              </a:rPr>
              <a:t>THEY LIVE IN</a:t>
            </a:r>
            <a:endParaRPr lang="en-US" sz="800" dirty="0"/>
          </a:p>
        </p:txBody>
      </p:sp>
      <p:sp>
        <p:nvSpPr>
          <p:cNvPr id="26" name="Text 21"/>
          <p:cNvSpPr txBox="1"/>
          <p:nvPr/>
        </p:nvSpPr>
        <p:spPr>
          <a:xfrm>
            <a:off x="6470752" y="5166360"/>
            <a:ext cx="2165528" cy="640080"/>
          </a:xfrm>
          <a:prstGeom prst="rect">
            <a:avLst/>
          </a:prstGeom>
          <a:noFill/>
          <a:ln/>
        </p:spPr>
        <p:txBody>
          <a:bodyPr wrap="square" lIns="0" tIns="0" rIns="0" bIns="0" rtlCol="0" anchor="t"/>
          <a:lstStyle/>
          <a:p>
            <a:pPr indent="0" marL="0">
              <a:lnSpc>
                <a:spcPct val="120000"/>
              </a:lnSpc>
              <a:buNone/>
            </a:pPr>
            <a:r>
              <a:rPr lang="en-US" sz="1150" b="1" dirty="0">
                <a:solidFill>
                  <a:srgbClr val="F4F6F5"/>
                </a:solidFill>
                <a:latin typeface="Manrope" pitchFamily="34" charset="0"/>
                <a:ea typeface="Manrope" pitchFamily="34" charset="-122"/>
                <a:cs typeface="Manrope" pitchFamily="34" charset="-120"/>
              </a:rPr>
              <a:t>Focus Queue  ·  Vibe status  ·  Focus mode</a:t>
            </a:r>
            <a:endParaRPr lang="en-US" sz="1150" dirty="0"/>
          </a:p>
        </p:txBody>
      </p:sp>
      <p:sp>
        <p:nvSpPr>
          <p:cNvPr id="27" name="Shape 22"/>
          <p:cNvSpPr/>
          <p:nvPr/>
        </p:nvSpPr>
        <p:spPr>
          <a:xfrm>
            <a:off x="9020327" y="2240280"/>
            <a:ext cx="2622728" cy="3840480"/>
          </a:xfrm>
          <a:prstGeom prst="roundRect">
            <a:avLst>
              <a:gd name="adj" fmla="val 5578"/>
            </a:avLst>
          </a:prstGeom>
          <a:solidFill>
            <a:srgbClr val="15191A"/>
          </a:solidFill>
          <a:ln w="9525">
            <a:solidFill>
              <a:srgbClr val="262C2E"/>
            </a:solidFill>
            <a:prstDash val="solid"/>
          </a:ln>
        </p:spPr>
      </p:sp>
      <p:sp>
        <p:nvSpPr>
          <p:cNvPr id="28" name="Shape 23"/>
          <p:cNvSpPr/>
          <p:nvPr/>
        </p:nvSpPr>
        <p:spPr>
          <a:xfrm>
            <a:off x="9294647" y="2514600"/>
            <a:ext cx="566928" cy="566928"/>
          </a:xfrm>
          <a:prstGeom prst="roundRect">
            <a:avLst>
              <a:gd name="adj" fmla="val 28000"/>
            </a:avLst>
          </a:prstGeom>
          <a:solidFill>
            <a:srgbClr val="1C2123"/>
          </a:solidFill>
          <a:ln/>
        </p:spPr>
      </p:sp>
      <p:pic>
        <p:nvPicPr>
          <p:cNvPr id="29" name="Image 3" descr="preencoded.png">    </p:cNvPr>
          <p:cNvPicPr>
            <a:picLocks noChangeAspect="1"/>
          </p:cNvPicPr>
          <p:nvPr/>
        </p:nvPicPr>
        <p:blipFill>
          <a:blip r:embed="rId4"/>
          <a:stretch>
            <a:fillRect/>
          </a:stretch>
        </p:blipFill>
        <p:spPr>
          <a:xfrm>
            <a:off x="9430710" y="2650663"/>
            <a:ext cx="294803" cy="294803"/>
          </a:xfrm>
          <a:prstGeom prst="rect">
            <a:avLst/>
          </a:prstGeom>
        </p:spPr>
      </p:pic>
      <p:sp>
        <p:nvSpPr>
          <p:cNvPr id="30" name="Text 24"/>
          <p:cNvSpPr txBox="1"/>
          <p:nvPr/>
        </p:nvSpPr>
        <p:spPr>
          <a:xfrm>
            <a:off x="9294647" y="3291840"/>
            <a:ext cx="2165528" cy="365760"/>
          </a:xfrm>
          <a:prstGeom prst="rect">
            <a:avLst/>
          </a:prstGeom>
          <a:noFill/>
          <a:ln/>
        </p:spPr>
        <p:txBody>
          <a:bodyPr wrap="square" lIns="0" tIns="0" rIns="0" bIns="0" rtlCol="0" anchor="t"/>
          <a:lstStyle/>
          <a:p>
            <a:pPr indent="0" marL="0">
              <a:buNone/>
            </a:pPr>
            <a:r>
              <a:rPr lang="en-US" sz="1900" b="1" dirty="0">
                <a:solidFill>
                  <a:srgbClr val="F4F6F5"/>
                </a:solidFill>
                <a:latin typeface="Epilogue" pitchFamily="34" charset="0"/>
                <a:ea typeface="Epilogue" pitchFamily="34" charset="-122"/>
                <a:cs typeface="Epilogue" pitchFamily="34" charset="-120"/>
              </a:rPr>
              <a:t>Finance &amp; HR</a:t>
            </a:r>
            <a:endParaRPr lang="en-US" sz="1900" dirty="0"/>
          </a:p>
        </p:txBody>
      </p:sp>
      <p:sp>
        <p:nvSpPr>
          <p:cNvPr id="31" name="Text 25"/>
          <p:cNvSpPr txBox="1"/>
          <p:nvPr/>
        </p:nvSpPr>
        <p:spPr>
          <a:xfrm>
            <a:off x="9294647" y="3721608"/>
            <a:ext cx="2119808" cy="1188720"/>
          </a:xfrm>
          <a:prstGeom prst="rect">
            <a:avLst/>
          </a:prstGeom>
          <a:noFill/>
          <a:ln/>
        </p:spPr>
        <p:txBody>
          <a:bodyPr wrap="square" lIns="0" tIns="0" rIns="0" bIns="0" rtlCol="0" anchor="t"/>
          <a:lstStyle/>
          <a:p>
            <a:pPr indent="0" marL="0">
              <a:lnSpc>
                <a:spcPct val="120000"/>
              </a:lnSpc>
              <a:buNone/>
            </a:pPr>
            <a:r>
              <a:rPr lang="en-US" sz="1250" dirty="0">
                <a:solidFill>
                  <a:srgbClr val="9AA7A2"/>
                </a:solidFill>
                <a:latin typeface="Manrope" pitchFamily="34" charset="0"/>
                <a:ea typeface="Manrope" pitchFamily="34" charset="-122"/>
                <a:cs typeface="Manrope" pitchFamily="34" charset="-120"/>
              </a:rPr>
              <a:t>A Ready to Bill queue and a “what to bill” checklist, so nothing shipped goes uninvoiced.</a:t>
            </a:r>
            <a:endParaRPr lang="en-US" sz="1250" dirty="0"/>
          </a:p>
        </p:txBody>
      </p:sp>
      <p:sp>
        <p:nvSpPr>
          <p:cNvPr id="32" name="Text 26"/>
          <p:cNvSpPr txBox="1"/>
          <p:nvPr/>
        </p:nvSpPr>
        <p:spPr>
          <a:xfrm>
            <a:off x="9294647" y="4937760"/>
            <a:ext cx="2165528" cy="182880"/>
          </a:xfrm>
          <a:prstGeom prst="rect">
            <a:avLst/>
          </a:prstGeom>
          <a:noFill/>
          <a:ln/>
        </p:spPr>
        <p:txBody>
          <a:bodyPr wrap="square" lIns="0" tIns="0" rIns="0" bIns="0" rtlCol="0" anchor="t"/>
          <a:lstStyle/>
          <a:p>
            <a:pPr indent="0" marL="0">
              <a:buNone/>
            </a:pPr>
            <a:r>
              <a:rPr lang="en-US" sz="800" b="1" spc="150" kern="0" dirty="0">
                <a:solidFill>
                  <a:srgbClr val="6B7773"/>
                </a:solidFill>
                <a:latin typeface="Plus Jakarta Sans" pitchFamily="34" charset="0"/>
                <a:ea typeface="Plus Jakarta Sans" pitchFamily="34" charset="-122"/>
                <a:cs typeface="Plus Jakarta Sans" pitchFamily="34" charset="-120"/>
              </a:rPr>
              <a:t>THEY LIVE IN</a:t>
            </a:r>
            <a:endParaRPr lang="en-US" sz="800" dirty="0"/>
          </a:p>
        </p:txBody>
      </p:sp>
      <p:sp>
        <p:nvSpPr>
          <p:cNvPr id="33" name="Text 27"/>
          <p:cNvSpPr txBox="1"/>
          <p:nvPr/>
        </p:nvSpPr>
        <p:spPr>
          <a:xfrm>
            <a:off x="9294647" y="5166360"/>
            <a:ext cx="2165528" cy="640080"/>
          </a:xfrm>
          <a:prstGeom prst="rect">
            <a:avLst/>
          </a:prstGeom>
          <a:noFill/>
          <a:ln/>
        </p:spPr>
        <p:txBody>
          <a:bodyPr wrap="square" lIns="0" tIns="0" rIns="0" bIns="0" rtlCol="0" anchor="t"/>
          <a:lstStyle/>
          <a:p>
            <a:pPr indent="0" marL="0">
              <a:lnSpc>
                <a:spcPct val="120000"/>
              </a:lnSpc>
              <a:buNone/>
            </a:pPr>
            <a:r>
              <a:rPr lang="en-US" sz="1150" b="1" dirty="0">
                <a:solidFill>
                  <a:srgbClr val="F4F6F5"/>
                </a:solidFill>
                <a:latin typeface="Manrope" pitchFamily="34" charset="0"/>
                <a:ea typeface="Manrope" pitchFamily="34" charset="-122"/>
                <a:cs typeface="Manrope" pitchFamily="34" charset="-120"/>
              </a:rPr>
              <a:t>Ready to Bill  ·  PM–Finance board  ·  Leave &amp; holidays</a:t>
            </a:r>
            <a:endParaRPr lang="en-US" sz="1150" dirty="0"/>
          </a:p>
        </p:txBody>
      </p:sp>
      <p:sp>
        <p:nvSpPr>
          <p:cNvPr id="34" name="Text 28"/>
          <p:cNvSpPr txBox="1"/>
          <p:nvPr/>
        </p:nvSpPr>
        <p:spPr>
          <a:xfrm>
            <a:off x="548640" y="6446520"/>
            <a:ext cx="5486400" cy="201168"/>
          </a:xfrm>
          <a:prstGeom prst="rect">
            <a:avLst/>
          </a:prstGeom>
          <a:noFill/>
          <a:ln/>
        </p:spPr>
        <p:txBody>
          <a:bodyPr wrap="square" lIns="0" tIns="0" rIns="0" bIns="0" rtlCol="0" anchor="t"/>
          <a:lstStyle/>
          <a:p>
            <a:pPr indent="0" marL="0">
              <a:buNone/>
            </a:pPr>
            <a:r>
              <a:rPr lang="en-US" sz="800" b="1" spc="200" kern="0" dirty="0">
                <a:solidFill>
                  <a:srgbClr val="6B7773"/>
                </a:solidFill>
                <a:latin typeface="Plus Jakarta Sans" pitchFamily="34" charset="0"/>
                <a:ea typeface="Plus Jakarta Sans" pitchFamily="34" charset="-122"/>
                <a:cs typeface="Plus Jakarta Sans" pitchFamily="34" charset="-120"/>
              </a:rPr>
              <a:t>BOD APP  ·  RUN YOUR STUDIO THE CALM WAY</a:t>
            </a:r>
            <a:endParaRPr lang="en-US" sz="800" dirty="0"/>
          </a:p>
        </p:txBody>
      </p:sp>
      <p:sp>
        <p:nvSpPr>
          <p:cNvPr id="35" name="Text 29"/>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b="1" dirty="0">
                <a:solidFill>
                  <a:srgbClr val="6B7773"/>
                </a:solidFill>
                <a:latin typeface="Plus Jakarta Sans" pitchFamily="34" charset="0"/>
                <a:ea typeface="Plus Jakarta Sans" pitchFamily="34" charset="-122"/>
                <a:cs typeface="Plus Jakarta Sans"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09  ·  THE CHANGE</a:t>
            </a:r>
            <a:endParaRPr lang="en-US" sz="1000" dirty="0"/>
          </a:p>
        </p:txBody>
      </p:sp>
      <p:sp>
        <p:nvSpPr>
          <p:cNvPr id="3" name="Text 1"/>
          <p:cNvSpPr txBox="1"/>
          <p:nvPr/>
        </p:nvSpPr>
        <p:spPr>
          <a:xfrm>
            <a:off x="7985455" y="457200"/>
            <a:ext cx="3657600" cy="228600"/>
          </a:xfrm>
          <a:prstGeom prst="rect">
            <a:avLst/>
          </a:prstGeom>
          <a:noFill/>
          <a:ln/>
        </p:spPr>
        <p:txBody>
          <a:bodyPr wrap="square" lIns="0" tIns="0" rIns="0" bIns="0" rtlCol="0" anchor="t"/>
          <a:lstStyle/>
          <a:p>
            <a:pPr algn="r" indent="0" marL="0">
              <a:buNone/>
            </a:pPr>
            <a:r>
              <a:rPr lang="en-US" sz="900" b="1" spc="200" kern="0" dirty="0">
                <a:solidFill>
                  <a:srgbClr val="6B7773"/>
                </a:solidFill>
                <a:latin typeface="Plus Jakarta Sans" pitchFamily="34" charset="0"/>
                <a:ea typeface="Plus Jakarta Sans" pitchFamily="34" charset="-122"/>
                <a:cs typeface="Plus Jakarta Sans" pitchFamily="34" charset="-120"/>
              </a:rPr>
              <a:t>BOD APP  /  SALES DECK</a:t>
            </a:r>
            <a:endParaRPr lang="en-US" sz="9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indent="0" marL="0">
              <a:buNone/>
            </a:pPr>
            <a:r>
              <a:rPr lang="en-US" sz="3400" b="1" dirty="0">
                <a:solidFill>
                  <a:srgbClr val="F4F6F5"/>
                </a:solidFill>
                <a:latin typeface="Epilogue" pitchFamily="34" charset="0"/>
                <a:ea typeface="Epilogue" pitchFamily="34" charset="-122"/>
                <a:cs typeface="Epilogue" pitchFamily="34" charset="-120"/>
              </a:rPr>
              <a:t>Same team. Different week.</a:t>
            </a:r>
            <a:endParaRPr lang="en-US" sz="3400" dirty="0"/>
          </a:p>
        </p:txBody>
      </p:sp>
      <p:sp>
        <p:nvSpPr>
          <p:cNvPr id="5" name="Text 3"/>
          <p:cNvSpPr txBox="1"/>
          <p:nvPr/>
        </p:nvSpPr>
        <p:spPr>
          <a:xfrm>
            <a:off x="548640" y="1536192"/>
            <a:ext cx="11094415" cy="548640"/>
          </a:xfrm>
          <a:prstGeom prst="rect">
            <a:avLst/>
          </a:prstGeom>
          <a:noFill/>
          <a:ln/>
        </p:spPr>
        <p:txBody>
          <a:bodyPr wrap="square" lIns="0" tIns="0" rIns="0" bIns="0" rtlCol="0" anchor="t"/>
          <a:lstStyle/>
          <a:p>
            <a:pPr indent="0" marL="0">
              <a:lnSpc>
                <a:spcPct val="115000"/>
              </a:lnSpc>
              <a:buNone/>
            </a:pPr>
            <a:r>
              <a:rPr lang="en-US" sz="1500" dirty="0">
                <a:solidFill>
                  <a:srgbClr val="9AA7A2"/>
                </a:solidFill>
                <a:latin typeface="Manrope" pitchFamily="34" charset="0"/>
                <a:ea typeface="Manrope" pitchFamily="34" charset="-122"/>
                <a:cs typeface="Manrope" pitchFamily="34" charset="-120"/>
              </a:rPr>
              <a:t>From chasing status to seeing the work.</a:t>
            </a:r>
            <a:endParaRPr lang="en-US" sz="1500" dirty="0"/>
          </a:p>
        </p:txBody>
      </p:sp>
      <p:sp>
        <p:nvSpPr>
          <p:cNvPr id="6" name="Shape 4"/>
          <p:cNvSpPr/>
          <p:nvPr/>
        </p:nvSpPr>
        <p:spPr>
          <a:xfrm>
            <a:off x="548640" y="2240280"/>
            <a:ext cx="5410048" cy="3931920"/>
          </a:xfrm>
          <a:prstGeom prst="roundRect">
            <a:avLst>
              <a:gd name="adj" fmla="val 3721"/>
            </a:avLst>
          </a:prstGeom>
          <a:solidFill>
            <a:srgbClr val="15191A"/>
          </a:solidFill>
          <a:ln w="9525">
            <a:solidFill>
              <a:srgbClr val="262C2E"/>
            </a:solidFill>
            <a:prstDash val="solid"/>
          </a:ln>
        </p:spPr>
      </p:sp>
      <p:sp>
        <p:nvSpPr>
          <p:cNvPr id="7" name="Shape 5"/>
          <p:cNvSpPr/>
          <p:nvPr/>
        </p:nvSpPr>
        <p:spPr>
          <a:xfrm>
            <a:off x="6233008" y="2240280"/>
            <a:ext cx="5410048" cy="3931920"/>
          </a:xfrm>
          <a:prstGeom prst="roundRect">
            <a:avLst>
              <a:gd name="adj" fmla="val 3721"/>
            </a:avLst>
          </a:prstGeom>
          <a:solidFill>
            <a:srgbClr val="B8E62E"/>
          </a:solidFill>
          <a:ln/>
        </p:spPr>
      </p:sp>
      <p:sp>
        <p:nvSpPr>
          <p:cNvPr id="8" name="Text 6"/>
          <p:cNvSpPr txBox="1"/>
          <p:nvPr/>
        </p:nvSpPr>
        <p:spPr>
          <a:xfrm>
            <a:off x="914400" y="2560320"/>
            <a:ext cx="3657600" cy="228600"/>
          </a:xfrm>
          <a:prstGeom prst="rect">
            <a:avLst/>
          </a:prstGeom>
          <a:noFill/>
          <a:ln/>
        </p:spPr>
        <p:txBody>
          <a:bodyPr wrap="square" lIns="0" tIns="0" rIns="0" bIns="0" rtlCol="0" anchor="t"/>
          <a:lstStyle/>
          <a:p>
            <a:pPr indent="0" marL="0">
              <a:buNone/>
            </a:pPr>
            <a:r>
              <a:rPr lang="en-US" sz="1000" b="1" spc="200" kern="0" dirty="0">
                <a:solidFill>
                  <a:srgbClr val="FF5C7A"/>
                </a:solidFill>
                <a:latin typeface="Plus Jakarta Sans" pitchFamily="34" charset="0"/>
                <a:ea typeface="Plus Jakarta Sans" pitchFamily="34" charset="-122"/>
                <a:cs typeface="Plus Jakarta Sans" pitchFamily="34" charset="-120"/>
              </a:rPr>
              <a:t>BEFORE BOD APP</a:t>
            </a:r>
            <a:endParaRPr lang="en-US" sz="1000" dirty="0"/>
          </a:p>
        </p:txBody>
      </p:sp>
      <p:sp>
        <p:nvSpPr>
          <p:cNvPr id="9" name="Text 7"/>
          <p:cNvSpPr txBox="1"/>
          <p:nvPr/>
        </p:nvSpPr>
        <p:spPr>
          <a:xfrm>
            <a:off x="6598768" y="2560320"/>
            <a:ext cx="3657600" cy="228600"/>
          </a:xfrm>
          <a:prstGeom prst="rect">
            <a:avLst/>
          </a:prstGeom>
          <a:noFill/>
          <a:ln/>
        </p:spPr>
        <p:txBody>
          <a:bodyPr wrap="square" lIns="0" tIns="0" rIns="0" bIns="0" rtlCol="0" anchor="t"/>
          <a:lstStyle/>
          <a:p>
            <a:pPr indent="0" marL="0">
              <a:buNone/>
            </a:pPr>
            <a:r>
              <a:rPr lang="en-US" sz="1000" b="1" spc="200" kern="0" dirty="0">
                <a:solidFill>
                  <a:srgbClr val="0B0D0C"/>
                </a:solidFill>
                <a:latin typeface="Plus Jakarta Sans" pitchFamily="34" charset="0"/>
                <a:ea typeface="Plus Jakarta Sans" pitchFamily="34" charset="-122"/>
                <a:cs typeface="Plus Jakarta Sans" pitchFamily="34" charset="-120"/>
              </a:rPr>
              <a:t>WITH BOD APP</a:t>
            </a:r>
            <a:endParaRPr lang="en-US" sz="1000" dirty="0"/>
          </a:p>
        </p:txBody>
      </p:sp>
      <p:pic>
        <p:nvPicPr>
          <p:cNvPr id="10" name="Image 0" descr="preencoded.png">    </p:cNvPr>
          <p:cNvPicPr>
            <a:picLocks noChangeAspect="1"/>
          </p:cNvPicPr>
          <p:nvPr/>
        </p:nvPicPr>
        <p:blipFill>
          <a:blip r:embed="rId1"/>
          <a:stretch>
            <a:fillRect/>
          </a:stretch>
        </p:blipFill>
        <p:spPr>
          <a:xfrm>
            <a:off x="914400" y="3099816"/>
            <a:ext cx="219456" cy="219456"/>
          </a:xfrm>
          <a:prstGeom prst="rect">
            <a:avLst/>
          </a:prstGeom>
        </p:spPr>
      </p:pic>
      <p:sp>
        <p:nvSpPr>
          <p:cNvPr id="11" name="Text 8"/>
          <p:cNvSpPr txBox="1"/>
          <p:nvPr/>
        </p:nvSpPr>
        <p:spPr>
          <a:xfrm>
            <a:off x="1280160" y="3063240"/>
            <a:ext cx="4404208" cy="310896"/>
          </a:xfrm>
          <a:prstGeom prst="rect">
            <a:avLst/>
          </a:prstGeom>
          <a:noFill/>
          <a:ln/>
        </p:spPr>
        <p:txBody>
          <a:bodyPr wrap="square" lIns="0" tIns="0" rIns="0" bIns="0" rtlCol="0" anchor="ctr"/>
          <a:lstStyle/>
          <a:p>
            <a:pPr indent="0" marL="0">
              <a:buNone/>
            </a:pPr>
            <a:r>
              <a:rPr lang="en-US" sz="1400" dirty="0">
                <a:solidFill>
                  <a:srgbClr val="9AA7A2"/>
                </a:solidFill>
                <a:latin typeface="Manrope" pitchFamily="34" charset="0"/>
                <a:ea typeface="Manrope" pitchFamily="34" charset="-122"/>
                <a:cs typeface="Manrope" pitchFamily="34" charset="-120"/>
              </a:rPr>
              <a:t>Briefs scattered across WhatsApp, email and memory</a:t>
            </a:r>
            <a:endParaRPr lang="en-US" sz="1400" dirty="0"/>
          </a:p>
        </p:txBody>
      </p:sp>
      <p:pic>
        <p:nvPicPr>
          <p:cNvPr id="12" name="Image 1" descr="preencoded.png">    </p:cNvPr>
          <p:cNvPicPr>
            <a:picLocks noChangeAspect="1"/>
          </p:cNvPicPr>
          <p:nvPr/>
        </p:nvPicPr>
        <p:blipFill>
          <a:blip r:embed="rId2"/>
          <a:stretch>
            <a:fillRect/>
          </a:stretch>
        </p:blipFill>
        <p:spPr>
          <a:xfrm>
            <a:off x="6598768" y="3099816"/>
            <a:ext cx="219456" cy="219456"/>
          </a:xfrm>
          <a:prstGeom prst="rect">
            <a:avLst/>
          </a:prstGeom>
        </p:spPr>
      </p:pic>
      <p:sp>
        <p:nvSpPr>
          <p:cNvPr id="13" name="Text 9"/>
          <p:cNvSpPr txBox="1"/>
          <p:nvPr/>
        </p:nvSpPr>
        <p:spPr>
          <a:xfrm>
            <a:off x="6964528" y="3063240"/>
            <a:ext cx="4404208" cy="310896"/>
          </a:xfrm>
          <a:prstGeom prst="rect">
            <a:avLst/>
          </a:prstGeom>
          <a:noFill/>
          <a:ln/>
        </p:spPr>
        <p:txBody>
          <a:bodyPr wrap="square" lIns="0" tIns="0" rIns="0" bIns="0" rtlCol="0" anchor="ctr"/>
          <a:lstStyle/>
          <a:p>
            <a:pPr indent="0" marL="0">
              <a:buNone/>
            </a:pPr>
            <a:r>
              <a:rPr lang="en-US" sz="1400" b="1" dirty="0">
                <a:solidFill>
                  <a:srgbClr val="0B0D0C"/>
                </a:solidFill>
                <a:latin typeface="Manrope" pitchFamily="34" charset="0"/>
                <a:ea typeface="Manrope" pitchFamily="34" charset="-122"/>
                <a:cs typeface="Manrope" pitchFamily="34" charset="-120"/>
              </a:rPr>
              <a:t>Every brief captured once — by voice, in any language</a:t>
            </a:r>
            <a:endParaRPr lang="en-US" sz="1400" dirty="0"/>
          </a:p>
        </p:txBody>
      </p:sp>
      <p:sp>
        <p:nvSpPr>
          <p:cNvPr id="14" name="Shape 10"/>
          <p:cNvSpPr/>
          <p:nvPr/>
        </p:nvSpPr>
        <p:spPr>
          <a:xfrm>
            <a:off x="914400" y="3520440"/>
            <a:ext cx="4678528" cy="0"/>
          </a:xfrm>
          <a:prstGeom prst="line">
            <a:avLst/>
          </a:prstGeom>
          <a:noFill/>
          <a:ln w="9525">
            <a:solidFill>
              <a:srgbClr val="262C2E"/>
            </a:solidFill>
            <a:prstDash val="solid"/>
          </a:ln>
        </p:spPr>
      </p:sp>
      <p:sp>
        <p:nvSpPr>
          <p:cNvPr id="15" name="Shape 11"/>
          <p:cNvSpPr/>
          <p:nvPr/>
        </p:nvSpPr>
        <p:spPr>
          <a:xfrm>
            <a:off x="6598768" y="3520440"/>
            <a:ext cx="4678528" cy="0"/>
          </a:xfrm>
          <a:prstGeom prst="line">
            <a:avLst/>
          </a:prstGeom>
          <a:noFill/>
          <a:ln w="9525">
            <a:solidFill>
              <a:srgbClr val="A3CC28"/>
            </a:solidFill>
            <a:prstDash val="solid"/>
          </a:ln>
        </p:spPr>
      </p:sp>
      <p:pic>
        <p:nvPicPr>
          <p:cNvPr id="16" name="Image 2" descr="preencoded.png">    </p:cNvPr>
          <p:cNvPicPr>
            <a:picLocks noChangeAspect="1"/>
          </p:cNvPicPr>
          <p:nvPr/>
        </p:nvPicPr>
        <p:blipFill>
          <a:blip r:embed="rId3"/>
          <a:stretch>
            <a:fillRect/>
          </a:stretch>
        </p:blipFill>
        <p:spPr>
          <a:xfrm>
            <a:off x="914400" y="3703320"/>
            <a:ext cx="219456" cy="219456"/>
          </a:xfrm>
          <a:prstGeom prst="rect">
            <a:avLst/>
          </a:prstGeom>
        </p:spPr>
      </p:pic>
      <p:sp>
        <p:nvSpPr>
          <p:cNvPr id="17" name="Text 12"/>
          <p:cNvSpPr txBox="1"/>
          <p:nvPr/>
        </p:nvSpPr>
        <p:spPr>
          <a:xfrm>
            <a:off x="1280160" y="3666744"/>
            <a:ext cx="4404208" cy="310896"/>
          </a:xfrm>
          <a:prstGeom prst="rect">
            <a:avLst/>
          </a:prstGeom>
          <a:noFill/>
          <a:ln/>
        </p:spPr>
        <p:txBody>
          <a:bodyPr wrap="square" lIns="0" tIns="0" rIns="0" bIns="0" rtlCol="0" anchor="ctr"/>
          <a:lstStyle/>
          <a:p>
            <a:pPr indent="0" marL="0">
              <a:buNone/>
            </a:pPr>
            <a:r>
              <a:rPr lang="en-US" sz="1400" dirty="0">
                <a:solidFill>
                  <a:srgbClr val="9AA7A2"/>
                </a:solidFill>
                <a:latin typeface="Manrope" pitchFamily="34" charset="0"/>
                <a:ea typeface="Manrope" pitchFamily="34" charset="-122"/>
                <a:cs typeface="Manrope" pitchFamily="34" charset="-120"/>
              </a:rPr>
              <a:t>Status known only by asking each person</a:t>
            </a:r>
            <a:endParaRPr lang="en-US" sz="1400" dirty="0"/>
          </a:p>
        </p:txBody>
      </p:sp>
      <p:pic>
        <p:nvPicPr>
          <p:cNvPr id="18" name="Image 3" descr="preencoded.png">    </p:cNvPr>
          <p:cNvPicPr>
            <a:picLocks noChangeAspect="1"/>
          </p:cNvPicPr>
          <p:nvPr/>
        </p:nvPicPr>
        <p:blipFill>
          <a:blip r:embed="rId4"/>
          <a:stretch>
            <a:fillRect/>
          </a:stretch>
        </p:blipFill>
        <p:spPr>
          <a:xfrm>
            <a:off x="6598768" y="3703320"/>
            <a:ext cx="219456" cy="219456"/>
          </a:xfrm>
          <a:prstGeom prst="rect">
            <a:avLst/>
          </a:prstGeom>
        </p:spPr>
      </p:pic>
      <p:sp>
        <p:nvSpPr>
          <p:cNvPr id="19" name="Text 13"/>
          <p:cNvSpPr txBox="1"/>
          <p:nvPr/>
        </p:nvSpPr>
        <p:spPr>
          <a:xfrm>
            <a:off x="6964528" y="3666744"/>
            <a:ext cx="4404208" cy="310896"/>
          </a:xfrm>
          <a:prstGeom prst="rect">
            <a:avLst/>
          </a:prstGeom>
          <a:noFill/>
          <a:ln/>
        </p:spPr>
        <p:txBody>
          <a:bodyPr wrap="square" lIns="0" tIns="0" rIns="0" bIns="0" rtlCol="0" anchor="ctr"/>
          <a:lstStyle/>
          <a:p>
            <a:pPr indent="0" marL="0">
              <a:buNone/>
            </a:pPr>
            <a:r>
              <a:rPr lang="en-US" sz="1400" b="1" dirty="0">
                <a:solidFill>
                  <a:srgbClr val="0B0D0C"/>
                </a:solidFill>
                <a:latin typeface="Manrope" pitchFamily="34" charset="0"/>
                <a:ea typeface="Manrope" pitchFamily="34" charset="-122"/>
                <a:cs typeface="Manrope" pitchFamily="34" charset="-120"/>
              </a:rPr>
              <a:t>Status visible at a glance, with a live vibe</a:t>
            </a:r>
            <a:endParaRPr lang="en-US" sz="1400" dirty="0"/>
          </a:p>
        </p:txBody>
      </p:sp>
      <p:sp>
        <p:nvSpPr>
          <p:cNvPr id="20" name="Shape 14"/>
          <p:cNvSpPr/>
          <p:nvPr/>
        </p:nvSpPr>
        <p:spPr>
          <a:xfrm>
            <a:off x="914400" y="4123944"/>
            <a:ext cx="4678528" cy="0"/>
          </a:xfrm>
          <a:prstGeom prst="line">
            <a:avLst/>
          </a:prstGeom>
          <a:noFill/>
          <a:ln w="9525">
            <a:solidFill>
              <a:srgbClr val="262C2E"/>
            </a:solidFill>
            <a:prstDash val="solid"/>
          </a:ln>
        </p:spPr>
      </p:sp>
      <p:sp>
        <p:nvSpPr>
          <p:cNvPr id="21" name="Shape 15"/>
          <p:cNvSpPr/>
          <p:nvPr/>
        </p:nvSpPr>
        <p:spPr>
          <a:xfrm>
            <a:off x="6598768" y="4123944"/>
            <a:ext cx="4678528" cy="0"/>
          </a:xfrm>
          <a:prstGeom prst="line">
            <a:avLst/>
          </a:prstGeom>
          <a:noFill/>
          <a:ln w="9525">
            <a:solidFill>
              <a:srgbClr val="A3CC28"/>
            </a:solidFill>
            <a:prstDash val="solid"/>
          </a:ln>
        </p:spPr>
      </p:sp>
      <p:pic>
        <p:nvPicPr>
          <p:cNvPr id="22" name="Image 4" descr="preencoded.png">    </p:cNvPr>
          <p:cNvPicPr>
            <a:picLocks noChangeAspect="1"/>
          </p:cNvPicPr>
          <p:nvPr/>
        </p:nvPicPr>
        <p:blipFill>
          <a:blip r:embed="rId5"/>
          <a:stretch>
            <a:fillRect/>
          </a:stretch>
        </p:blipFill>
        <p:spPr>
          <a:xfrm>
            <a:off x="914400" y="4306824"/>
            <a:ext cx="219456" cy="219456"/>
          </a:xfrm>
          <a:prstGeom prst="rect">
            <a:avLst/>
          </a:prstGeom>
        </p:spPr>
      </p:pic>
      <p:sp>
        <p:nvSpPr>
          <p:cNvPr id="23" name="Text 16"/>
          <p:cNvSpPr txBox="1"/>
          <p:nvPr/>
        </p:nvSpPr>
        <p:spPr>
          <a:xfrm>
            <a:off x="1280160" y="4270248"/>
            <a:ext cx="4404208" cy="310896"/>
          </a:xfrm>
          <a:prstGeom prst="rect">
            <a:avLst/>
          </a:prstGeom>
          <a:noFill/>
          <a:ln/>
        </p:spPr>
        <p:txBody>
          <a:bodyPr wrap="square" lIns="0" tIns="0" rIns="0" bIns="0" rtlCol="0" anchor="ctr"/>
          <a:lstStyle/>
          <a:p>
            <a:pPr indent="0" marL="0">
              <a:buNone/>
            </a:pPr>
            <a:r>
              <a:rPr lang="en-US" sz="1400" dirty="0">
                <a:solidFill>
                  <a:srgbClr val="9AA7A2"/>
                </a:solidFill>
                <a:latin typeface="Manrope" pitchFamily="34" charset="0"/>
                <a:ea typeface="Manrope" pitchFamily="34" charset="-122"/>
                <a:cs typeface="Manrope" pitchFamily="34" charset="-120"/>
              </a:rPr>
              <a:t>Blocked work waits until someone notices</a:t>
            </a:r>
            <a:endParaRPr lang="en-US" sz="1400" dirty="0"/>
          </a:p>
        </p:txBody>
      </p:sp>
      <p:pic>
        <p:nvPicPr>
          <p:cNvPr id="24" name="Image 5" descr="preencoded.png">    </p:cNvPr>
          <p:cNvPicPr>
            <a:picLocks noChangeAspect="1"/>
          </p:cNvPicPr>
          <p:nvPr/>
        </p:nvPicPr>
        <p:blipFill>
          <a:blip r:embed="rId6"/>
          <a:stretch>
            <a:fillRect/>
          </a:stretch>
        </p:blipFill>
        <p:spPr>
          <a:xfrm>
            <a:off x="6598768" y="4306824"/>
            <a:ext cx="219456" cy="219456"/>
          </a:xfrm>
          <a:prstGeom prst="rect">
            <a:avLst/>
          </a:prstGeom>
        </p:spPr>
      </p:pic>
      <p:sp>
        <p:nvSpPr>
          <p:cNvPr id="25" name="Text 17"/>
          <p:cNvSpPr txBox="1"/>
          <p:nvPr/>
        </p:nvSpPr>
        <p:spPr>
          <a:xfrm>
            <a:off x="6964528" y="4270248"/>
            <a:ext cx="4404208" cy="310896"/>
          </a:xfrm>
          <a:prstGeom prst="rect">
            <a:avLst/>
          </a:prstGeom>
          <a:noFill/>
          <a:ln/>
        </p:spPr>
        <p:txBody>
          <a:bodyPr wrap="square" lIns="0" tIns="0" rIns="0" bIns="0" rtlCol="0" anchor="ctr"/>
          <a:lstStyle/>
          <a:p>
            <a:pPr indent="0" marL="0">
              <a:buNone/>
            </a:pPr>
            <a:r>
              <a:rPr lang="en-US" sz="1400" b="1" dirty="0">
                <a:solidFill>
                  <a:srgbClr val="0B0D0C"/>
                </a:solidFill>
                <a:latin typeface="Manrope" pitchFamily="34" charset="0"/>
                <a:ea typeface="Manrope" pitchFamily="34" charset="-122"/>
                <a:cs typeface="Manrope" pitchFamily="34" charset="-120"/>
              </a:rPr>
              <a:t>Blocked-task nudges write the follow-up</a:t>
            </a:r>
            <a:endParaRPr lang="en-US" sz="1400" dirty="0"/>
          </a:p>
        </p:txBody>
      </p:sp>
      <p:sp>
        <p:nvSpPr>
          <p:cNvPr id="26" name="Shape 18"/>
          <p:cNvSpPr/>
          <p:nvPr/>
        </p:nvSpPr>
        <p:spPr>
          <a:xfrm>
            <a:off x="914400" y="4727448"/>
            <a:ext cx="4678528" cy="0"/>
          </a:xfrm>
          <a:prstGeom prst="line">
            <a:avLst/>
          </a:prstGeom>
          <a:noFill/>
          <a:ln w="9525">
            <a:solidFill>
              <a:srgbClr val="262C2E"/>
            </a:solidFill>
            <a:prstDash val="solid"/>
          </a:ln>
        </p:spPr>
      </p:sp>
      <p:sp>
        <p:nvSpPr>
          <p:cNvPr id="27" name="Shape 19"/>
          <p:cNvSpPr/>
          <p:nvPr/>
        </p:nvSpPr>
        <p:spPr>
          <a:xfrm>
            <a:off x="6598768" y="4727448"/>
            <a:ext cx="4678528" cy="0"/>
          </a:xfrm>
          <a:prstGeom prst="line">
            <a:avLst/>
          </a:prstGeom>
          <a:noFill/>
          <a:ln w="9525">
            <a:solidFill>
              <a:srgbClr val="A3CC28"/>
            </a:solidFill>
            <a:prstDash val="solid"/>
          </a:ln>
        </p:spPr>
      </p:sp>
      <p:pic>
        <p:nvPicPr>
          <p:cNvPr id="28" name="Image 6" descr="preencoded.png">    </p:cNvPr>
          <p:cNvPicPr>
            <a:picLocks noChangeAspect="1"/>
          </p:cNvPicPr>
          <p:nvPr/>
        </p:nvPicPr>
        <p:blipFill>
          <a:blip r:embed="rId7"/>
          <a:stretch>
            <a:fillRect/>
          </a:stretch>
        </p:blipFill>
        <p:spPr>
          <a:xfrm>
            <a:off x="914400" y="4910328"/>
            <a:ext cx="219456" cy="219456"/>
          </a:xfrm>
          <a:prstGeom prst="rect">
            <a:avLst/>
          </a:prstGeom>
        </p:spPr>
      </p:pic>
      <p:sp>
        <p:nvSpPr>
          <p:cNvPr id="29" name="Text 20"/>
          <p:cNvSpPr txBox="1"/>
          <p:nvPr/>
        </p:nvSpPr>
        <p:spPr>
          <a:xfrm>
            <a:off x="1280160" y="4873752"/>
            <a:ext cx="4404208" cy="310896"/>
          </a:xfrm>
          <a:prstGeom prst="rect">
            <a:avLst/>
          </a:prstGeom>
          <a:noFill/>
          <a:ln/>
        </p:spPr>
        <p:txBody>
          <a:bodyPr wrap="square" lIns="0" tIns="0" rIns="0" bIns="0" rtlCol="0" anchor="ctr"/>
          <a:lstStyle/>
          <a:p>
            <a:pPr indent="0" marL="0">
              <a:buNone/>
            </a:pPr>
            <a:r>
              <a:rPr lang="en-US" sz="1400" dirty="0">
                <a:solidFill>
                  <a:srgbClr val="9AA7A2"/>
                </a:solidFill>
                <a:latin typeface="Manrope" pitchFamily="34" charset="0"/>
                <a:ea typeface="Manrope" pitchFamily="34" charset="-122"/>
                <a:cs typeface="Manrope" pitchFamily="34" charset="-120"/>
              </a:rPr>
              <a:t>Delivered work slips through before it's billed</a:t>
            </a:r>
            <a:endParaRPr lang="en-US" sz="1400" dirty="0"/>
          </a:p>
        </p:txBody>
      </p:sp>
      <p:pic>
        <p:nvPicPr>
          <p:cNvPr id="30" name="Image 7" descr="preencoded.png">    </p:cNvPr>
          <p:cNvPicPr>
            <a:picLocks noChangeAspect="1"/>
          </p:cNvPicPr>
          <p:nvPr/>
        </p:nvPicPr>
        <p:blipFill>
          <a:blip r:embed="rId8"/>
          <a:stretch>
            <a:fillRect/>
          </a:stretch>
        </p:blipFill>
        <p:spPr>
          <a:xfrm>
            <a:off x="6598768" y="4910328"/>
            <a:ext cx="219456" cy="219456"/>
          </a:xfrm>
          <a:prstGeom prst="rect">
            <a:avLst/>
          </a:prstGeom>
        </p:spPr>
      </p:pic>
      <p:sp>
        <p:nvSpPr>
          <p:cNvPr id="31" name="Text 21"/>
          <p:cNvSpPr txBox="1"/>
          <p:nvPr/>
        </p:nvSpPr>
        <p:spPr>
          <a:xfrm>
            <a:off x="6964528" y="4873752"/>
            <a:ext cx="4404208" cy="310896"/>
          </a:xfrm>
          <a:prstGeom prst="rect">
            <a:avLst/>
          </a:prstGeom>
          <a:noFill/>
          <a:ln/>
        </p:spPr>
        <p:txBody>
          <a:bodyPr wrap="square" lIns="0" tIns="0" rIns="0" bIns="0" rtlCol="0" anchor="ctr"/>
          <a:lstStyle/>
          <a:p>
            <a:pPr indent="0" marL="0">
              <a:buNone/>
            </a:pPr>
            <a:r>
              <a:rPr lang="en-US" sz="1400" b="1" dirty="0">
                <a:solidFill>
                  <a:srgbClr val="0B0D0C"/>
                </a:solidFill>
                <a:latin typeface="Manrope" pitchFamily="34" charset="0"/>
                <a:ea typeface="Manrope" pitchFamily="34" charset="-122"/>
                <a:cs typeface="Manrope" pitchFamily="34" charset="-120"/>
              </a:rPr>
              <a:t>A Ready to Bill queue: nothing shipped goes uninvoiced</a:t>
            </a:r>
            <a:endParaRPr lang="en-US" sz="1400" dirty="0"/>
          </a:p>
        </p:txBody>
      </p:sp>
      <p:sp>
        <p:nvSpPr>
          <p:cNvPr id="32" name="Shape 22"/>
          <p:cNvSpPr/>
          <p:nvPr/>
        </p:nvSpPr>
        <p:spPr>
          <a:xfrm>
            <a:off x="914400" y="5330952"/>
            <a:ext cx="4678528" cy="0"/>
          </a:xfrm>
          <a:prstGeom prst="line">
            <a:avLst/>
          </a:prstGeom>
          <a:noFill/>
          <a:ln w="9525">
            <a:solidFill>
              <a:srgbClr val="262C2E"/>
            </a:solidFill>
            <a:prstDash val="solid"/>
          </a:ln>
        </p:spPr>
      </p:sp>
      <p:sp>
        <p:nvSpPr>
          <p:cNvPr id="33" name="Shape 23"/>
          <p:cNvSpPr/>
          <p:nvPr/>
        </p:nvSpPr>
        <p:spPr>
          <a:xfrm>
            <a:off x="6598768" y="5330952"/>
            <a:ext cx="4678528" cy="0"/>
          </a:xfrm>
          <a:prstGeom prst="line">
            <a:avLst/>
          </a:prstGeom>
          <a:noFill/>
          <a:ln w="9525">
            <a:solidFill>
              <a:srgbClr val="A3CC28"/>
            </a:solidFill>
            <a:prstDash val="solid"/>
          </a:ln>
        </p:spPr>
      </p:sp>
      <p:pic>
        <p:nvPicPr>
          <p:cNvPr id="34" name="Image 8" descr="preencoded.png">    </p:cNvPr>
          <p:cNvPicPr>
            <a:picLocks noChangeAspect="1"/>
          </p:cNvPicPr>
          <p:nvPr/>
        </p:nvPicPr>
        <p:blipFill>
          <a:blip r:embed="rId9"/>
          <a:stretch>
            <a:fillRect/>
          </a:stretch>
        </p:blipFill>
        <p:spPr>
          <a:xfrm>
            <a:off x="914400" y="5513832"/>
            <a:ext cx="219456" cy="219456"/>
          </a:xfrm>
          <a:prstGeom prst="rect">
            <a:avLst/>
          </a:prstGeom>
        </p:spPr>
      </p:pic>
      <p:sp>
        <p:nvSpPr>
          <p:cNvPr id="35" name="Text 24"/>
          <p:cNvSpPr txBox="1"/>
          <p:nvPr/>
        </p:nvSpPr>
        <p:spPr>
          <a:xfrm>
            <a:off x="1280160" y="5477256"/>
            <a:ext cx="4404208" cy="310896"/>
          </a:xfrm>
          <a:prstGeom prst="rect">
            <a:avLst/>
          </a:prstGeom>
          <a:noFill/>
          <a:ln/>
        </p:spPr>
        <p:txBody>
          <a:bodyPr wrap="square" lIns="0" tIns="0" rIns="0" bIns="0" rtlCol="0" anchor="ctr"/>
          <a:lstStyle/>
          <a:p>
            <a:pPr indent="0" marL="0">
              <a:buNone/>
            </a:pPr>
            <a:r>
              <a:rPr lang="en-US" sz="1400" dirty="0">
                <a:solidFill>
                  <a:srgbClr val="9AA7A2"/>
                </a:solidFill>
                <a:latin typeface="Manrope" pitchFamily="34" charset="0"/>
                <a:ea typeface="Manrope" pitchFamily="34" charset="-122"/>
                <a:cs typeface="Manrope" pitchFamily="34" charset="-120"/>
              </a:rPr>
              <a:t>The morning goes on a status meeting</a:t>
            </a:r>
            <a:endParaRPr lang="en-US" sz="1400" dirty="0"/>
          </a:p>
        </p:txBody>
      </p:sp>
      <p:pic>
        <p:nvPicPr>
          <p:cNvPr id="36" name="Image 9" descr="preencoded.png">    </p:cNvPr>
          <p:cNvPicPr>
            <a:picLocks noChangeAspect="1"/>
          </p:cNvPicPr>
          <p:nvPr/>
        </p:nvPicPr>
        <p:blipFill>
          <a:blip r:embed="rId10"/>
          <a:stretch>
            <a:fillRect/>
          </a:stretch>
        </p:blipFill>
        <p:spPr>
          <a:xfrm>
            <a:off x="6598768" y="5513832"/>
            <a:ext cx="219456" cy="219456"/>
          </a:xfrm>
          <a:prstGeom prst="rect">
            <a:avLst/>
          </a:prstGeom>
        </p:spPr>
      </p:pic>
      <p:sp>
        <p:nvSpPr>
          <p:cNvPr id="37" name="Text 25"/>
          <p:cNvSpPr txBox="1"/>
          <p:nvPr/>
        </p:nvSpPr>
        <p:spPr>
          <a:xfrm>
            <a:off x="6964528" y="5477256"/>
            <a:ext cx="4404208" cy="310896"/>
          </a:xfrm>
          <a:prstGeom prst="rect">
            <a:avLst/>
          </a:prstGeom>
          <a:noFill/>
          <a:ln/>
        </p:spPr>
        <p:txBody>
          <a:bodyPr wrap="square" lIns="0" tIns="0" rIns="0" bIns="0" rtlCol="0" anchor="ctr"/>
          <a:lstStyle/>
          <a:p>
            <a:pPr indent="0" marL="0">
              <a:buNone/>
            </a:pPr>
            <a:r>
              <a:rPr lang="en-US" sz="1400" b="1" dirty="0">
                <a:solidFill>
                  <a:srgbClr val="0B0D0C"/>
                </a:solidFill>
                <a:latin typeface="Manrope" pitchFamily="34" charset="0"/>
                <a:ea typeface="Manrope" pitchFamily="34" charset="-122"/>
                <a:cs typeface="Manrope" pitchFamily="34" charset="-120"/>
              </a:rPr>
              <a:t>A 6 PM standup digest, written for you</a:t>
            </a:r>
            <a:endParaRPr lang="en-US" sz="1400" dirty="0"/>
          </a:p>
        </p:txBody>
      </p:sp>
      <p:sp>
        <p:nvSpPr>
          <p:cNvPr id="38" name="Text 26"/>
          <p:cNvSpPr txBox="1"/>
          <p:nvPr/>
        </p:nvSpPr>
        <p:spPr>
          <a:xfrm>
            <a:off x="548640" y="6446520"/>
            <a:ext cx="5486400" cy="201168"/>
          </a:xfrm>
          <a:prstGeom prst="rect">
            <a:avLst/>
          </a:prstGeom>
          <a:noFill/>
          <a:ln/>
        </p:spPr>
        <p:txBody>
          <a:bodyPr wrap="square" lIns="0" tIns="0" rIns="0" bIns="0" rtlCol="0" anchor="t"/>
          <a:lstStyle/>
          <a:p>
            <a:pPr indent="0" marL="0">
              <a:buNone/>
            </a:pPr>
            <a:r>
              <a:rPr lang="en-US" sz="800" b="1" spc="200" kern="0" dirty="0">
                <a:solidFill>
                  <a:srgbClr val="6B7773"/>
                </a:solidFill>
                <a:latin typeface="Plus Jakarta Sans" pitchFamily="34" charset="0"/>
                <a:ea typeface="Plus Jakarta Sans" pitchFamily="34" charset="-122"/>
                <a:cs typeface="Plus Jakarta Sans" pitchFamily="34" charset="-120"/>
              </a:rPr>
              <a:t>BOD APP  ·  RUN YOUR STUDIO THE CALM WAY</a:t>
            </a:r>
            <a:endParaRPr lang="en-US" sz="800" dirty="0"/>
          </a:p>
        </p:txBody>
      </p:sp>
      <p:sp>
        <p:nvSpPr>
          <p:cNvPr id="39" name="Text 27"/>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b="1" dirty="0">
                <a:solidFill>
                  <a:srgbClr val="6B7773"/>
                </a:solidFill>
                <a:latin typeface="Plus Jakarta Sans" pitchFamily="34" charset="0"/>
                <a:ea typeface="Plus Jakarta Sans" pitchFamily="34" charset="-122"/>
                <a:cs typeface="Plus Jakarta Sa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10  ·  THE COST</a:t>
            </a:r>
            <a:endParaRPr lang="en-US" sz="1000" dirty="0"/>
          </a:p>
        </p:txBody>
      </p:sp>
      <p:sp>
        <p:nvSpPr>
          <p:cNvPr id="3" name="Text 1"/>
          <p:cNvSpPr txBox="1"/>
          <p:nvPr/>
        </p:nvSpPr>
        <p:spPr>
          <a:xfrm>
            <a:off x="7985455" y="457200"/>
            <a:ext cx="3657600" cy="228600"/>
          </a:xfrm>
          <a:prstGeom prst="rect">
            <a:avLst/>
          </a:prstGeom>
          <a:noFill/>
          <a:ln/>
        </p:spPr>
        <p:txBody>
          <a:bodyPr wrap="square" lIns="0" tIns="0" rIns="0" bIns="0" rtlCol="0" anchor="t"/>
          <a:lstStyle/>
          <a:p>
            <a:pPr algn="r" indent="0" marL="0">
              <a:buNone/>
            </a:pPr>
            <a:r>
              <a:rPr lang="en-US" sz="900" b="1" spc="200" kern="0" dirty="0">
                <a:solidFill>
                  <a:srgbClr val="6B7773"/>
                </a:solidFill>
                <a:latin typeface="Plus Jakarta Sans" pitchFamily="34" charset="0"/>
                <a:ea typeface="Plus Jakarta Sans" pitchFamily="34" charset="-122"/>
                <a:cs typeface="Plus Jakarta Sans" pitchFamily="34" charset="-120"/>
              </a:rPr>
              <a:t>BOD APP  /  SALES DECK</a:t>
            </a:r>
            <a:endParaRPr lang="en-US" sz="9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indent="0" marL="0">
              <a:buNone/>
            </a:pPr>
            <a:r>
              <a:rPr lang="en-US" sz="3400" b="1" dirty="0">
                <a:solidFill>
                  <a:srgbClr val="F4F6F5"/>
                </a:solidFill>
                <a:latin typeface="Epilogue" pitchFamily="34" charset="0"/>
                <a:ea typeface="Epilogue" pitchFamily="34" charset="-122"/>
                <a:cs typeface="Epilogue" pitchFamily="34" charset="-120"/>
              </a:rPr>
              <a:t>The bill for coordination nobody counts.</a:t>
            </a:r>
            <a:endParaRPr lang="en-US" sz="3400" dirty="0"/>
          </a:p>
        </p:txBody>
      </p:sp>
      <p:sp>
        <p:nvSpPr>
          <p:cNvPr id="5" name="Text 3"/>
          <p:cNvSpPr txBox="1"/>
          <p:nvPr/>
        </p:nvSpPr>
        <p:spPr>
          <a:xfrm>
            <a:off x="548640" y="1536192"/>
            <a:ext cx="11094415" cy="548640"/>
          </a:xfrm>
          <a:prstGeom prst="rect">
            <a:avLst/>
          </a:prstGeom>
          <a:noFill/>
          <a:ln/>
        </p:spPr>
        <p:txBody>
          <a:bodyPr wrap="square" lIns="0" tIns="0" rIns="0" bIns="0" rtlCol="0" anchor="t"/>
          <a:lstStyle/>
          <a:p>
            <a:pPr indent="0" marL="0">
              <a:lnSpc>
                <a:spcPct val="115000"/>
              </a:lnSpc>
              <a:buNone/>
            </a:pPr>
            <a:r>
              <a:rPr lang="en-US" sz="1500" dirty="0">
                <a:solidFill>
                  <a:srgbClr val="9AA7A2"/>
                </a:solidFill>
                <a:latin typeface="Manrope" pitchFamily="34" charset="0"/>
                <a:ea typeface="Manrope" pitchFamily="34" charset="-122"/>
                <a:cs typeface="Manrope" pitchFamily="34" charset="-120"/>
              </a:rPr>
              <a:t>Illustration: 10 people  ·  22 working days  ·  30 minutes of coordination per person, per day.</a:t>
            </a:r>
            <a:endParaRPr lang="en-US" sz="1500" dirty="0"/>
          </a:p>
        </p:txBody>
      </p:sp>
      <p:sp>
        <p:nvSpPr>
          <p:cNvPr id="6" name="Shape 4"/>
          <p:cNvSpPr/>
          <p:nvPr/>
        </p:nvSpPr>
        <p:spPr>
          <a:xfrm>
            <a:off x="548640" y="2331720"/>
            <a:ext cx="3564026" cy="2834640"/>
          </a:xfrm>
          <a:prstGeom prst="roundRect">
            <a:avLst>
              <a:gd name="adj" fmla="val 5161"/>
            </a:avLst>
          </a:prstGeom>
          <a:solidFill>
            <a:srgbClr val="15191A"/>
          </a:solidFill>
          <a:ln w="9525">
            <a:solidFill>
              <a:srgbClr val="262C2E"/>
            </a:solidFill>
            <a:prstDash val="solid"/>
          </a:ln>
        </p:spPr>
      </p:sp>
      <p:sp>
        <p:nvSpPr>
          <p:cNvPr id="7" name="Text 5"/>
          <p:cNvSpPr txBox="1"/>
          <p:nvPr/>
        </p:nvSpPr>
        <p:spPr>
          <a:xfrm>
            <a:off x="914400" y="2697480"/>
            <a:ext cx="2832506" cy="914400"/>
          </a:xfrm>
          <a:prstGeom prst="rect">
            <a:avLst/>
          </a:prstGeom>
          <a:noFill/>
          <a:ln/>
        </p:spPr>
        <p:txBody>
          <a:bodyPr wrap="square" lIns="0" tIns="0" rIns="0" bIns="0" rtlCol="0" anchor="t"/>
          <a:lstStyle/>
          <a:p>
            <a:pPr indent="0" marL="0">
              <a:buNone/>
            </a:pPr>
            <a:r>
              <a:rPr lang="en-US" sz="5400" b="1" dirty="0">
                <a:solidFill>
                  <a:srgbClr val="B8E62E"/>
                </a:solidFill>
                <a:latin typeface="Epilogue" pitchFamily="34" charset="0"/>
                <a:ea typeface="Epilogue" pitchFamily="34" charset="-122"/>
                <a:cs typeface="Epilogue" pitchFamily="34" charset="-120"/>
              </a:rPr>
              <a:t>30 min</a:t>
            </a:r>
            <a:endParaRPr lang="en-US" sz="5400" dirty="0"/>
          </a:p>
        </p:txBody>
      </p:sp>
      <p:sp>
        <p:nvSpPr>
          <p:cNvPr id="8" name="Text 6"/>
          <p:cNvSpPr txBox="1"/>
          <p:nvPr/>
        </p:nvSpPr>
        <p:spPr>
          <a:xfrm>
            <a:off x="914400" y="3749040"/>
            <a:ext cx="2832506" cy="228600"/>
          </a:xfrm>
          <a:prstGeom prst="rect">
            <a:avLst/>
          </a:prstGeom>
          <a:noFill/>
          <a:ln/>
        </p:spPr>
        <p:txBody>
          <a:bodyPr wrap="square" lIns="0" tIns="0" rIns="0" bIns="0" rtlCol="0" anchor="t"/>
          <a:lstStyle/>
          <a:p>
            <a:pPr indent="0" marL="0">
              <a:buNone/>
            </a:pPr>
            <a:r>
              <a:rPr lang="en-US" sz="950" b="1" spc="150" kern="0" dirty="0">
                <a:solidFill>
                  <a:srgbClr val="F4F6F5"/>
                </a:solidFill>
                <a:latin typeface="Plus Jakarta Sans" pitchFamily="34" charset="0"/>
                <a:ea typeface="Plus Jakarta Sans" pitchFamily="34" charset="-122"/>
                <a:cs typeface="Plus Jakarta Sans" pitchFamily="34" charset="-120"/>
              </a:rPr>
              <a:t>PER PERSON / DAY</a:t>
            </a:r>
            <a:endParaRPr lang="en-US" sz="950" dirty="0"/>
          </a:p>
        </p:txBody>
      </p:sp>
      <p:sp>
        <p:nvSpPr>
          <p:cNvPr id="9" name="Text 7"/>
          <p:cNvSpPr txBox="1"/>
          <p:nvPr/>
        </p:nvSpPr>
        <p:spPr>
          <a:xfrm>
            <a:off x="914400" y="4114800"/>
            <a:ext cx="2832506" cy="731520"/>
          </a:xfrm>
          <a:prstGeom prst="rect">
            <a:avLst/>
          </a:prstGeom>
          <a:noFill/>
          <a:ln/>
        </p:spPr>
        <p:txBody>
          <a:bodyPr wrap="square" lIns="0" tIns="0" rIns="0" bIns="0" rtlCol="0" anchor="t"/>
          <a:lstStyle/>
          <a:p>
            <a:pPr indent="0" marL="0">
              <a:lnSpc>
                <a:spcPct val="120000"/>
              </a:lnSpc>
              <a:buNone/>
            </a:pPr>
            <a:r>
              <a:rPr lang="en-US" sz="1300" dirty="0">
                <a:solidFill>
                  <a:srgbClr val="9AA7A2"/>
                </a:solidFill>
                <a:latin typeface="Manrope" pitchFamily="34" charset="0"/>
                <a:ea typeface="Manrope" pitchFamily="34" charset="-122"/>
                <a:cs typeface="Manrope" pitchFamily="34" charset="-120"/>
              </a:rPr>
              <a:t>Chasing status, re-explaining briefs and hunting for files.</a:t>
            </a:r>
            <a:endParaRPr lang="en-US" sz="1300" dirty="0"/>
          </a:p>
        </p:txBody>
      </p:sp>
      <p:sp>
        <p:nvSpPr>
          <p:cNvPr id="10" name="Shape 8"/>
          <p:cNvSpPr/>
          <p:nvPr/>
        </p:nvSpPr>
        <p:spPr>
          <a:xfrm>
            <a:off x="4313834" y="2331720"/>
            <a:ext cx="3564026" cy="2834640"/>
          </a:xfrm>
          <a:prstGeom prst="roundRect">
            <a:avLst>
              <a:gd name="adj" fmla="val 5161"/>
            </a:avLst>
          </a:prstGeom>
          <a:solidFill>
            <a:srgbClr val="15191A"/>
          </a:solidFill>
          <a:ln w="9525">
            <a:solidFill>
              <a:srgbClr val="262C2E"/>
            </a:solidFill>
            <a:prstDash val="solid"/>
          </a:ln>
        </p:spPr>
      </p:sp>
      <p:sp>
        <p:nvSpPr>
          <p:cNvPr id="11" name="Text 9"/>
          <p:cNvSpPr txBox="1"/>
          <p:nvPr/>
        </p:nvSpPr>
        <p:spPr>
          <a:xfrm>
            <a:off x="4679594" y="2697480"/>
            <a:ext cx="2832506" cy="914400"/>
          </a:xfrm>
          <a:prstGeom prst="rect">
            <a:avLst/>
          </a:prstGeom>
          <a:noFill/>
          <a:ln/>
        </p:spPr>
        <p:txBody>
          <a:bodyPr wrap="square" lIns="0" tIns="0" rIns="0" bIns="0" rtlCol="0" anchor="t"/>
          <a:lstStyle/>
          <a:p>
            <a:pPr indent="0" marL="0">
              <a:buNone/>
            </a:pPr>
            <a:r>
              <a:rPr lang="en-US" sz="5400" b="1" dirty="0">
                <a:solidFill>
                  <a:srgbClr val="B8E62E"/>
                </a:solidFill>
                <a:latin typeface="Epilogue" pitchFamily="34" charset="0"/>
                <a:ea typeface="Epilogue" pitchFamily="34" charset="-122"/>
                <a:cs typeface="Epilogue" pitchFamily="34" charset="-120"/>
              </a:rPr>
              <a:t>110 hrs</a:t>
            </a:r>
            <a:endParaRPr lang="en-US" sz="5400" dirty="0"/>
          </a:p>
        </p:txBody>
      </p:sp>
      <p:sp>
        <p:nvSpPr>
          <p:cNvPr id="12" name="Text 10"/>
          <p:cNvSpPr txBox="1"/>
          <p:nvPr/>
        </p:nvSpPr>
        <p:spPr>
          <a:xfrm>
            <a:off x="4679594" y="3749040"/>
            <a:ext cx="2832506" cy="228600"/>
          </a:xfrm>
          <a:prstGeom prst="rect">
            <a:avLst/>
          </a:prstGeom>
          <a:noFill/>
          <a:ln/>
        </p:spPr>
        <p:txBody>
          <a:bodyPr wrap="square" lIns="0" tIns="0" rIns="0" bIns="0" rtlCol="0" anchor="t"/>
          <a:lstStyle/>
          <a:p>
            <a:pPr indent="0" marL="0">
              <a:buNone/>
            </a:pPr>
            <a:r>
              <a:rPr lang="en-US" sz="950" b="1" spc="150" kern="0" dirty="0">
                <a:solidFill>
                  <a:srgbClr val="F4F6F5"/>
                </a:solidFill>
                <a:latin typeface="Plus Jakarta Sans" pitchFamily="34" charset="0"/>
                <a:ea typeface="Plus Jakarta Sans" pitchFamily="34" charset="-122"/>
                <a:cs typeface="Plus Jakarta Sans" pitchFamily="34" charset="-120"/>
              </a:rPr>
              <a:t>PER MONTH</a:t>
            </a:r>
            <a:endParaRPr lang="en-US" sz="950" dirty="0"/>
          </a:p>
        </p:txBody>
      </p:sp>
      <p:sp>
        <p:nvSpPr>
          <p:cNvPr id="13" name="Text 11"/>
          <p:cNvSpPr txBox="1"/>
          <p:nvPr/>
        </p:nvSpPr>
        <p:spPr>
          <a:xfrm>
            <a:off x="4679594" y="4114800"/>
            <a:ext cx="2832506" cy="731520"/>
          </a:xfrm>
          <a:prstGeom prst="rect">
            <a:avLst/>
          </a:prstGeom>
          <a:noFill/>
          <a:ln/>
        </p:spPr>
        <p:txBody>
          <a:bodyPr wrap="square" lIns="0" tIns="0" rIns="0" bIns="0" rtlCol="0" anchor="t"/>
          <a:lstStyle/>
          <a:p>
            <a:pPr indent="0" marL="0">
              <a:lnSpc>
                <a:spcPct val="120000"/>
              </a:lnSpc>
              <a:buNone/>
            </a:pPr>
            <a:r>
              <a:rPr lang="en-US" sz="1300" dirty="0">
                <a:solidFill>
                  <a:srgbClr val="9AA7A2"/>
                </a:solidFill>
                <a:latin typeface="Manrope" pitchFamily="34" charset="0"/>
                <a:ea typeface="Manrope" pitchFamily="34" charset="-122"/>
                <a:cs typeface="Manrope" pitchFamily="34" charset="-120"/>
              </a:rPr>
              <a:t>Lost across a ten-person team — most of a full-time salary.</a:t>
            </a:r>
            <a:endParaRPr lang="en-US" sz="1300" dirty="0"/>
          </a:p>
        </p:txBody>
      </p:sp>
      <p:sp>
        <p:nvSpPr>
          <p:cNvPr id="14" name="Shape 12"/>
          <p:cNvSpPr/>
          <p:nvPr/>
        </p:nvSpPr>
        <p:spPr>
          <a:xfrm>
            <a:off x="8079029" y="2331720"/>
            <a:ext cx="3564026" cy="2834640"/>
          </a:xfrm>
          <a:prstGeom prst="roundRect">
            <a:avLst>
              <a:gd name="adj" fmla="val 5161"/>
            </a:avLst>
          </a:prstGeom>
          <a:solidFill>
            <a:srgbClr val="B8E62E"/>
          </a:solidFill>
          <a:ln/>
        </p:spPr>
      </p:sp>
      <p:sp>
        <p:nvSpPr>
          <p:cNvPr id="15" name="Text 13"/>
          <p:cNvSpPr txBox="1"/>
          <p:nvPr/>
        </p:nvSpPr>
        <p:spPr>
          <a:xfrm>
            <a:off x="8444789" y="2697480"/>
            <a:ext cx="2832506" cy="914400"/>
          </a:xfrm>
          <a:prstGeom prst="rect">
            <a:avLst/>
          </a:prstGeom>
          <a:noFill/>
          <a:ln/>
        </p:spPr>
        <p:txBody>
          <a:bodyPr wrap="square" lIns="0" tIns="0" rIns="0" bIns="0" rtlCol="0" anchor="t"/>
          <a:lstStyle/>
          <a:p>
            <a:pPr indent="0" marL="0">
              <a:buNone/>
            </a:pPr>
            <a:r>
              <a:rPr lang="en-US" sz="5400" b="1" dirty="0">
                <a:solidFill>
                  <a:srgbClr val="0B0D0C"/>
                </a:solidFill>
                <a:latin typeface="Epilogue" pitchFamily="34" charset="0"/>
                <a:ea typeface="Epilogue" pitchFamily="34" charset="-122"/>
                <a:cs typeface="Epilogue" pitchFamily="34" charset="-120"/>
              </a:rPr>
              <a:t>₹2,990</a:t>
            </a:r>
            <a:endParaRPr lang="en-US" sz="5400" dirty="0"/>
          </a:p>
        </p:txBody>
      </p:sp>
      <p:sp>
        <p:nvSpPr>
          <p:cNvPr id="16" name="Text 14"/>
          <p:cNvSpPr txBox="1"/>
          <p:nvPr/>
        </p:nvSpPr>
        <p:spPr>
          <a:xfrm>
            <a:off x="8444789" y="3749040"/>
            <a:ext cx="2832506" cy="228600"/>
          </a:xfrm>
          <a:prstGeom prst="rect">
            <a:avLst/>
          </a:prstGeom>
          <a:noFill/>
          <a:ln/>
        </p:spPr>
        <p:txBody>
          <a:bodyPr wrap="square" lIns="0" tIns="0" rIns="0" bIns="0" rtlCol="0" anchor="t"/>
          <a:lstStyle/>
          <a:p>
            <a:pPr indent="0" marL="0">
              <a:buNone/>
            </a:pPr>
            <a:r>
              <a:rPr lang="en-US" sz="950" b="1" spc="150" kern="0" dirty="0">
                <a:solidFill>
                  <a:srgbClr val="2B3510"/>
                </a:solidFill>
                <a:latin typeface="Plus Jakarta Sans" pitchFamily="34" charset="0"/>
                <a:ea typeface="Plus Jakarta Sans" pitchFamily="34" charset="-122"/>
                <a:cs typeface="Plus Jakarta Sans" pitchFamily="34" charset="-120"/>
              </a:rPr>
              <a:t>BOD APP ADVANCED / MONTH</a:t>
            </a:r>
            <a:endParaRPr lang="en-US" sz="950" dirty="0"/>
          </a:p>
        </p:txBody>
      </p:sp>
      <p:sp>
        <p:nvSpPr>
          <p:cNvPr id="17" name="Text 15"/>
          <p:cNvSpPr txBox="1"/>
          <p:nvPr/>
        </p:nvSpPr>
        <p:spPr>
          <a:xfrm>
            <a:off x="8444789" y="4114800"/>
            <a:ext cx="2832506" cy="731520"/>
          </a:xfrm>
          <a:prstGeom prst="rect">
            <a:avLst/>
          </a:prstGeom>
          <a:noFill/>
          <a:ln/>
        </p:spPr>
        <p:txBody>
          <a:bodyPr wrap="square" lIns="0" tIns="0" rIns="0" bIns="0" rtlCol="0" anchor="t"/>
          <a:lstStyle/>
          <a:p>
            <a:pPr indent="0" marL="0">
              <a:lnSpc>
                <a:spcPct val="120000"/>
              </a:lnSpc>
              <a:buNone/>
            </a:pPr>
            <a:r>
              <a:rPr lang="en-US" sz="1300" dirty="0">
                <a:solidFill>
                  <a:srgbClr val="25300C"/>
                </a:solidFill>
                <a:latin typeface="Manrope" pitchFamily="34" charset="0"/>
                <a:ea typeface="Manrope" pitchFamily="34" charset="-122"/>
                <a:cs typeface="Manrope" pitchFamily="34" charset="-120"/>
              </a:rPr>
              <a:t>The full setup for that same ten-person team (10 seats × ₹299).</a:t>
            </a:r>
            <a:endParaRPr lang="en-US" sz="1300" dirty="0"/>
          </a:p>
        </p:txBody>
      </p:sp>
      <p:sp>
        <p:nvSpPr>
          <p:cNvPr id="18" name="Text 16"/>
          <p:cNvSpPr txBox="1"/>
          <p:nvPr/>
        </p:nvSpPr>
        <p:spPr>
          <a:xfrm>
            <a:off x="548640" y="5577840"/>
            <a:ext cx="11094415" cy="320040"/>
          </a:xfrm>
          <a:prstGeom prst="rect">
            <a:avLst/>
          </a:prstGeom>
          <a:noFill/>
          <a:ln/>
        </p:spPr>
        <p:txBody>
          <a:bodyPr wrap="square" lIns="0" tIns="0" rIns="0" bIns="0" rtlCol="0" anchor="t"/>
          <a:lstStyle/>
          <a:p>
            <a:pPr indent="0" marL="0">
              <a:buNone/>
            </a:pPr>
            <a:r>
              <a:rPr lang="en-US" sz="1500" b="1" dirty="0">
                <a:solidFill>
                  <a:srgbClr val="F4F6F5"/>
                </a:solidFill>
                <a:latin typeface="Manrope" pitchFamily="34" charset="0"/>
                <a:ea typeface="Manrope" pitchFamily="34" charset="-122"/>
                <a:cs typeface="Manrope" pitchFamily="34" charset="-120"/>
              </a:rPr>
              <a:t>Run the arithmetic with your own team size and hourly cost. It rarely comes out close.</a:t>
            </a:r>
            <a:endParaRPr lang="en-US" sz="1500" dirty="0"/>
          </a:p>
        </p:txBody>
      </p:sp>
      <p:sp>
        <p:nvSpPr>
          <p:cNvPr id="19" name="Text 17"/>
          <p:cNvSpPr txBox="1"/>
          <p:nvPr/>
        </p:nvSpPr>
        <p:spPr>
          <a:xfrm>
            <a:off x="548640" y="6446520"/>
            <a:ext cx="5486400" cy="201168"/>
          </a:xfrm>
          <a:prstGeom prst="rect">
            <a:avLst/>
          </a:prstGeom>
          <a:noFill/>
          <a:ln/>
        </p:spPr>
        <p:txBody>
          <a:bodyPr wrap="square" lIns="0" tIns="0" rIns="0" bIns="0" rtlCol="0" anchor="t"/>
          <a:lstStyle/>
          <a:p>
            <a:pPr indent="0" marL="0">
              <a:buNone/>
            </a:pPr>
            <a:r>
              <a:rPr lang="en-US" sz="800" b="1" spc="200" kern="0" dirty="0">
                <a:solidFill>
                  <a:srgbClr val="6B7773"/>
                </a:solidFill>
                <a:latin typeface="Plus Jakarta Sans" pitchFamily="34" charset="0"/>
                <a:ea typeface="Plus Jakarta Sans" pitchFamily="34" charset="-122"/>
                <a:cs typeface="Plus Jakarta Sans" pitchFamily="34" charset="-120"/>
              </a:rPr>
              <a:t>BOD APP  ·  RUN YOUR STUDIO THE CALM WAY</a:t>
            </a:r>
            <a:endParaRPr lang="en-US" sz="800" dirty="0"/>
          </a:p>
        </p:txBody>
      </p:sp>
      <p:sp>
        <p:nvSpPr>
          <p:cNvPr id="20" name="Text 18"/>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b="1" dirty="0">
                <a:solidFill>
                  <a:srgbClr val="6B7773"/>
                </a:solidFill>
                <a:latin typeface="Plus Jakarta Sans" pitchFamily="34" charset="0"/>
                <a:ea typeface="Plus Jakarta Sans" pitchFamily="34" charset="-122"/>
                <a:cs typeface="Plus Jakarta Sa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11  ·  PRICING</a:t>
            </a:r>
            <a:endParaRPr lang="en-US" sz="1000" dirty="0"/>
          </a:p>
        </p:txBody>
      </p:sp>
      <p:sp>
        <p:nvSpPr>
          <p:cNvPr id="3" name="Text 1"/>
          <p:cNvSpPr txBox="1"/>
          <p:nvPr/>
        </p:nvSpPr>
        <p:spPr>
          <a:xfrm>
            <a:off x="7985455" y="457200"/>
            <a:ext cx="3657600" cy="228600"/>
          </a:xfrm>
          <a:prstGeom prst="rect">
            <a:avLst/>
          </a:prstGeom>
          <a:noFill/>
          <a:ln/>
        </p:spPr>
        <p:txBody>
          <a:bodyPr wrap="square" lIns="0" tIns="0" rIns="0" bIns="0" rtlCol="0" anchor="t"/>
          <a:lstStyle/>
          <a:p>
            <a:pPr algn="r" indent="0" marL="0">
              <a:buNone/>
            </a:pPr>
            <a:r>
              <a:rPr lang="en-US" sz="900" b="1" spc="200" kern="0" dirty="0">
                <a:solidFill>
                  <a:srgbClr val="6B7773"/>
                </a:solidFill>
                <a:latin typeface="Plus Jakarta Sans" pitchFamily="34" charset="0"/>
                <a:ea typeface="Plus Jakarta Sans" pitchFamily="34" charset="-122"/>
                <a:cs typeface="Plus Jakarta Sans" pitchFamily="34" charset="-120"/>
              </a:rPr>
              <a:t>BOD APP  /  SALES DECK</a:t>
            </a:r>
            <a:endParaRPr lang="en-US" sz="9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indent="0" marL="0">
              <a:buNone/>
            </a:pPr>
            <a:r>
              <a:rPr lang="en-US" sz="3400" b="1" dirty="0">
                <a:solidFill>
                  <a:srgbClr val="F4F6F5"/>
                </a:solidFill>
                <a:latin typeface="Epilogue" pitchFamily="34" charset="0"/>
                <a:ea typeface="Epilogue" pitchFamily="34" charset="-122"/>
                <a:cs typeface="Epilogue" pitchFamily="34" charset="-120"/>
              </a:rPr>
              <a:t>Simple per-seat plans.</a:t>
            </a:r>
            <a:endParaRPr lang="en-US" sz="3400" dirty="0"/>
          </a:p>
        </p:txBody>
      </p:sp>
      <p:sp>
        <p:nvSpPr>
          <p:cNvPr id="5" name="Text 3"/>
          <p:cNvSpPr txBox="1"/>
          <p:nvPr/>
        </p:nvSpPr>
        <p:spPr>
          <a:xfrm>
            <a:off x="548640" y="1536192"/>
            <a:ext cx="11094415" cy="548640"/>
          </a:xfrm>
          <a:prstGeom prst="rect">
            <a:avLst/>
          </a:prstGeom>
          <a:noFill/>
          <a:ln/>
        </p:spPr>
        <p:txBody>
          <a:bodyPr wrap="square" lIns="0" tIns="0" rIns="0" bIns="0" rtlCol="0" anchor="t"/>
          <a:lstStyle/>
          <a:p>
            <a:pPr indent="0" marL="0">
              <a:lnSpc>
                <a:spcPct val="115000"/>
              </a:lnSpc>
              <a:buNone/>
            </a:pPr>
            <a:r>
              <a:rPr lang="en-US" sz="1500" dirty="0">
                <a:solidFill>
                  <a:srgbClr val="9AA7A2"/>
                </a:solidFill>
                <a:latin typeface="Manrope" pitchFamily="34" charset="0"/>
                <a:ea typeface="Manrope" pitchFamily="34" charset="-122"/>
                <a:cs typeface="Manrope" pitchFamily="34" charset="-120"/>
              </a:rPr>
              <a:t>14 days free. Full features. No card.</a:t>
            </a:r>
            <a:endParaRPr lang="en-US" sz="1500" dirty="0"/>
          </a:p>
        </p:txBody>
      </p:sp>
      <p:sp>
        <p:nvSpPr>
          <p:cNvPr id="6" name="Shape 4"/>
          <p:cNvSpPr/>
          <p:nvPr/>
        </p:nvSpPr>
        <p:spPr>
          <a:xfrm>
            <a:off x="548640" y="2103120"/>
            <a:ext cx="3564026" cy="3886200"/>
          </a:xfrm>
          <a:prstGeom prst="roundRect">
            <a:avLst>
              <a:gd name="adj" fmla="val 4105"/>
            </a:avLst>
          </a:prstGeom>
          <a:solidFill>
            <a:srgbClr val="15191A"/>
          </a:solidFill>
          <a:ln w="9525">
            <a:solidFill>
              <a:srgbClr val="262C2E"/>
            </a:solidFill>
            <a:prstDash val="solid"/>
          </a:ln>
        </p:spPr>
      </p:sp>
      <p:sp>
        <p:nvSpPr>
          <p:cNvPr id="7" name="Text 5"/>
          <p:cNvSpPr txBox="1"/>
          <p:nvPr/>
        </p:nvSpPr>
        <p:spPr>
          <a:xfrm>
            <a:off x="868680" y="2377440"/>
            <a:ext cx="1828800"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BASIC</a:t>
            </a:r>
            <a:endParaRPr lang="en-US" sz="1000" dirty="0"/>
          </a:p>
        </p:txBody>
      </p:sp>
      <p:sp>
        <p:nvSpPr>
          <p:cNvPr id="8" name="Text 6"/>
          <p:cNvSpPr txBox="1"/>
          <p:nvPr/>
        </p:nvSpPr>
        <p:spPr>
          <a:xfrm>
            <a:off x="868680" y="2697480"/>
            <a:ext cx="3015386" cy="731520"/>
          </a:xfrm>
          <a:prstGeom prst="rect">
            <a:avLst/>
          </a:prstGeom>
          <a:noFill/>
          <a:ln/>
        </p:spPr>
        <p:txBody>
          <a:bodyPr wrap="square" lIns="0" tIns="0" rIns="0" bIns="0" rtlCol="0" anchor="b"/>
          <a:lstStyle/>
          <a:p>
            <a:pPr indent="0" marL="0">
              <a:buNone/>
            </a:pPr>
            <a:r>
              <a:rPr lang="en-US" sz="4000" b="1" dirty="0">
                <a:solidFill>
                  <a:srgbClr val="F4F6F5"/>
                </a:solidFill>
                <a:latin typeface="Epilogue" pitchFamily="34" charset="0"/>
                <a:ea typeface="Epilogue" pitchFamily="34" charset="-122"/>
                <a:cs typeface="Epilogue" pitchFamily="34" charset="-120"/>
              </a:rPr>
              <a:t>₹199</a:t>
            </a:r>
            <a:pPr indent="0" marL="0">
              <a:buNone/>
            </a:pPr>
            <a:r>
              <a:rPr lang="en-US" sz="1200" dirty="0">
                <a:solidFill>
                  <a:srgbClr val="9AA7A2"/>
                </a:solidFill>
                <a:latin typeface="Manrope" pitchFamily="34" charset="0"/>
                <a:ea typeface="Manrope" pitchFamily="34" charset="-122"/>
                <a:cs typeface="Manrope" pitchFamily="34" charset="-120"/>
              </a:rPr>
              <a:t>  / seat / mo</a:t>
            </a:r>
            <a:endParaRPr lang="en-US" sz="4000" dirty="0"/>
          </a:p>
        </p:txBody>
      </p:sp>
      <p:sp>
        <p:nvSpPr>
          <p:cNvPr id="9" name="Text 7"/>
          <p:cNvSpPr txBox="1"/>
          <p:nvPr/>
        </p:nvSpPr>
        <p:spPr>
          <a:xfrm>
            <a:off x="868680" y="3520440"/>
            <a:ext cx="3015386" cy="274320"/>
          </a:xfrm>
          <a:prstGeom prst="rect">
            <a:avLst/>
          </a:prstGeom>
          <a:noFill/>
          <a:ln/>
        </p:spPr>
        <p:txBody>
          <a:bodyPr wrap="square" lIns="0" tIns="0" rIns="0" bIns="0" rtlCol="0" anchor="t"/>
          <a:lstStyle/>
          <a:p>
            <a:pPr indent="0" marL="0">
              <a:buNone/>
            </a:pPr>
            <a:r>
              <a:rPr lang="en-US" sz="1300" b="1" dirty="0">
                <a:solidFill>
                  <a:srgbClr val="F4F6F5"/>
                </a:solidFill>
                <a:latin typeface="Manrope" pitchFamily="34" charset="0"/>
                <a:ea typeface="Manrope" pitchFamily="34" charset="-122"/>
                <a:cs typeface="Manrope" pitchFamily="34" charset="-120"/>
              </a:rPr>
              <a:t>Small teams finding their rhythm.</a:t>
            </a:r>
            <a:endParaRPr lang="en-US" sz="1300" dirty="0"/>
          </a:p>
        </p:txBody>
      </p:sp>
      <p:sp>
        <p:nvSpPr>
          <p:cNvPr id="10" name="Text 8"/>
          <p:cNvSpPr txBox="1"/>
          <p:nvPr/>
        </p:nvSpPr>
        <p:spPr>
          <a:xfrm>
            <a:off x="868680" y="3794760"/>
            <a:ext cx="3015386" cy="274320"/>
          </a:xfrm>
          <a:prstGeom prst="rect">
            <a:avLst/>
          </a:prstGeom>
          <a:noFill/>
          <a:ln/>
        </p:spPr>
        <p:txBody>
          <a:bodyPr wrap="square" lIns="0" tIns="0" rIns="0" bIns="0" rtlCol="0" anchor="t"/>
          <a:lstStyle/>
          <a:p>
            <a:pPr indent="0" marL="0">
              <a:buNone/>
            </a:pPr>
            <a:r>
              <a:rPr lang="en-US" sz="1150" dirty="0">
                <a:solidFill>
                  <a:srgbClr val="9AA7A2"/>
                </a:solidFill>
                <a:latin typeface="Manrope" pitchFamily="34" charset="0"/>
                <a:ea typeface="Manrope" pitchFamily="34" charset="-122"/>
                <a:cs typeface="Manrope" pitchFamily="34" charset="-120"/>
              </a:rPr>
              <a:t>The essentials, not every feature</a:t>
            </a:r>
            <a:endParaRPr lang="en-US" sz="1150" dirty="0"/>
          </a:p>
        </p:txBody>
      </p:sp>
      <p:sp>
        <p:nvSpPr>
          <p:cNvPr id="11" name="Shape 9"/>
          <p:cNvSpPr/>
          <p:nvPr/>
        </p:nvSpPr>
        <p:spPr>
          <a:xfrm>
            <a:off x="868680" y="4206240"/>
            <a:ext cx="2923946" cy="0"/>
          </a:xfrm>
          <a:prstGeom prst="line">
            <a:avLst/>
          </a:prstGeom>
          <a:noFill/>
          <a:ln w="9525">
            <a:solidFill>
              <a:srgbClr val="262C2E"/>
            </a:solidFill>
            <a:prstDash val="solid"/>
          </a:ln>
        </p:spPr>
      </p:sp>
      <p:pic>
        <p:nvPicPr>
          <p:cNvPr id="12" name="Image 0" descr="preencoded.png">    </p:cNvPr>
          <p:cNvPicPr>
            <a:picLocks noChangeAspect="1"/>
          </p:cNvPicPr>
          <p:nvPr/>
        </p:nvPicPr>
        <p:blipFill>
          <a:blip r:embed="rId1"/>
          <a:stretch>
            <a:fillRect/>
          </a:stretch>
        </p:blipFill>
        <p:spPr>
          <a:xfrm>
            <a:off x="868680" y="4480560"/>
            <a:ext cx="182880" cy="182880"/>
          </a:xfrm>
          <a:prstGeom prst="rect">
            <a:avLst/>
          </a:prstGeom>
        </p:spPr>
      </p:pic>
      <p:sp>
        <p:nvSpPr>
          <p:cNvPr id="13" name="Text 10"/>
          <p:cNvSpPr txBox="1"/>
          <p:nvPr/>
        </p:nvSpPr>
        <p:spPr>
          <a:xfrm>
            <a:off x="1143000" y="4434840"/>
            <a:ext cx="2695346" cy="274320"/>
          </a:xfrm>
          <a:prstGeom prst="rect">
            <a:avLst/>
          </a:prstGeom>
          <a:noFill/>
          <a:ln/>
        </p:spPr>
        <p:txBody>
          <a:bodyPr wrap="square" lIns="0" tIns="0" rIns="0" bIns="0" rtlCol="0" anchor="ctr"/>
          <a:lstStyle/>
          <a:p>
            <a:pPr indent="0" marL="0">
              <a:buNone/>
            </a:pPr>
            <a:r>
              <a:rPr lang="en-US" sz="1200" dirty="0">
                <a:solidFill>
                  <a:srgbClr val="F4F6F5"/>
                </a:solidFill>
                <a:latin typeface="Manrope" pitchFamily="34" charset="0"/>
                <a:ea typeface="Manrope" pitchFamily="34" charset="-122"/>
                <a:cs typeface="Manrope" pitchFamily="34" charset="-120"/>
              </a:rPr>
              <a:t>Full task pipeline &amp; board</a:t>
            </a:r>
            <a:endParaRPr lang="en-US" sz="1200" dirty="0"/>
          </a:p>
        </p:txBody>
      </p:sp>
      <p:pic>
        <p:nvPicPr>
          <p:cNvPr id="14" name="Image 1" descr="preencoded.png">    </p:cNvPr>
          <p:cNvPicPr>
            <a:picLocks noChangeAspect="1"/>
          </p:cNvPicPr>
          <p:nvPr/>
        </p:nvPicPr>
        <p:blipFill>
          <a:blip r:embed="rId2"/>
          <a:stretch>
            <a:fillRect/>
          </a:stretch>
        </p:blipFill>
        <p:spPr>
          <a:xfrm>
            <a:off x="868680" y="4809744"/>
            <a:ext cx="182880" cy="182880"/>
          </a:xfrm>
          <a:prstGeom prst="rect">
            <a:avLst/>
          </a:prstGeom>
        </p:spPr>
      </p:pic>
      <p:sp>
        <p:nvSpPr>
          <p:cNvPr id="15" name="Text 11"/>
          <p:cNvSpPr txBox="1"/>
          <p:nvPr/>
        </p:nvSpPr>
        <p:spPr>
          <a:xfrm>
            <a:off x="1143000" y="4764024"/>
            <a:ext cx="2695346" cy="274320"/>
          </a:xfrm>
          <a:prstGeom prst="rect">
            <a:avLst/>
          </a:prstGeom>
          <a:noFill/>
          <a:ln/>
        </p:spPr>
        <p:txBody>
          <a:bodyPr wrap="square" lIns="0" tIns="0" rIns="0" bIns="0" rtlCol="0" anchor="ctr"/>
          <a:lstStyle/>
          <a:p>
            <a:pPr indent="0" marL="0">
              <a:buNone/>
            </a:pPr>
            <a:r>
              <a:rPr lang="en-US" sz="1200" dirty="0">
                <a:solidFill>
                  <a:srgbClr val="F4F6F5"/>
                </a:solidFill>
                <a:latin typeface="Manrope" pitchFamily="34" charset="0"/>
                <a:ea typeface="Manrope" pitchFamily="34" charset="-122"/>
                <a:cs typeface="Manrope" pitchFamily="34" charset="-120"/>
              </a:rPr>
              <a:t>Focus Queue &amp; vibe status</a:t>
            </a:r>
            <a:endParaRPr lang="en-US" sz="1200" dirty="0"/>
          </a:p>
        </p:txBody>
      </p:sp>
      <p:pic>
        <p:nvPicPr>
          <p:cNvPr id="16" name="Image 2" descr="preencoded.png">    </p:cNvPr>
          <p:cNvPicPr>
            <a:picLocks noChangeAspect="1"/>
          </p:cNvPicPr>
          <p:nvPr/>
        </p:nvPicPr>
        <p:blipFill>
          <a:blip r:embed="rId3"/>
          <a:stretch>
            <a:fillRect/>
          </a:stretch>
        </p:blipFill>
        <p:spPr>
          <a:xfrm>
            <a:off x="868680" y="5138928"/>
            <a:ext cx="182880" cy="182880"/>
          </a:xfrm>
          <a:prstGeom prst="rect">
            <a:avLst/>
          </a:prstGeom>
        </p:spPr>
      </p:pic>
      <p:sp>
        <p:nvSpPr>
          <p:cNvPr id="17" name="Text 12"/>
          <p:cNvSpPr txBox="1"/>
          <p:nvPr/>
        </p:nvSpPr>
        <p:spPr>
          <a:xfrm>
            <a:off x="1143000" y="5093208"/>
            <a:ext cx="2695346" cy="274320"/>
          </a:xfrm>
          <a:prstGeom prst="rect">
            <a:avLst/>
          </a:prstGeom>
          <a:noFill/>
          <a:ln/>
        </p:spPr>
        <p:txBody>
          <a:bodyPr wrap="square" lIns="0" tIns="0" rIns="0" bIns="0" rtlCol="0" anchor="ctr"/>
          <a:lstStyle/>
          <a:p>
            <a:pPr indent="0" marL="0">
              <a:buNone/>
            </a:pPr>
            <a:r>
              <a:rPr lang="en-US" sz="1200" dirty="0">
                <a:solidFill>
                  <a:srgbClr val="F4F6F5"/>
                </a:solidFill>
                <a:latin typeface="Manrope" pitchFamily="34" charset="0"/>
                <a:ea typeface="Manrope" pitchFamily="34" charset="-122"/>
                <a:cs typeface="Manrope" pitchFamily="34" charset="-120"/>
              </a:rPr>
              <a:t>Per-client colour</a:t>
            </a:r>
            <a:endParaRPr lang="en-US" sz="1200" dirty="0"/>
          </a:p>
        </p:txBody>
      </p:sp>
      <p:pic>
        <p:nvPicPr>
          <p:cNvPr id="18" name="Image 3" descr="preencoded.png">    </p:cNvPr>
          <p:cNvPicPr>
            <a:picLocks noChangeAspect="1"/>
          </p:cNvPicPr>
          <p:nvPr/>
        </p:nvPicPr>
        <p:blipFill>
          <a:blip r:embed="rId4"/>
          <a:stretch>
            <a:fillRect/>
          </a:stretch>
        </p:blipFill>
        <p:spPr>
          <a:xfrm>
            <a:off x="868680" y="5468112"/>
            <a:ext cx="182880" cy="182880"/>
          </a:xfrm>
          <a:prstGeom prst="rect">
            <a:avLst/>
          </a:prstGeom>
        </p:spPr>
      </p:pic>
      <p:sp>
        <p:nvSpPr>
          <p:cNvPr id="19" name="Text 13"/>
          <p:cNvSpPr txBox="1"/>
          <p:nvPr/>
        </p:nvSpPr>
        <p:spPr>
          <a:xfrm>
            <a:off x="1143000" y="5422392"/>
            <a:ext cx="2695346" cy="274320"/>
          </a:xfrm>
          <a:prstGeom prst="rect">
            <a:avLst/>
          </a:prstGeom>
          <a:noFill/>
          <a:ln/>
        </p:spPr>
        <p:txBody>
          <a:bodyPr wrap="square" lIns="0" tIns="0" rIns="0" bIns="0" rtlCol="0" anchor="ctr"/>
          <a:lstStyle/>
          <a:p>
            <a:pPr indent="0" marL="0">
              <a:buNone/>
            </a:pPr>
            <a:r>
              <a:rPr lang="en-US" sz="1200" dirty="0">
                <a:solidFill>
                  <a:srgbClr val="F4F6F5"/>
                </a:solidFill>
                <a:latin typeface="Manrope" pitchFamily="34" charset="0"/>
                <a:ea typeface="Manrope" pitchFamily="34" charset="-122"/>
                <a:cs typeface="Manrope" pitchFamily="34" charset="-120"/>
              </a:rPr>
              <a:t>iOS, Android &amp; web</a:t>
            </a:r>
            <a:endParaRPr lang="en-US" sz="1200" dirty="0"/>
          </a:p>
        </p:txBody>
      </p:sp>
      <p:sp>
        <p:nvSpPr>
          <p:cNvPr id="20" name="Shape 14"/>
          <p:cNvSpPr/>
          <p:nvPr/>
        </p:nvSpPr>
        <p:spPr>
          <a:xfrm>
            <a:off x="4313834" y="2103120"/>
            <a:ext cx="3564026" cy="3886200"/>
          </a:xfrm>
          <a:prstGeom prst="roundRect">
            <a:avLst>
              <a:gd name="adj" fmla="val 4105"/>
            </a:avLst>
          </a:prstGeom>
          <a:solidFill>
            <a:srgbClr val="B8E62E"/>
          </a:solidFill>
          <a:ln/>
        </p:spPr>
      </p:sp>
      <p:sp>
        <p:nvSpPr>
          <p:cNvPr id="21" name="Text 15"/>
          <p:cNvSpPr txBox="1"/>
          <p:nvPr/>
        </p:nvSpPr>
        <p:spPr>
          <a:xfrm>
            <a:off x="4633874" y="2377440"/>
            <a:ext cx="1828800" cy="228600"/>
          </a:xfrm>
          <a:prstGeom prst="rect">
            <a:avLst/>
          </a:prstGeom>
          <a:noFill/>
          <a:ln/>
        </p:spPr>
        <p:txBody>
          <a:bodyPr wrap="square" lIns="0" tIns="0" rIns="0" bIns="0" rtlCol="0" anchor="t"/>
          <a:lstStyle/>
          <a:p>
            <a:pPr indent="0" marL="0">
              <a:buNone/>
            </a:pPr>
            <a:r>
              <a:rPr lang="en-US" sz="1000" b="1" spc="200" kern="0" dirty="0">
                <a:solidFill>
                  <a:srgbClr val="0B0D0C"/>
                </a:solidFill>
                <a:latin typeface="Plus Jakarta Sans" pitchFamily="34" charset="0"/>
                <a:ea typeface="Plus Jakarta Sans" pitchFamily="34" charset="-122"/>
                <a:cs typeface="Plus Jakarta Sans" pitchFamily="34" charset="-120"/>
              </a:rPr>
              <a:t>ADVANCED</a:t>
            </a:r>
            <a:endParaRPr lang="en-US" sz="1000" dirty="0"/>
          </a:p>
        </p:txBody>
      </p:sp>
      <p:sp>
        <p:nvSpPr>
          <p:cNvPr id="22" name="Shape 16"/>
          <p:cNvSpPr/>
          <p:nvPr/>
        </p:nvSpPr>
        <p:spPr>
          <a:xfrm>
            <a:off x="6369101" y="2340864"/>
            <a:ext cx="1188720" cy="292608"/>
          </a:xfrm>
          <a:prstGeom prst="roundRect">
            <a:avLst>
              <a:gd name="adj" fmla="val 50000"/>
            </a:avLst>
          </a:prstGeom>
          <a:solidFill>
            <a:srgbClr val="0B0D0C"/>
          </a:solidFill>
          <a:ln/>
        </p:spPr>
      </p:sp>
      <p:sp>
        <p:nvSpPr>
          <p:cNvPr id="23" name="Text 17"/>
          <p:cNvSpPr txBox="1"/>
          <p:nvPr/>
        </p:nvSpPr>
        <p:spPr>
          <a:xfrm>
            <a:off x="6369101" y="2340864"/>
            <a:ext cx="1188720" cy="292608"/>
          </a:xfrm>
          <a:prstGeom prst="rect">
            <a:avLst/>
          </a:prstGeom>
          <a:noFill/>
          <a:ln/>
        </p:spPr>
        <p:txBody>
          <a:bodyPr wrap="square" lIns="0" tIns="0" rIns="0" bIns="0" rtlCol="0" anchor="ctr"/>
          <a:lstStyle/>
          <a:p>
            <a:pPr algn="ctr" indent="0" marL="0">
              <a:buNone/>
            </a:pPr>
            <a:r>
              <a:rPr lang="en-US" sz="800" b="1" spc="120" kern="0" dirty="0">
                <a:solidFill>
                  <a:srgbClr val="B8E62E"/>
                </a:solidFill>
                <a:latin typeface="Plus Jakarta Sans" pitchFamily="34" charset="0"/>
                <a:ea typeface="Plus Jakarta Sans" pitchFamily="34" charset="-122"/>
                <a:cs typeface="Plus Jakarta Sans" pitchFamily="34" charset="-120"/>
              </a:rPr>
              <a:t>MOST POPULAR</a:t>
            </a:r>
            <a:endParaRPr lang="en-US" sz="800" dirty="0"/>
          </a:p>
        </p:txBody>
      </p:sp>
      <p:sp>
        <p:nvSpPr>
          <p:cNvPr id="24" name="Text 18"/>
          <p:cNvSpPr txBox="1"/>
          <p:nvPr/>
        </p:nvSpPr>
        <p:spPr>
          <a:xfrm>
            <a:off x="4633874" y="2697480"/>
            <a:ext cx="3015386" cy="731520"/>
          </a:xfrm>
          <a:prstGeom prst="rect">
            <a:avLst/>
          </a:prstGeom>
          <a:noFill/>
          <a:ln/>
        </p:spPr>
        <p:txBody>
          <a:bodyPr wrap="square" lIns="0" tIns="0" rIns="0" bIns="0" rtlCol="0" anchor="b"/>
          <a:lstStyle/>
          <a:p>
            <a:pPr indent="0" marL="0">
              <a:buNone/>
            </a:pPr>
            <a:r>
              <a:rPr lang="en-US" sz="4000" b="1" dirty="0">
                <a:solidFill>
                  <a:srgbClr val="0B0D0C"/>
                </a:solidFill>
                <a:latin typeface="Epilogue" pitchFamily="34" charset="0"/>
                <a:ea typeface="Epilogue" pitchFamily="34" charset="-122"/>
                <a:cs typeface="Epilogue" pitchFamily="34" charset="-120"/>
              </a:rPr>
              <a:t>₹299</a:t>
            </a:r>
            <a:pPr indent="0" marL="0">
              <a:buNone/>
            </a:pPr>
            <a:r>
              <a:rPr lang="en-US" sz="1200" dirty="0">
                <a:solidFill>
                  <a:srgbClr val="25300C"/>
                </a:solidFill>
                <a:latin typeface="Manrope" pitchFamily="34" charset="0"/>
                <a:ea typeface="Manrope" pitchFamily="34" charset="-122"/>
                <a:cs typeface="Manrope" pitchFamily="34" charset="-120"/>
              </a:rPr>
              <a:t>  / seat / mo</a:t>
            </a:r>
            <a:endParaRPr lang="en-US" sz="4000" dirty="0"/>
          </a:p>
        </p:txBody>
      </p:sp>
      <p:sp>
        <p:nvSpPr>
          <p:cNvPr id="25" name="Text 19"/>
          <p:cNvSpPr txBox="1"/>
          <p:nvPr/>
        </p:nvSpPr>
        <p:spPr>
          <a:xfrm>
            <a:off x="4633874" y="3520440"/>
            <a:ext cx="3015386" cy="274320"/>
          </a:xfrm>
          <a:prstGeom prst="rect">
            <a:avLst/>
          </a:prstGeom>
          <a:noFill/>
          <a:ln/>
        </p:spPr>
        <p:txBody>
          <a:bodyPr wrap="square" lIns="0" tIns="0" rIns="0" bIns="0" rtlCol="0" anchor="t"/>
          <a:lstStyle/>
          <a:p>
            <a:pPr indent="0" marL="0">
              <a:buNone/>
            </a:pPr>
            <a:r>
              <a:rPr lang="en-US" sz="1300" b="1" dirty="0">
                <a:solidFill>
                  <a:srgbClr val="0B0D0C"/>
                </a:solidFill>
                <a:latin typeface="Manrope" pitchFamily="34" charset="0"/>
                <a:ea typeface="Manrope" pitchFamily="34" charset="-122"/>
                <a:cs typeface="Manrope" pitchFamily="34" charset="-120"/>
              </a:rPr>
              <a:t>Growing agencies, many clients.</a:t>
            </a:r>
            <a:endParaRPr lang="en-US" sz="1300" dirty="0"/>
          </a:p>
        </p:txBody>
      </p:sp>
      <p:sp>
        <p:nvSpPr>
          <p:cNvPr id="26" name="Text 20"/>
          <p:cNvSpPr txBox="1"/>
          <p:nvPr/>
        </p:nvSpPr>
        <p:spPr>
          <a:xfrm>
            <a:off x="4633874" y="3794760"/>
            <a:ext cx="3015386" cy="274320"/>
          </a:xfrm>
          <a:prstGeom prst="rect">
            <a:avLst/>
          </a:prstGeom>
          <a:noFill/>
          <a:ln/>
        </p:spPr>
        <p:txBody>
          <a:bodyPr wrap="square" lIns="0" tIns="0" rIns="0" bIns="0" rtlCol="0" anchor="t"/>
          <a:lstStyle/>
          <a:p>
            <a:pPr indent="0" marL="0">
              <a:buNone/>
            </a:pPr>
            <a:r>
              <a:rPr lang="en-US" sz="1150" dirty="0">
                <a:solidFill>
                  <a:srgbClr val="25300C"/>
                </a:solidFill>
                <a:latin typeface="Manrope" pitchFamily="34" charset="0"/>
                <a:ea typeface="Manrope" pitchFamily="34" charset="-122"/>
                <a:cs typeface="Manrope" pitchFamily="34" charset="-120"/>
              </a:rPr>
              <a:t>The full setup we run on ourselves</a:t>
            </a:r>
            <a:endParaRPr lang="en-US" sz="1150" dirty="0"/>
          </a:p>
        </p:txBody>
      </p:sp>
      <p:sp>
        <p:nvSpPr>
          <p:cNvPr id="27" name="Shape 21"/>
          <p:cNvSpPr/>
          <p:nvPr/>
        </p:nvSpPr>
        <p:spPr>
          <a:xfrm>
            <a:off x="4633874" y="4206240"/>
            <a:ext cx="2923946" cy="0"/>
          </a:xfrm>
          <a:prstGeom prst="line">
            <a:avLst/>
          </a:prstGeom>
          <a:noFill/>
          <a:ln w="9525">
            <a:solidFill>
              <a:srgbClr val="A3CC28"/>
            </a:solidFill>
            <a:prstDash val="solid"/>
          </a:ln>
        </p:spPr>
      </p:sp>
      <p:sp>
        <p:nvSpPr>
          <p:cNvPr id="28" name="Text 22"/>
          <p:cNvSpPr txBox="1"/>
          <p:nvPr/>
        </p:nvSpPr>
        <p:spPr>
          <a:xfrm>
            <a:off x="4633874" y="4343400"/>
            <a:ext cx="3015386" cy="256032"/>
          </a:xfrm>
          <a:prstGeom prst="rect">
            <a:avLst/>
          </a:prstGeom>
          <a:noFill/>
          <a:ln/>
        </p:spPr>
        <p:txBody>
          <a:bodyPr wrap="square" lIns="0" tIns="0" rIns="0" bIns="0" rtlCol="0" anchor="t"/>
          <a:lstStyle/>
          <a:p>
            <a:pPr indent="0" marL="0">
              <a:buNone/>
            </a:pPr>
            <a:r>
              <a:rPr lang="en-US" sz="1100" b="1" dirty="0">
                <a:solidFill>
                  <a:srgbClr val="25300C"/>
                </a:solidFill>
                <a:latin typeface="Manrope" pitchFamily="34" charset="0"/>
                <a:ea typeface="Manrope" pitchFamily="34" charset="-122"/>
                <a:cs typeface="Manrope" pitchFamily="34" charset="-120"/>
              </a:rPr>
              <a:t>Everything in Basic, plus:</a:t>
            </a:r>
            <a:endParaRPr lang="en-US" sz="1100" dirty="0"/>
          </a:p>
        </p:txBody>
      </p:sp>
      <p:pic>
        <p:nvPicPr>
          <p:cNvPr id="29" name="Image 4" descr="preencoded.png">    </p:cNvPr>
          <p:cNvPicPr>
            <a:picLocks noChangeAspect="1"/>
          </p:cNvPicPr>
          <p:nvPr/>
        </p:nvPicPr>
        <p:blipFill>
          <a:blip r:embed="rId5"/>
          <a:stretch>
            <a:fillRect/>
          </a:stretch>
        </p:blipFill>
        <p:spPr>
          <a:xfrm>
            <a:off x="4633874" y="4700016"/>
            <a:ext cx="182880" cy="182880"/>
          </a:xfrm>
          <a:prstGeom prst="rect">
            <a:avLst/>
          </a:prstGeom>
        </p:spPr>
      </p:pic>
      <p:sp>
        <p:nvSpPr>
          <p:cNvPr id="30" name="Text 23"/>
          <p:cNvSpPr txBox="1"/>
          <p:nvPr/>
        </p:nvSpPr>
        <p:spPr>
          <a:xfrm>
            <a:off x="4908194" y="4654296"/>
            <a:ext cx="2695346" cy="274320"/>
          </a:xfrm>
          <a:prstGeom prst="rect">
            <a:avLst/>
          </a:prstGeom>
          <a:noFill/>
          <a:ln/>
        </p:spPr>
        <p:txBody>
          <a:bodyPr wrap="square" lIns="0" tIns="0" rIns="0" bIns="0" rtlCol="0" anchor="ctr"/>
          <a:lstStyle/>
          <a:p>
            <a:pPr indent="0" marL="0">
              <a:buNone/>
            </a:pPr>
            <a:r>
              <a:rPr lang="en-US" sz="1200" dirty="0">
                <a:solidFill>
                  <a:srgbClr val="0B0D0C"/>
                </a:solidFill>
                <a:latin typeface="Manrope" pitchFamily="34" charset="0"/>
                <a:ea typeface="Manrope" pitchFamily="34" charset="-122"/>
                <a:cs typeface="Manrope" pitchFamily="34" charset="-120"/>
              </a:rPr>
              <a:t>AI capture: voice, notes, PDF</a:t>
            </a:r>
            <a:endParaRPr lang="en-US" sz="1200" dirty="0"/>
          </a:p>
        </p:txBody>
      </p:sp>
      <p:pic>
        <p:nvPicPr>
          <p:cNvPr id="31" name="Image 5" descr="preencoded.png">    </p:cNvPr>
          <p:cNvPicPr>
            <a:picLocks noChangeAspect="1"/>
          </p:cNvPicPr>
          <p:nvPr/>
        </p:nvPicPr>
        <p:blipFill>
          <a:blip r:embed="rId6"/>
          <a:stretch>
            <a:fillRect/>
          </a:stretch>
        </p:blipFill>
        <p:spPr>
          <a:xfrm>
            <a:off x="4633874" y="5029200"/>
            <a:ext cx="182880" cy="182880"/>
          </a:xfrm>
          <a:prstGeom prst="rect">
            <a:avLst/>
          </a:prstGeom>
        </p:spPr>
      </p:pic>
      <p:sp>
        <p:nvSpPr>
          <p:cNvPr id="32" name="Text 24"/>
          <p:cNvSpPr txBox="1"/>
          <p:nvPr/>
        </p:nvSpPr>
        <p:spPr>
          <a:xfrm>
            <a:off x="4908194" y="4983480"/>
            <a:ext cx="2695346" cy="274320"/>
          </a:xfrm>
          <a:prstGeom prst="rect">
            <a:avLst/>
          </a:prstGeom>
          <a:noFill/>
          <a:ln/>
        </p:spPr>
        <p:txBody>
          <a:bodyPr wrap="square" lIns="0" tIns="0" rIns="0" bIns="0" rtlCol="0" anchor="ctr"/>
          <a:lstStyle/>
          <a:p>
            <a:pPr indent="0" marL="0">
              <a:buNone/>
            </a:pPr>
            <a:r>
              <a:rPr lang="en-US" sz="1200" dirty="0">
                <a:solidFill>
                  <a:srgbClr val="0B0D0C"/>
                </a:solidFill>
                <a:latin typeface="Manrope" pitchFamily="34" charset="0"/>
                <a:ea typeface="Manrope" pitchFamily="34" charset="-122"/>
                <a:cs typeface="Manrope" pitchFamily="34" charset="-120"/>
              </a:rPr>
              <a:t>Approvals hub &amp; requests</a:t>
            </a:r>
            <a:endParaRPr lang="en-US" sz="1200" dirty="0"/>
          </a:p>
        </p:txBody>
      </p:sp>
      <p:pic>
        <p:nvPicPr>
          <p:cNvPr id="33" name="Image 6" descr="preencoded.png">    </p:cNvPr>
          <p:cNvPicPr>
            <a:picLocks noChangeAspect="1"/>
          </p:cNvPicPr>
          <p:nvPr/>
        </p:nvPicPr>
        <p:blipFill>
          <a:blip r:embed="rId7"/>
          <a:stretch>
            <a:fillRect/>
          </a:stretch>
        </p:blipFill>
        <p:spPr>
          <a:xfrm>
            <a:off x="4633874" y="5358384"/>
            <a:ext cx="182880" cy="182880"/>
          </a:xfrm>
          <a:prstGeom prst="rect">
            <a:avLst/>
          </a:prstGeom>
        </p:spPr>
      </p:pic>
      <p:sp>
        <p:nvSpPr>
          <p:cNvPr id="34" name="Text 25"/>
          <p:cNvSpPr txBox="1"/>
          <p:nvPr/>
        </p:nvSpPr>
        <p:spPr>
          <a:xfrm>
            <a:off x="4908194" y="5312664"/>
            <a:ext cx="2695346" cy="274320"/>
          </a:xfrm>
          <a:prstGeom prst="rect">
            <a:avLst/>
          </a:prstGeom>
          <a:noFill/>
          <a:ln/>
        </p:spPr>
        <p:txBody>
          <a:bodyPr wrap="square" lIns="0" tIns="0" rIns="0" bIns="0" rtlCol="0" anchor="ctr"/>
          <a:lstStyle/>
          <a:p>
            <a:pPr indent="0" marL="0">
              <a:buNone/>
            </a:pPr>
            <a:r>
              <a:rPr lang="en-US" sz="1200" dirty="0">
                <a:solidFill>
                  <a:srgbClr val="0B0D0C"/>
                </a:solidFill>
                <a:latin typeface="Manrope" pitchFamily="34" charset="0"/>
                <a:ea typeface="Manrope" pitchFamily="34" charset="-122"/>
                <a:cs typeface="Manrope" pitchFamily="34" charset="-120"/>
              </a:rPr>
              <a:t>Nudges, standup &amp; recap</a:t>
            </a:r>
            <a:endParaRPr lang="en-US" sz="1200" dirty="0"/>
          </a:p>
        </p:txBody>
      </p:sp>
      <p:pic>
        <p:nvPicPr>
          <p:cNvPr id="35" name="Image 7" descr="preencoded.png">    </p:cNvPr>
          <p:cNvPicPr>
            <a:picLocks noChangeAspect="1"/>
          </p:cNvPicPr>
          <p:nvPr/>
        </p:nvPicPr>
        <p:blipFill>
          <a:blip r:embed="rId8"/>
          <a:stretch>
            <a:fillRect/>
          </a:stretch>
        </p:blipFill>
        <p:spPr>
          <a:xfrm>
            <a:off x="4633874" y="5687568"/>
            <a:ext cx="182880" cy="182880"/>
          </a:xfrm>
          <a:prstGeom prst="rect">
            <a:avLst/>
          </a:prstGeom>
        </p:spPr>
      </p:pic>
      <p:sp>
        <p:nvSpPr>
          <p:cNvPr id="36" name="Text 26"/>
          <p:cNvSpPr txBox="1"/>
          <p:nvPr/>
        </p:nvSpPr>
        <p:spPr>
          <a:xfrm>
            <a:off x="4908194" y="5641848"/>
            <a:ext cx="2695346" cy="274320"/>
          </a:xfrm>
          <a:prstGeom prst="rect">
            <a:avLst/>
          </a:prstGeom>
          <a:noFill/>
          <a:ln/>
        </p:spPr>
        <p:txBody>
          <a:bodyPr wrap="square" lIns="0" tIns="0" rIns="0" bIns="0" rtlCol="0" anchor="ctr"/>
          <a:lstStyle/>
          <a:p>
            <a:pPr indent="0" marL="0">
              <a:buNone/>
            </a:pPr>
            <a:r>
              <a:rPr lang="en-US" sz="1200" dirty="0">
                <a:solidFill>
                  <a:srgbClr val="0B0D0C"/>
                </a:solidFill>
                <a:latin typeface="Manrope" pitchFamily="34" charset="0"/>
                <a:ea typeface="Manrope" pitchFamily="34" charset="-122"/>
                <a:cs typeface="Manrope" pitchFamily="34" charset="-120"/>
              </a:rPr>
              <a:t>Billing checklist &amp; analytics</a:t>
            </a:r>
            <a:endParaRPr lang="en-US" sz="1200" dirty="0"/>
          </a:p>
        </p:txBody>
      </p:sp>
      <p:sp>
        <p:nvSpPr>
          <p:cNvPr id="37" name="Shape 27"/>
          <p:cNvSpPr/>
          <p:nvPr/>
        </p:nvSpPr>
        <p:spPr>
          <a:xfrm>
            <a:off x="8079029" y="2103120"/>
            <a:ext cx="3564026" cy="3886200"/>
          </a:xfrm>
          <a:prstGeom prst="roundRect">
            <a:avLst>
              <a:gd name="adj" fmla="val 4105"/>
            </a:avLst>
          </a:prstGeom>
          <a:solidFill>
            <a:srgbClr val="15191A"/>
          </a:solidFill>
          <a:ln w="9525">
            <a:solidFill>
              <a:srgbClr val="262C2E"/>
            </a:solidFill>
            <a:prstDash val="solid"/>
          </a:ln>
        </p:spPr>
      </p:sp>
      <p:sp>
        <p:nvSpPr>
          <p:cNvPr id="38" name="Text 28"/>
          <p:cNvSpPr txBox="1"/>
          <p:nvPr/>
        </p:nvSpPr>
        <p:spPr>
          <a:xfrm>
            <a:off x="8399069" y="2377440"/>
            <a:ext cx="1828800"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PREMIUM</a:t>
            </a:r>
            <a:endParaRPr lang="en-US" sz="1000" dirty="0"/>
          </a:p>
        </p:txBody>
      </p:sp>
      <p:sp>
        <p:nvSpPr>
          <p:cNvPr id="39" name="Text 29"/>
          <p:cNvSpPr txBox="1"/>
          <p:nvPr/>
        </p:nvSpPr>
        <p:spPr>
          <a:xfrm>
            <a:off x="8399069" y="2697480"/>
            <a:ext cx="3015386" cy="731520"/>
          </a:xfrm>
          <a:prstGeom prst="rect">
            <a:avLst/>
          </a:prstGeom>
          <a:noFill/>
          <a:ln/>
        </p:spPr>
        <p:txBody>
          <a:bodyPr wrap="square" lIns="0" tIns="0" rIns="0" bIns="0" rtlCol="0" anchor="b"/>
          <a:lstStyle/>
          <a:p>
            <a:pPr indent="0" marL="0">
              <a:buNone/>
            </a:pPr>
            <a:r>
              <a:rPr lang="en-US" sz="4000" b="1" dirty="0">
                <a:solidFill>
                  <a:srgbClr val="F4F6F5"/>
                </a:solidFill>
                <a:latin typeface="Epilogue" pitchFamily="34" charset="0"/>
                <a:ea typeface="Epilogue" pitchFamily="34" charset="-122"/>
                <a:cs typeface="Epilogue" pitchFamily="34" charset="-120"/>
              </a:rPr>
              <a:t>₹499</a:t>
            </a:r>
            <a:pPr indent="0" marL="0">
              <a:buNone/>
            </a:pPr>
            <a:r>
              <a:rPr lang="en-US" sz="1200" dirty="0">
                <a:solidFill>
                  <a:srgbClr val="9AA7A2"/>
                </a:solidFill>
                <a:latin typeface="Manrope" pitchFamily="34" charset="0"/>
                <a:ea typeface="Manrope" pitchFamily="34" charset="-122"/>
                <a:cs typeface="Manrope" pitchFamily="34" charset="-120"/>
              </a:rPr>
              <a:t>  / seat / mo</a:t>
            </a:r>
            <a:endParaRPr lang="en-US" sz="4000" dirty="0"/>
          </a:p>
        </p:txBody>
      </p:sp>
      <p:sp>
        <p:nvSpPr>
          <p:cNvPr id="40" name="Text 30"/>
          <p:cNvSpPr txBox="1"/>
          <p:nvPr/>
        </p:nvSpPr>
        <p:spPr>
          <a:xfrm>
            <a:off x="8399069" y="3520440"/>
            <a:ext cx="3015386" cy="274320"/>
          </a:xfrm>
          <a:prstGeom prst="rect">
            <a:avLst/>
          </a:prstGeom>
          <a:noFill/>
          <a:ln/>
        </p:spPr>
        <p:txBody>
          <a:bodyPr wrap="square" lIns="0" tIns="0" rIns="0" bIns="0" rtlCol="0" anchor="t"/>
          <a:lstStyle/>
          <a:p>
            <a:pPr indent="0" marL="0">
              <a:buNone/>
            </a:pPr>
            <a:r>
              <a:rPr lang="en-US" sz="1300" b="1" dirty="0">
                <a:solidFill>
                  <a:srgbClr val="F4F6F5"/>
                </a:solidFill>
                <a:latin typeface="Manrope" pitchFamily="34" charset="0"/>
                <a:ea typeface="Manrope" pitchFamily="34" charset="-122"/>
                <a:cs typeface="Manrope" pitchFamily="34" charset="-120"/>
              </a:rPr>
              <a:t>Studios wanting a custom build.</a:t>
            </a:r>
            <a:endParaRPr lang="en-US" sz="1300" dirty="0"/>
          </a:p>
        </p:txBody>
      </p:sp>
      <p:sp>
        <p:nvSpPr>
          <p:cNvPr id="41" name="Text 31"/>
          <p:cNvSpPr txBox="1"/>
          <p:nvPr/>
        </p:nvSpPr>
        <p:spPr>
          <a:xfrm>
            <a:off x="8399069" y="3794760"/>
            <a:ext cx="3015386" cy="274320"/>
          </a:xfrm>
          <a:prstGeom prst="rect">
            <a:avLst/>
          </a:prstGeom>
          <a:noFill/>
          <a:ln/>
        </p:spPr>
        <p:txBody>
          <a:bodyPr wrap="square" lIns="0" tIns="0" rIns="0" bIns="0" rtlCol="0" anchor="t"/>
          <a:lstStyle/>
          <a:p>
            <a:pPr indent="0" marL="0">
              <a:buNone/>
            </a:pPr>
            <a:r>
              <a:rPr lang="en-US" sz="1150" dirty="0">
                <a:solidFill>
                  <a:srgbClr val="9AA7A2"/>
                </a:solidFill>
                <a:latin typeface="Manrope" pitchFamily="34" charset="0"/>
                <a:ea typeface="Manrope" pitchFamily="34" charset="-122"/>
                <a:cs typeface="Manrope" pitchFamily="34" charset="-120"/>
              </a:rPr>
              <a:t>Custom setup, configured with you</a:t>
            </a:r>
            <a:endParaRPr lang="en-US" sz="1150" dirty="0"/>
          </a:p>
        </p:txBody>
      </p:sp>
      <p:sp>
        <p:nvSpPr>
          <p:cNvPr id="42" name="Shape 32"/>
          <p:cNvSpPr/>
          <p:nvPr/>
        </p:nvSpPr>
        <p:spPr>
          <a:xfrm>
            <a:off x="8399069" y="4206240"/>
            <a:ext cx="2923946" cy="0"/>
          </a:xfrm>
          <a:prstGeom prst="line">
            <a:avLst/>
          </a:prstGeom>
          <a:noFill/>
          <a:ln w="9525">
            <a:solidFill>
              <a:srgbClr val="262C2E"/>
            </a:solidFill>
            <a:prstDash val="solid"/>
          </a:ln>
        </p:spPr>
      </p:sp>
      <p:sp>
        <p:nvSpPr>
          <p:cNvPr id="43" name="Text 33"/>
          <p:cNvSpPr txBox="1"/>
          <p:nvPr/>
        </p:nvSpPr>
        <p:spPr>
          <a:xfrm>
            <a:off x="8399069" y="4343400"/>
            <a:ext cx="3015386" cy="256032"/>
          </a:xfrm>
          <a:prstGeom prst="rect">
            <a:avLst/>
          </a:prstGeom>
          <a:noFill/>
          <a:ln/>
        </p:spPr>
        <p:txBody>
          <a:bodyPr wrap="square" lIns="0" tIns="0" rIns="0" bIns="0" rtlCol="0" anchor="t"/>
          <a:lstStyle/>
          <a:p>
            <a:pPr indent="0" marL="0">
              <a:buNone/>
            </a:pPr>
            <a:r>
              <a:rPr lang="en-US" sz="1100" b="1" dirty="0">
                <a:solidFill>
                  <a:srgbClr val="9AA7A2"/>
                </a:solidFill>
                <a:latin typeface="Manrope" pitchFamily="34" charset="0"/>
                <a:ea typeface="Manrope" pitchFamily="34" charset="-122"/>
                <a:cs typeface="Manrope" pitchFamily="34" charset="-120"/>
              </a:rPr>
              <a:t>Everything in Advanced, plus:</a:t>
            </a:r>
            <a:endParaRPr lang="en-US" sz="1100" dirty="0"/>
          </a:p>
        </p:txBody>
      </p:sp>
      <p:pic>
        <p:nvPicPr>
          <p:cNvPr id="44" name="Image 8" descr="preencoded.png">    </p:cNvPr>
          <p:cNvPicPr>
            <a:picLocks noChangeAspect="1"/>
          </p:cNvPicPr>
          <p:nvPr/>
        </p:nvPicPr>
        <p:blipFill>
          <a:blip r:embed="rId9"/>
          <a:stretch>
            <a:fillRect/>
          </a:stretch>
        </p:blipFill>
        <p:spPr>
          <a:xfrm>
            <a:off x="8399069" y="4700016"/>
            <a:ext cx="182880" cy="182880"/>
          </a:xfrm>
          <a:prstGeom prst="rect">
            <a:avLst/>
          </a:prstGeom>
        </p:spPr>
      </p:pic>
      <p:sp>
        <p:nvSpPr>
          <p:cNvPr id="45" name="Text 34"/>
          <p:cNvSpPr txBox="1"/>
          <p:nvPr/>
        </p:nvSpPr>
        <p:spPr>
          <a:xfrm>
            <a:off x="8673389" y="4654296"/>
            <a:ext cx="2695346" cy="274320"/>
          </a:xfrm>
          <a:prstGeom prst="rect">
            <a:avLst/>
          </a:prstGeom>
          <a:noFill/>
          <a:ln/>
        </p:spPr>
        <p:txBody>
          <a:bodyPr wrap="square" lIns="0" tIns="0" rIns="0" bIns="0" rtlCol="0" anchor="ctr"/>
          <a:lstStyle/>
          <a:p>
            <a:pPr indent="0" marL="0">
              <a:buNone/>
            </a:pPr>
            <a:r>
              <a:rPr lang="en-US" sz="1200" dirty="0">
                <a:solidFill>
                  <a:srgbClr val="F4F6F5"/>
                </a:solidFill>
                <a:latin typeface="Manrope" pitchFamily="34" charset="0"/>
                <a:ea typeface="Manrope" pitchFamily="34" charset="-122"/>
                <a:cs typeface="Manrope" pitchFamily="34" charset="-120"/>
              </a:rPr>
              <a:t>Custom pipeline, categories &amp; roles</a:t>
            </a:r>
            <a:endParaRPr lang="en-US" sz="1200" dirty="0"/>
          </a:p>
        </p:txBody>
      </p:sp>
      <p:pic>
        <p:nvPicPr>
          <p:cNvPr id="46" name="Image 9" descr="preencoded.png">    </p:cNvPr>
          <p:cNvPicPr>
            <a:picLocks noChangeAspect="1"/>
          </p:cNvPicPr>
          <p:nvPr/>
        </p:nvPicPr>
        <p:blipFill>
          <a:blip r:embed="rId10"/>
          <a:stretch>
            <a:fillRect/>
          </a:stretch>
        </p:blipFill>
        <p:spPr>
          <a:xfrm>
            <a:off x="8399069" y="5029200"/>
            <a:ext cx="182880" cy="182880"/>
          </a:xfrm>
          <a:prstGeom prst="rect">
            <a:avLst/>
          </a:prstGeom>
        </p:spPr>
      </p:pic>
      <p:sp>
        <p:nvSpPr>
          <p:cNvPr id="47" name="Text 35"/>
          <p:cNvSpPr txBox="1"/>
          <p:nvPr/>
        </p:nvSpPr>
        <p:spPr>
          <a:xfrm>
            <a:off x="8673389" y="4983480"/>
            <a:ext cx="2695346" cy="274320"/>
          </a:xfrm>
          <a:prstGeom prst="rect">
            <a:avLst/>
          </a:prstGeom>
          <a:noFill/>
          <a:ln/>
        </p:spPr>
        <p:txBody>
          <a:bodyPr wrap="square" lIns="0" tIns="0" rIns="0" bIns="0" rtlCol="0" anchor="ctr"/>
          <a:lstStyle/>
          <a:p>
            <a:pPr indent="0" marL="0">
              <a:buNone/>
            </a:pPr>
            <a:r>
              <a:rPr lang="en-US" sz="1200" dirty="0">
                <a:solidFill>
                  <a:srgbClr val="F4F6F5"/>
                </a:solidFill>
                <a:latin typeface="Manrope" pitchFamily="34" charset="0"/>
                <a:ea typeface="Manrope" pitchFamily="34" charset="-122"/>
                <a:cs typeface="Manrope" pitchFamily="34" charset="-120"/>
              </a:rPr>
              <a:t>Zoho &amp; Sheets sync</a:t>
            </a:r>
            <a:endParaRPr lang="en-US" sz="1200" dirty="0"/>
          </a:p>
        </p:txBody>
      </p:sp>
      <p:pic>
        <p:nvPicPr>
          <p:cNvPr id="48" name="Image 10" descr="preencoded.png">    </p:cNvPr>
          <p:cNvPicPr>
            <a:picLocks noChangeAspect="1"/>
          </p:cNvPicPr>
          <p:nvPr/>
        </p:nvPicPr>
        <p:blipFill>
          <a:blip r:embed="rId11"/>
          <a:stretch>
            <a:fillRect/>
          </a:stretch>
        </p:blipFill>
        <p:spPr>
          <a:xfrm>
            <a:off x="8399069" y="5358384"/>
            <a:ext cx="182880" cy="182880"/>
          </a:xfrm>
          <a:prstGeom prst="rect">
            <a:avLst/>
          </a:prstGeom>
        </p:spPr>
      </p:pic>
      <p:sp>
        <p:nvSpPr>
          <p:cNvPr id="49" name="Text 36"/>
          <p:cNvSpPr txBox="1"/>
          <p:nvPr/>
        </p:nvSpPr>
        <p:spPr>
          <a:xfrm>
            <a:off x="8673389" y="5312664"/>
            <a:ext cx="2695346" cy="274320"/>
          </a:xfrm>
          <a:prstGeom prst="rect">
            <a:avLst/>
          </a:prstGeom>
          <a:noFill/>
          <a:ln/>
        </p:spPr>
        <p:txBody>
          <a:bodyPr wrap="square" lIns="0" tIns="0" rIns="0" bIns="0" rtlCol="0" anchor="ctr"/>
          <a:lstStyle/>
          <a:p>
            <a:pPr indent="0" marL="0">
              <a:buNone/>
            </a:pPr>
            <a:r>
              <a:rPr lang="en-US" sz="1200" dirty="0">
                <a:solidFill>
                  <a:srgbClr val="F4F6F5"/>
                </a:solidFill>
                <a:latin typeface="Manrope" pitchFamily="34" charset="0"/>
                <a:ea typeface="Manrope" pitchFamily="34" charset="-122"/>
                <a:cs typeface="Manrope" pitchFamily="34" charset="-120"/>
              </a:rPr>
              <a:t>SSO &amp; role controls</a:t>
            </a:r>
            <a:endParaRPr lang="en-US" sz="1200" dirty="0"/>
          </a:p>
        </p:txBody>
      </p:sp>
      <p:pic>
        <p:nvPicPr>
          <p:cNvPr id="50" name="Image 11" descr="preencoded.png">    </p:cNvPr>
          <p:cNvPicPr>
            <a:picLocks noChangeAspect="1"/>
          </p:cNvPicPr>
          <p:nvPr/>
        </p:nvPicPr>
        <p:blipFill>
          <a:blip r:embed="rId12"/>
          <a:stretch>
            <a:fillRect/>
          </a:stretch>
        </p:blipFill>
        <p:spPr>
          <a:xfrm>
            <a:off x="8399069" y="5687568"/>
            <a:ext cx="182880" cy="182880"/>
          </a:xfrm>
          <a:prstGeom prst="rect">
            <a:avLst/>
          </a:prstGeom>
        </p:spPr>
      </p:pic>
      <p:sp>
        <p:nvSpPr>
          <p:cNvPr id="51" name="Text 37"/>
          <p:cNvSpPr txBox="1"/>
          <p:nvPr/>
        </p:nvSpPr>
        <p:spPr>
          <a:xfrm>
            <a:off x="8673389" y="5641848"/>
            <a:ext cx="2695346" cy="274320"/>
          </a:xfrm>
          <a:prstGeom prst="rect">
            <a:avLst/>
          </a:prstGeom>
          <a:noFill/>
          <a:ln/>
        </p:spPr>
        <p:txBody>
          <a:bodyPr wrap="square" lIns="0" tIns="0" rIns="0" bIns="0" rtlCol="0" anchor="ctr"/>
          <a:lstStyle/>
          <a:p>
            <a:pPr indent="0" marL="0">
              <a:buNone/>
            </a:pPr>
            <a:r>
              <a:rPr lang="en-US" sz="1200" dirty="0">
                <a:solidFill>
                  <a:srgbClr val="F4F6F5"/>
                </a:solidFill>
                <a:latin typeface="Manrope" pitchFamily="34" charset="0"/>
                <a:ea typeface="Manrope" pitchFamily="34" charset="-122"/>
                <a:cs typeface="Manrope" pitchFamily="34" charset="-120"/>
              </a:rPr>
              <a:t>Onboarding &amp; priority support</a:t>
            </a:r>
            <a:endParaRPr lang="en-US" sz="1200" dirty="0"/>
          </a:p>
        </p:txBody>
      </p:sp>
      <p:sp>
        <p:nvSpPr>
          <p:cNvPr id="52" name="Text 38"/>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100" dirty="0">
                <a:solidFill>
                  <a:srgbClr val="9AA7A2"/>
                </a:solidFill>
                <a:latin typeface="Manrope" pitchFamily="34" charset="0"/>
                <a:ea typeface="Manrope" pitchFamily="34" charset="-122"/>
                <a:cs typeface="Manrope" pitchFamily="34" charset="-120"/>
              </a:rPr>
              <a:t>Per seat, per month. Talk to us about annual billing and larger teams.  ·  GCC clients can be billed in AED or SAR.</a:t>
            </a:r>
            <a:endParaRPr lang="en-US" sz="1100" dirty="0"/>
          </a:p>
        </p:txBody>
      </p:sp>
      <p:sp>
        <p:nvSpPr>
          <p:cNvPr id="53" name="Text 39"/>
          <p:cNvSpPr txBox="1"/>
          <p:nvPr/>
        </p:nvSpPr>
        <p:spPr>
          <a:xfrm>
            <a:off x="548640" y="6446520"/>
            <a:ext cx="5486400" cy="201168"/>
          </a:xfrm>
          <a:prstGeom prst="rect">
            <a:avLst/>
          </a:prstGeom>
          <a:noFill/>
          <a:ln/>
        </p:spPr>
        <p:txBody>
          <a:bodyPr wrap="square" lIns="0" tIns="0" rIns="0" bIns="0" rtlCol="0" anchor="t"/>
          <a:lstStyle/>
          <a:p>
            <a:pPr indent="0" marL="0">
              <a:buNone/>
            </a:pPr>
            <a:r>
              <a:rPr lang="en-US" sz="800" b="1" spc="200" kern="0" dirty="0">
                <a:solidFill>
                  <a:srgbClr val="6B7773"/>
                </a:solidFill>
                <a:latin typeface="Plus Jakarta Sans" pitchFamily="34" charset="0"/>
                <a:ea typeface="Plus Jakarta Sans" pitchFamily="34" charset="-122"/>
                <a:cs typeface="Plus Jakarta Sans" pitchFamily="34" charset="-120"/>
              </a:rPr>
              <a:t>BOD APP  ·  RUN YOUR STUDIO THE CALM WAY</a:t>
            </a:r>
            <a:endParaRPr lang="en-US" sz="800" dirty="0"/>
          </a:p>
        </p:txBody>
      </p:sp>
      <p:sp>
        <p:nvSpPr>
          <p:cNvPr id="54" name="Text 40"/>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b="1" dirty="0">
                <a:solidFill>
                  <a:srgbClr val="6B7773"/>
                </a:solidFill>
                <a:latin typeface="Plus Jakarta Sans" pitchFamily="34" charset="0"/>
                <a:ea typeface="Plus Jakarta Sans" pitchFamily="34" charset="-122"/>
                <a:cs typeface="Plus Jakarta San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12  ·  WHY BOD STUDIO</a:t>
            </a:r>
            <a:endParaRPr lang="en-US" sz="1000" dirty="0"/>
          </a:p>
        </p:txBody>
      </p:sp>
      <p:sp>
        <p:nvSpPr>
          <p:cNvPr id="3" name="Text 1"/>
          <p:cNvSpPr txBox="1"/>
          <p:nvPr/>
        </p:nvSpPr>
        <p:spPr>
          <a:xfrm>
            <a:off x="7985455" y="457200"/>
            <a:ext cx="3657600" cy="228600"/>
          </a:xfrm>
          <a:prstGeom prst="rect">
            <a:avLst/>
          </a:prstGeom>
          <a:noFill/>
          <a:ln/>
        </p:spPr>
        <p:txBody>
          <a:bodyPr wrap="square" lIns="0" tIns="0" rIns="0" bIns="0" rtlCol="0" anchor="t"/>
          <a:lstStyle/>
          <a:p>
            <a:pPr algn="r" indent="0" marL="0">
              <a:buNone/>
            </a:pPr>
            <a:r>
              <a:rPr lang="en-US" sz="900" b="1" spc="200" kern="0" dirty="0">
                <a:solidFill>
                  <a:srgbClr val="6B7773"/>
                </a:solidFill>
                <a:latin typeface="Plus Jakarta Sans" pitchFamily="34" charset="0"/>
                <a:ea typeface="Plus Jakarta Sans" pitchFamily="34" charset="-122"/>
                <a:cs typeface="Plus Jakarta Sans" pitchFamily="34" charset="-120"/>
              </a:rPr>
              <a:t>BOD APP  /  SALES DECK</a:t>
            </a:r>
            <a:endParaRPr lang="en-US" sz="900" dirty="0"/>
          </a:p>
        </p:txBody>
      </p:sp>
      <p:sp>
        <p:nvSpPr>
          <p:cNvPr id="4" name="Text 2"/>
          <p:cNvSpPr txBox="1"/>
          <p:nvPr/>
        </p:nvSpPr>
        <p:spPr>
          <a:xfrm>
            <a:off x="548640" y="804672"/>
            <a:ext cx="5486400" cy="1188720"/>
          </a:xfrm>
          <a:prstGeom prst="rect">
            <a:avLst/>
          </a:prstGeom>
          <a:noFill/>
          <a:ln/>
        </p:spPr>
        <p:txBody>
          <a:bodyPr wrap="square" lIns="0" tIns="0" rIns="0" bIns="0" rtlCol="0" anchor="t"/>
          <a:lstStyle/>
          <a:p>
            <a:pPr indent="0" marL="0">
              <a:buNone/>
            </a:pPr>
            <a:r>
              <a:rPr lang="en-US" sz="3400" b="1" dirty="0">
                <a:solidFill>
                  <a:srgbClr val="F4F6F5"/>
                </a:solidFill>
                <a:latin typeface="Epilogue" pitchFamily="34" charset="0"/>
                <a:ea typeface="Epilogue" pitchFamily="34" charset="-122"/>
                <a:cs typeface="Epilogue" pitchFamily="34" charset="-120"/>
              </a:rPr>
              <a:t>Built by a studio.</a:t>
            </a:r>
            <a:endParaRPr lang="en-US" sz="3400" dirty="0"/>
          </a:p>
          <a:p>
            <a:pPr indent="0" marL="0">
              <a:buNone/>
            </a:pPr>
            <a:r>
              <a:rPr lang="en-US" sz="3400" b="1" dirty="0">
                <a:solidFill>
                  <a:srgbClr val="F4F6F5"/>
                </a:solidFill>
                <a:latin typeface="Epilogue" pitchFamily="34" charset="0"/>
                <a:ea typeface="Epilogue" pitchFamily="34" charset="-122"/>
                <a:cs typeface="Epilogue" pitchFamily="34" charset="-120"/>
              </a:rPr>
              <a:t>Fits your stack.</a:t>
            </a:r>
            <a:endParaRPr lang="en-US" sz="3400" dirty="0"/>
          </a:p>
        </p:txBody>
      </p:sp>
      <p:sp>
        <p:nvSpPr>
          <p:cNvPr id="5" name="Text 3"/>
          <p:cNvSpPr txBox="1"/>
          <p:nvPr/>
        </p:nvSpPr>
        <p:spPr>
          <a:xfrm>
            <a:off x="548640" y="2057400"/>
            <a:ext cx="5303520" cy="822960"/>
          </a:xfrm>
          <a:prstGeom prst="rect">
            <a:avLst/>
          </a:prstGeom>
          <a:noFill/>
          <a:ln/>
        </p:spPr>
        <p:txBody>
          <a:bodyPr wrap="square" lIns="0" tIns="0" rIns="0" bIns="0" rtlCol="0" anchor="t"/>
          <a:lstStyle/>
          <a:p>
            <a:pPr indent="0" marL="0">
              <a:lnSpc>
                <a:spcPct val="120000"/>
              </a:lnSpc>
              <a:buNone/>
            </a:pPr>
            <a:r>
              <a:rPr lang="en-US" sz="1500" dirty="0">
                <a:solidFill>
                  <a:srgbClr val="9AA7A2"/>
                </a:solidFill>
                <a:latin typeface="Manrope" pitchFamily="34" charset="0"/>
                <a:ea typeface="Manrope" pitchFamily="34" charset="-122"/>
                <a:cs typeface="Manrope" pitchFamily="34" charset="-120"/>
              </a:rPr>
              <a:t>Bod App was built to run the Storibod floor before it was offered to anyone else. Every feature earned its place on real client work.</a:t>
            </a:r>
            <a:endParaRPr lang="en-US" sz="1500" dirty="0"/>
          </a:p>
        </p:txBody>
      </p:sp>
      <p:sp>
        <p:nvSpPr>
          <p:cNvPr id="6" name="Shape 4"/>
          <p:cNvSpPr/>
          <p:nvPr/>
        </p:nvSpPr>
        <p:spPr>
          <a:xfrm>
            <a:off x="548640" y="3063240"/>
            <a:ext cx="5303520" cy="1371600"/>
          </a:xfrm>
          <a:prstGeom prst="roundRect">
            <a:avLst>
              <a:gd name="adj" fmla="val 10667"/>
            </a:avLst>
          </a:prstGeom>
          <a:solidFill>
            <a:srgbClr val="15191A"/>
          </a:solidFill>
          <a:ln w="9525">
            <a:solidFill>
              <a:srgbClr val="262C2E"/>
            </a:solidFill>
            <a:prstDash val="solid"/>
          </a:ln>
        </p:spPr>
      </p:sp>
      <p:sp>
        <p:nvSpPr>
          <p:cNvPr id="7" name="Text 5"/>
          <p:cNvSpPr txBox="1"/>
          <p:nvPr/>
        </p:nvSpPr>
        <p:spPr>
          <a:xfrm>
            <a:off x="868680" y="3273552"/>
            <a:ext cx="4572000" cy="201168"/>
          </a:xfrm>
          <a:prstGeom prst="rect">
            <a:avLst/>
          </a:prstGeom>
          <a:noFill/>
          <a:ln/>
        </p:spPr>
        <p:txBody>
          <a:bodyPr wrap="square" lIns="0" tIns="0" rIns="0" bIns="0" rtlCol="0" anchor="t"/>
          <a:lstStyle/>
          <a:p>
            <a:pPr indent="0" marL="0">
              <a:buNone/>
            </a:pPr>
            <a:r>
              <a:rPr lang="en-US" sz="900" b="1" spc="200" kern="0" dirty="0">
                <a:solidFill>
                  <a:srgbClr val="B8E62E"/>
                </a:solidFill>
                <a:latin typeface="Plus Jakarta Sans" pitchFamily="34" charset="0"/>
                <a:ea typeface="Plus Jakarta Sans" pitchFamily="34" charset="-122"/>
                <a:cs typeface="Plus Jakarta Sans" pitchFamily="34" charset="-120"/>
              </a:rPr>
              <a:t>BATTLE-TESTED ON WORK FOR</a:t>
            </a:r>
            <a:endParaRPr lang="en-US" sz="900" dirty="0"/>
          </a:p>
        </p:txBody>
      </p:sp>
      <p:sp>
        <p:nvSpPr>
          <p:cNvPr id="8" name="Text 6"/>
          <p:cNvSpPr txBox="1"/>
          <p:nvPr/>
        </p:nvSpPr>
        <p:spPr>
          <a:xfrm>
            <a:off x="868680" y="3566160"/>
            <a:ext cx="4754880" cy="685800"/>
          </a:xfrm>
          <a:prstGeom prst="rect">
            <a:avLst/>
          </a:prstGeom>
          <a:noFill/>
          <a:ln/>
        </p:spPr>
        <p:txBody>
          <a:bodyPr wrap="square" lIns="0" tIns="0" rIns="0" bIns="0" rtlCol="0" anchor="t"/>
          <a:lstStyle/>
          <a:p>
            <a:pPr indent="0" marL="0">
              <a:lnSpc>
                <a:spcPct val="125000"/>
              </a:lnSpc>
              <a:buNone/>
            </a:pPr>
            <a:r>
              <a:rPr lang="en-US" sz="1500" b="1" dirty="0">
                <a:solidFill>
                  <a:srgbClr val="F4F6F5"/>
                </a:solidFill>
                <a:latin typeface="Epilogue" pitchFamily="34" charset="0"/>
                <a:ea typeface="Epilogue" pitchFamily="34" charset="-122"/>
                <a:cs typeface="Epilogue" pitchFamily="34" charset="-120"/>
              </a:rPr>
              <a:t>OXY  ·  Salison's  ·  Restlon  ·  Papacheri  ·  Vijayan Master's  ·  Plum Stories</a:t>
            </a:r>
            <a:endParaRPr lang="en-US" sz="1500" dirty="0"/>
          </a:p>
        </p:txBody>
      </p:sp>
      <p:sp>
        <p:nvSpPr>
          <p:cNvPr id="9" name="Shape 7"/>
          <p:cNvSpPr/>
          <p:nvPr/>
        </p:nvSpPr>
        <p:spPr>
          <a:xfrm>
            <a:off x="548640" y="4617720"/>
            <a:ext cx="5303520" cy="1417320"/>
          </a:xfrm>
          <a:prstGeom prst="roundRect">
            <a:avLst>
              <a:gd name="adj" fmla="val 10323"/>
            </a:avLst>
          </a:prstGeom>
          <a:solidFill>
            <a:srgbClr val="15191A"/>
          </a:solidFill>
          <a:ln w="9525">
            <a:solidFill>
              <a:srgbClr val="262C2E"/>
            </a:solidFill>
            <a:prstDash val="solid"/>
          </a:ln>
        </p:spPr>
      </p:sp>
      <p:pic>
        <p:nvPicPr>
          <p:cNvPr id="10" name="Image 0" descr="preencoded.png">    </p:cNvPr>
          <p:cNvPicPr>
            <a:picLocks noChangeAspect="1"/>
          </p:cNvPicPr>
          <p:nvPr/>
        </p:nvPicPr>
        <p:blipFill>
          <a:blip r:embed="rId1"/>
          <a:stretch>
            <a:fillRect/>
          </a:stretch>
        </p:blipFill>
        <p:spPr>
          <a:xfrm>
            <a:off x="868680" y="4892040"/>
            <a:ext cx="822960" cy="822960"/>
          </a:xfrm>
          <a:prstGeom prst="rect">
            <a:avLst/>
          </a:prstGeom>
        </p:spPr>
      </p:pic>
      <p:sp>
        <p:nvSpPr>
          <p:cNvPr id="11" name="Text 8"/>
          <p:cNvSpPr txBox="1"/>
          <p:nvPr/>
        </p:nvSpPr>
        <p:spPr>
          <a:xfrm>
            <a:off x="1920240" y="4919472"/>
            <a:ext cx="3657600" cy="320040"/>
          </a:xfrm>
          <a:prstGeom prst="rect">
            <a:avLst/>
          </a:prstGeom>
          <a:noFill/>
          <a:ln/>
        </p:spPr>
        <p:txBody>
          <a:bodyPr wrap="square" lIns="0" tIns="0" rIns="0" bIns="0" rtlCol="0" anchor="t"/>
          <a:lstStyle/>
          <a:p>
            <a:pPr indent="0" marL="0">
              <a:buNone/>
            </a:pPr>
            <a:r>
              <a:rPr lang="en-US" sz="1600" b="1" dirty="0">
                <a:solidFill>
                  <a:srgbClr val="F4F6F5"/>
                </a:solidFill>
                <a:latin typeface="Epilogue" pitchFamily="34" charset="0"/>
                <a:ea typeface="Epilogue" pitchFamily="34" charset="-122"/>
                <a:cs typeface="Epilogue" pitchFamily="34" charset="-120"/>
              </a:rPr>
              <a:t>A Bod Studio product</a:t>
            </a:r>
            <a:endParaRPr lang="en-US" sz="1600" dirty="0"/>
          </a:p>
        </p:txBody>
      </p:sp>
      <p:sp>
        <p:nvSpPr>
          <p:cNvPr id="12" name="Text 9"/>
          <p:cNvSpPr txBox="1"/>
          <p:nvPr/>
        </p:nvSpPr>
        <p:spPr>
          <a:xfrm>
            <a:off x="1920240" y="5257800"/>
            <a:ext cx="3749040" cy="548640"/>
          </a:xfrm>
          <a:prstGeom prst="rect">
            <a:avLst/>
          </a:prstGeom>
          <a:noFill/>
          <a:ln/>
        </p:spPr>
        <p:txBody>
          <a:bodyPr wrap="square" lIns="0" tIns="0" rIns="0" bIns="0" rtlCol="0" anchor="t"/>
          <a:lstStyle/>
          <a:p>
            <a:pPr indent="0" marL="0">
              <a:lnSpc>
                <a:spcPct val="115000"/>
              </a:lnSpc>
              <a:buNone/>
            </a:pPr>
            <a:r>
              <a:rPr lang="en-US" sz="1200" dirty="0">
                <a:solidFill>
                  <a:srgbClr val="9AA7A2"/>
                </a:solidFill>
                <a:latin typeface="Manrope" pitchFamily="34" charset="0"/>
                <a:ea typeface="Manrope" pitchFamily="34" charset="-122"/>
                <a:cs typeface="Manrope" pitchFamily="34" charset="-120"/>
              </a:rPr>
              <a:t>Built by Storibod Creatives in Kochi, Kerala. Support stays human — on WhatsApp.</a:t>
            </a:r>
            <a:endParaRPr lang="en-US" sz="1200" dirty="0"/>
          </a:p>
        </p:txBody>
      </p:sp>
      <p:sp>
        <p:nvSpPr>
          <p:cNvPr id="13" name="Text 10"/>
          <p:cNvSpPr txBox="1"/>
          <p:nvPr/>
        </p:nvSpPr>
        <p:spPr>
          <a:xfrm>
            <a:off x="6263640" y="868680"/>
            <a:ext cx="4572000" cy="201168"/>
          </a:xfrm>
          <a:prstGeom prst="rect">
            <a:avLst/>
          </a:prstGeom>
          <a:noFill/>
          <a:ln/>
        </p:spPr>
        <p:txBody>
          <a:bodyPr wrap="square" lIns="0" tIns="0" rIns="0" bIns="0" rtlCol="0" anchor="t"/>
          <a:lstStyle/>
          <a:p>
            <a:pPr indent="0" marL="0">
              <a:buNone/>
            </a:pPr>
            <a:r>
              <a:rPr lang="en-US" sz="900" b="1" spc="200" kern="0" dirty="0">
                <a:solidFill>
                  <a:srgbClr val="6B7773"/>
                </a:solidFill>
                <a:latin typeface="Plus Jakarta Sans" pitchFamily="34" charset="0"/>
                <a:ea typeface="Plus Jakarta Sans" pitchFamily="34" charset="-122"/>
                <a:cs typeface="Plus Jakarta Sans" pitchFamily="34" charset="-120"/>
              </a:rPr>
              <a:t>PLAYS NICE WITH WHAT YOU USE</a:t>
            </a:r>
            <a:endParaRPr lang="en-US" sz="900" dirty="0"/>
          </a:p>
        </p:txBody>
      </p:sp>
      <p:sp>
        <p:nvSpPr>
          <p:cNvPr id="14" name="Shape 11"/>
          <p:cNvSpPr/>
          <p:nvPr/>
        </p:nvSpPr>
        <p:spPr>
          <a:xfrm>
            <a:off x="6263640" y="1188720"/>
            <a:ext cx="2598268" cy="1188720"/>
          </a:xfrm>
          <a:prstGeom prst="roundRect">
            <a:avLst>
              <a:gd name="adj" fmla="val 12308"/>
            </a:avLst>
          </a:prstGeom>
          <a:solidFill>
            <a:srgbClr val="15191A"/>
          </a:solidFill>
          <a:ln w="9525">
            <a:solidFill>
              <a:srgbClr val="262C2E"/>
            </a:solidFill>
            <a:prstDash val="solid"/>
          </a:ln>
        </p:spPr>
      </p:sp>
      <p:sp>
        <p:nvSpPr>
          <p:cNvPr id="15" name="Shape 12"/>
          <p:cNvSpPr/>
          <p:nvPr/>
        </p:nvSpPr>
        <p:spPr>
          <a:xfrm>
            <a:off x="6537960" y="1499616"/>
            <a:ext cx="566928" cy="566928"/>
          </a:xfrm>
          <a:prstGeom prst="roundRect">
            <a:avLst>
              <a:gd name="adj" fmla="val 28000"/>
            </a:avLst>
          </a:prstGeom>
          <a:solidFill>
            <a:srgbClr val="1C2123"/>
          </a:solidFill>
          <a:ln/>
        </p:spPr>
      </p:sp>
      <p:pic>
        <p:nvPicPr>
          <p:cNvPr id="16" name="Image 1" descr="preencoded.png">    </p:cNvPr>
          <p:cNvPicPr>
            <a:picLocks noChangeAspect="1"/>
          </p:cNvPicPr>
          <p:nvPr/>
        </p:nvPicPr>
        <p:blipFill>
          <a:blip r:embed="rId2"/>
          <a:stretch>
            <a:fillRect/>
          </a:stretch>
        </p:blipFill>
        <p:spPr>
          <a:xfrm>
            <a:off x="6674023" y="1635679"/>
            <a:ext cx="294803" cy="294803"/>
          </a:xfrm>
          <a:prstGeom prst="rect">
            <a:avLst/>
          </a:prstGeom>
        </p:spPr>
      </p:pic>
      <p:sp>
        <p:nvSpPr>
          <p:cNvPr id="17" name="Text 13"/>
          <p:cNvSpPr txBox="1"/>
          <p:nvPr/>
        </p:nvSpPr>
        <p:spPr>
          <a:xfrm>
            <a:off x="7269480" y="1499616"/>
            <a:ext cx="1500988" cy="310896"/>
          </a:xfrm>
          <a:prstGeom prst="rect">
            <a:avLst/>
          </a:prstGeom>
          <a:noFill/>
          <a:ln/>
        </p:spPr>
        <p:txBody>
          <a:bodyPr wrap="square" lIns="0" tIns="0" rIns="0" bIns="0" rtlCol="0" anchor="t"/>
          <a:lstStyle/>
          <a:p>
            <a:pPr indent="0" marL="0">
              <a:buNone/>
            </a:pPr>
            <a:r>
              <a:rPr lang="en-US" sz="1500" b="1" dirty="0">
                <a:solidFill>
                  <a:srgbClr val="F4F6F5"/>
                </a:solidFill>
                <a:latin typeface="Epilogue" pitchFamily="34" charset="0"/>
                <a:ea typeface="Epilogue" pitchFamily="34" charset="-122"/>
                <a:cs typeface="Epilogue" pitchFamily="34" charset="-120"/>
              </a:rPr>
              <a:t>Zoho</a:t>
            </a:r>
            <a:endParaRPr lang="en-US" sz="1500" dirty="0"/>
          </a:p>
        </p:txBody>
      </p:sp>
      <p:sp>
        <p:nvSpPr>
          <p:cNvPr id="18" name="Text 14"/>
          <p:cNvSpPr txBox="1"/>
          <p:nvPr/>
        </p:nvSpPr>
        <p:spPr>
          <a:xfrm>
            <a:off x="7315200" y="1828800"/>
            <a:ext cx="1409548" cy="274320"/>
          </a:xfrm>
          <a:prstGeom prst="rect">
            <a:avLst/>
          </a:prstGeom>
          <a:noFill/>
          <a:ln/>
        </p:spPr>
        <p:txBody>
          <a:bodyPr wrap="square" lIns="0" tIns="0" rIns="0" bIns="0" rtlCol="0" anchor="t"/>
          <a:lstStyle/>
          <a:p>
            <a:pPr indent="0" marL="0">
              <a:buNone/>
            </a:pPr>
            <a:r>
              <a:rPr lang="en-US" sz="1200" dirty="0">
                <a:solidFill>
                  <a:srgbClr val="9AA7A2"/>
                </a:solidFill>
                <a:latin typeface="Manrope" pitchFamily="34" charset="0"/>
                <a:ea typeface="Manrope" pitchFamily="34" charset="-122"/>
                <a:cs typeface="Manrope" pitchFamily="34" charset="-120"/>
              </a:rPr>
              <a:t>Invoices &amp; books</a:t>
            </a:r>
            <a:endParaRPr lang="en-US" sz="1200" dirty="0"/>
          </a:p>
        </p:txBody>
      </p:sp>
      <p:sp>
        <p:nvSpPr>
          <p:cNvPr id="19" name="Shape 15"/>
          <p:cNvSpPr/>
          <p:nvPr/>
        </p:nvSpPr>
        <p:spPr>
          <a:xfrm>
            <a:off x="9044788" y="1188720"/>
            <a:ext cx="2598268" cy="1188720"/>
          </a:xfrm>
          <a:prstGeom prst="roundRect">
            <a:avLst>
              <a:gd name="adj" fmla="val 12308"/>
            </a:avLst>
          </a:prstGeom>
          <a:solidFill>
            <a:srgbClr val="15191A"/>
          </a:solidFill>
          <a:ln w="9525">
            <a:solidFill>
              <a:srgbClr val="262C2E"/>
            </a:solidFill>
            <a:prstDash val="solid"/>
          </a:ln>
        </p:spPr>
      </p:sp>
      <p:sp>
        <p:nvSpPr>
          <p:cNvPr id="20" name="Shape 16"/>
          <p:cNvSpPr/>
          <p:nvPr/>
        </p:nvSpPr>
        <p:spPr>
          <a:xfrm>
            <a:off x="9319108" y="1499616"/>
            <a:ext cx="566928" cy="566928"/>
          </a:xfrm>
          <a:prstGeom prst="roundRect">
            <a:avLst>
              <a:gd name="adj" fmla="val 28000"/>
            </a:avLst>
          </a:prstGeom>
          <a:solidFill>
            <a:srgbClr val="1C2123"/>
          </a:solidFill>
          <a:ln/>
        </p:spPr>
      </p:sp>
      <p:pic>
        <p:nvPicPr>
          <p:cNvPr id="21" name="Image 2" descr="preencoded.png">    </p:cNvPr>
          <p:cNvPicPr>
            <a:picLocks noChangeAspect="1"/>
          </p:cNvPicPr>
          <p:nvPr/>
        </p:nvPicPr>
        <p:blipFill>
          <a:blip r:embed="rId3"/>
          <a:stretch>
            <a:fillRect/>
          </a:stretch>
        </p:blipFill>
        <p:spPr>
          <a:xfrm>
            <a:off x="9455170" y="1635679"/>
            <a:ext cx="294803" cy="294803"/>
          </a:xfrm>
          <a:prstGeom prst="rect">
            <a:avLst/>
          </a:prstGeom>
        </p:spPr>
      </p:pic>
      <p:sp>
        <p:nvSpPr>
          <p:cNvPr id="22" name="Text 17"/>
          <p:cNvSpPr txBox="1"/>
          <p:nvPr/>
        </p:nvSpPr>
        <p:spPr>
          <a:xfrm>
            <a:off x="10050628" y="1499616"/>
            <a:ext cx="1500988" cy="310896"/>
          </a:xfrm>
          <a:prstGeom prst="rect">
            <a:avLst/>
          </a:prstGeom>
          <a:noFill/>
          <a:ln/>
        </p:spPr>
        <p:txBody>
          <a:bodyPr wrap="square" lIns="0" tIns="0" rIns="0" bIns="0" rtlCol="0" anchor="t"/>
          <a:lstStyle/>
          <a:p>
            <a:pPr indent="0" marL="0">
              <a:buNone/>
            </a:pPr>
            <a:r>
              <a:rPr lang="en-US" sz="1500" b="1" dirty="0">
                <a:solidFill>
                  <a:srgbClr val="F4F6F5"/>
                </a:solidFill>
                <a:latin typeface="Epilogue" pitchFamily="34" charset="0"/>
                <a:ea typeface="Epilogue" pitchFamily="34" charset="-122"/>
                <a:cs typeface="Epilogue" pitchFamily="34" charset="-120"/>
              </a:rPr>
              <a:t>Google Sheets</a:t>
            </a:r>
            <a:endParaRPr lang="en-US" sz="1500" dirty="0"/>
          </a:p>
        </p:txBody>
      </p:sp>
      <p:sp>
        <p:nvSpPr>
          <p:cNvPr id="23" name="Text 18"/>
          <p:cNvSpPr txBox="1"/>
          <p:nvPr/>
        </p:nvSpPr>
        <p:spPr>
          <a:xfrm>
            <a:off x="10096348" y="1828800"/>
            <a:ext cx="1409548" cy="274320"/>
          </a:xfrm>
          <a:prstGeom prst="rect">
            <a:avLst/>
          </a:prstGeom>
          <a:noFill/>
          <a:ln/>
        </p:spPr>
        <p:txBody>
          <a:bodyPr wrap="square" lIns="0" tIns="0" rIns="0" bIns="0" rtlCol="0" anchor="t"/>
          <a:lstStyle/>
          <a:p>
            <a:pPr indent="0" marL="0">
              <a:buNone/>
            </a:pPr>
            <a:r>
              <a:rPr lang="en-US" sz="1200" dirty="0">
                <a:solidFill>
                  <a:srgbClr val="9AA7A2"/>
                </a:solidFill>
                <a:latin typeface="Manrope" pitchFamily="34" charset="0"/>
                <a:ea typeface="Manrope" pitchFamily="34" charset="-122"/>
                <a:cs typeface="Manrope" pitchFamily="34" charset="-120"/>
              </a:rPr>
              <a:t>Live task sync</a:t>
            </a:r>
            <a:endParaRPr lang="en-US" sz="1200" dirty="0"/>
          </a:p>
        </p:txBody>
      </p:sp>
      <p:sp>
        <p:nvSpPr>
          <p:cNvPr id="24" name="Shape 19"/>
          <p:cNvSpPr/>
          <p:nvPr/>
        </p:nvSpPr>
        <p:spPr>
          <a:xfrm>
            <a:off x="6263640" y="2560320"/>
            <a:ext cx="2598268" cy="1188720"/>
          </a:xfrm>
          <a:prstGeom prst="roundRect">
            <a:avLst>
              <a:gd name="adj" fmla="val 12308"/>
            </a:avLst>
          </a:prstGeom>
          <a:solidFill>
            <a:srgbClr val="15191A"/>
          </a:solidFill>
          <a:ln w="9525">
            <a:solidFill>
              <a:srgbClr val="262C2E"/>
            </a:solidFill>
            <a:prstDash val="solid"/>
          </a:ln>
        </p:spPr>
      </p:sp>
      <p:sp>
        <p:nvSpPr>
          <p:cNvPr id="25" name="Shape 20"/>
          <p:cNvSpPr/>
          <p:nvPr/>
        </p:nvSpPr>
        <p:spPr>
          <a:xfrm>
            <a:off x="6537960" y="2871216"/>
            <a:ext cx="566928" cy="566928"/>
          </a:xfrm>
          <a:prstGeom prst="roundRect">
            <a:avLst>
              <a:gd name="adj" fmla="val 28000"/>
            </a:avLst>
          </a:prstGeom>
          <a:solidFill>
            <a:srgbClr val="1C2123"/>
          </a:solidFill>
          <a:ln/>
        </p:spPr>
      </p:sp>
      <p:pic>
        <p:nvPicPr>
          <p:cNvPr id="26" name="Image 3" descr="preencoded.png">    </p:cNvPr>
          <p:cNvPicPr>
            <a:picLocks noChangeAspect="1"/>
          </p:cNvPicPr>
          <p:nvPr/>
        </p:nvPicPr>
        <p:blipFill>
          <a:blip r:embed="rId4"/>
          <a:stretch>
            <a:fillRect/>
          </a:stretch>
        </p:blipFill>
        <p:spPr>
          <a:xfrm>
            <a:off x="6674023" y="3007279"/>
            <a:ext cx="294803" cy="294803"/>
          </a:xfrm>
          <a:prstGeom prst="rect">
            <a:avLst/>
          </a:prstGeom>
        </p:spPr>
      </p:pic>
      <p:sp>
        <p:nvSpPr>
          <p:cNvPr id="27" name="Text 21"/>
          <p:cNvSpPr txBox="1"/>
          <p:nvPr/>
        </p:nvSpPr>
        <p:spPr>
          <a:xfrm>
            <a:off x="7269480" y="2871216"/>
            <a:ext cx="1500988" cy="310896"/>
          </a:xfrm>
          <a:prstGeom prst="rect">
            <a:avLst/>
          </a:prstGeom>
          <a:noFill/>
          <a:ln/>
        </p:spPr>
        <p:txBody>
          <a:bodyPr wrap="square" lIns="0" tIns="0" rIns="0" bIns="0" rtlCol="0" anchor="t"/>
          <a:lstStyle/>
          <a:p>
            <a:pPr indent="0" marL="0">
              <a:buNone/>
            </a:pPr>
            <a:r>
              <a:rPr lang="en-US" sz="1500" b="1" dirty="0">
                <a:solidFill>
                  <a:srgbClr val="F4F6F5"/>
                </a:solidFill>
                <a:latin typeface="Epilogue" pitchFamily="34" charset="0"/>
                <a:ea typeface="Epilogue" pitchFamily="34" charset="-122"/>
                <a:cs typeface="Epilogue" pitchFamily="34" charset="-120"/>
              </a:rPr>
              <a:t>WhatsApp</a:t>
            </a:r>
            <a:endParaRPr lang="en-US" sz="1500" dirty="0"/>
          </a:p>
        </p:txBody>
      </p:sp>
      <p:sp>
        <p:nvSpPr>
          <p:cNvPr id="28" name="Text 22"/>
          <p:cNvSpPr txBox="1"/>
          <p:nvPr/>
        </p:nvSpPr>
        <p:spPr>
          <a:xfrm>
            <a:off x="7315200" y="3200400"/>
            <a:ext cx="1409548" cy="274320"/>
          </a:xfrm>
          <a:prstGeom prst="rect">
            <a:avLst/>
          </a:prstGeom>
          <a:noFill/>
          <a:ln/>
        </p:spPr>
        <p:txBody>
          <a:bodyPr wrap="square" lIns="0" tIns="0" rIns="0" bIns="0" rtlCol="0" anchor="t"/>
          <a:lstStyle/>
          <a:p>
            <a:pPr indent="0" marL="0">
              <a:buNone/>
            </a:pPr>
            <a:r>
              <a:rPr lang="en-US" sz="1200" dirty="0">
                <a:solidFill>
                  <a:srgbClr val="9AA7A2"/>
                </a:solidFill>
                <a:latin typeface="Manrope" pitchFamily="34" charset="0"/>
                <a:ea typeface="Manrope" pitchFamily="34" charset="-122"/>
                <a:cs typeface="Manrope" pitchFamily="34" charset="-120"/>
              </a:rPr>
              <a:t>Nudges &amp; demos</a:t>
            </a:r>
            <a:endParaRPr lang="en-US" sz="1200" dirty="0"/>
          </a:p>
        </p:txBody>
      </p:sp>
      <p:sp>
        <p:nvSpPr>
          <p:cNvPr id="29" name="Shape 23"/>
          <p:cNvSpPr/>
          <p:nvPr/>
        </p:nvSpPr>
        <p:spPr>
          <a:xfrm>
            <a:off x="9044788" y="2560320"/>
            <a:ext cx="2598268" cy="1188720"/>
          </a:xfrm>
          <a:prstGeom prst="roundRect">
            <a:avLst>
              <a:gd name="adj" fmla="val 12308"/>
            </a:avLst>
          </a:prstGeom>
          <a:solidFill>
            <a:srgbClr val="15191A"/>
          </a:solidFill>
          <a:ln w="9525">
            <a:solidFill>
              <a:srgbClr val="262C2E"/>
            </a:solidFill>
            <a:prstDash val="solid"/>
          </a:ln>
        </p:spPr>
      </p:sp>
      <p:sp>
        <p:nvSpPr>
          <p:cNvPr id="30" name="Shape 24"/>
          <p:cNvSpPr/>
          <p:nvPr/>
        </p:nvSpPr>
        <p:spPr>
          <a:xfrm>
            <a:off x="9319108" y="2871216"/>
            <a:ext cx="566928" cy="566928"/>
          </a:xfrm>
          <a:prstGeom prst="roundRect">
            <a:avLst>
              <a:gd name="adj" fmla="val 28000"/>
            </a:avLst>
          </a:prstGeom>
          <a:solidFill>
            <a:srgbClr val="1C2123"/>
          </a:solidFill>
          <a:ln/>
        </p:spPr>
      </p:sp>
      <p:pic>
        <p:nvPicPr>
          <p:cNvPr id="31" name="Image 4" descr="preencoded.png">    </p:cNvPr>
          <p:cNvPicPr>
            <a:picLocks noChangeAspect="1"/>
          </p:cNvPicPr>
          <p:nvPr/>
        </p:nvPicPr>
        <p:blipFill>
          <a:blip r:embed="rId5"/>
          <a:stretch>
            <a:fillRect/>
          </a:stretch>
        </p:blipFill>
        <p:spPr>
          <a:xfrm>
            <a:off x="9455170" y="3007279"/>
            <a:ext cx="294803" cy="294803"/>
          </a:xfrm>
          <a:prstGeom prst="rect">
            <a:avLst/>
          </a:prstGeom>
        </p:spPr>
      </p:pic>
      <p:sp>
        <p:nvSpPr>
          <p:cNvPr id="32" name="Text 25"/>
          <p:cNvSpPr txBox="1"/>
          <p:nvPr/>
        </p:nvSpPr>
        <p:spPr>
          <a:xfrm>
            <a:off x="10050628" y="2871216"/>
            <a:ext cx="1500988" cy="310896"/>
          </a:xfrm>
          <a:prstGeom prst="rect">
            <a:avLst/>
          </a:prstGeom>
          <a:noFill/>
          <a:ln/>
        </p:spPr>
        <p:txBody>
          <a:bodyPr wrap="square" lIns="0" tIns="0" rIns="0" bIns="0" rtlCol="0" anchor="t"/>
          <a:lstStyle/>
          <a:p>
            <a:pPr indent="0" marL="0">
              <a:buNone/>
            </a:pPr>
            <a:r>
              <a:rPr lang="en-US" sz="1500" b="1" dirty="0">
                <a:solidFill>
                  <a:srgbClr val="F4F6F5"/>
                </a:solidFill>
                <a:latin typeface="Epilogue" pitchFamily="34" charset="0"/>
                <a:ea typeface="Epilogue" pitchFamily="34" charset="-122"/>
                <a:cs typeface="Epilogue" pitchFamily="34" charset="-120"/>
              </a:rPr>
              <a:t>iOS</a:t>
            </a:r>
            <a:endParaRPr lang="en-US" sz="1500" dirty="0"/>
          </a:p>
        </p:txBody>
      </p:sp>
      <p:sp>
        <p:nvSpPr>
          <p:cNvPr id="33" name="Text 26"/>
          <p:cNvSpPr txBox="1"/>
          <p:nvPr/>
        </p:nvSpPr>
        <p:spPr>
          <a:xfrm>
            <a:off x="10096348" y="3200400"/>
            <a:ext cx="1409548" cy="274320"/>
          </a:xfrm>
          <a:prstGeom prst="rect">
            <a:avLst/>
          </a:prstGeom>
          <a:noFill/>
          <a:ln/>
        </p:spPr>
        <p:txBody>
          <a:bodyPr wrap="square" lIns="0" tIns="0" rIns="0" bIns="0" rtlCol="0" anchor="t"/>
          <a:lstStyle/>
          <a:p>
            <a:pPr indent="0" marL="0">
              <a:buNone/>
            </a:pPr>
            <a:r>
              <a:rPr lang="en-US" sz="1200" dirty="0">
                <a:solidFill>
                  <a:srgbClr val="9AA7A2"/>
                </a:solidFill>
                <a:latin typeface="Manrope" pitchFamily="34" charset="0"/>
                <a:ea typeface="Manrope" pitchFamily="34" charset="-122"/>
                <a:cs typeface="Manrope" pitchFamily="34" charset="-120"/>
              </a:rPr>
              <a:t>iPhone &amp; iPad</a:t>
            </a:r>
            <a:endParaRPr lang="en-US" sz="1200" dirty="0"/>
          </a:p>
        </p:txBody>
      </p:sp>
      <p:sp>
        <p:nvSpPr>
          <p:cNvPr id="34" name="Shape 27"/>
          <p:cNvSpPr/>
          <p:nvPr/>
        </p:nvSpPr>
        <p:spPr>
          <a:xfrm>
            <a:off x="6263640" y="3931920"/>
            <a:ext cx="2598268" cy="1188720"/>
          </a:xfrm>
          <a:prstGeom prst="roundRect">
            <a:avLst>
              <a:gd name="adj" fmla="val 12308"/>
            </a:avLst>
          </a:prstGeom>
          <a:solidFill>
            <a:srgbClr val="15191A"/>
          </a:solidFill>
          <a:ln w="9525">
            <a:solidFill>
              <a:srgbClr val="262C2E"/>
            </a:solidFill>
            <a:prstDash val="solid"/>
          </a:ln>
        </p:spPr>
      </p:sp>
      <p:sp>
        <p:nvSpPr>
          <p:cNvPr id="35" name="Shape 28"/>
          <p:cNvSpPr/>
          <p:nvPr/>
        </p:nvSpPr>
        <p:spPr>
          <a:xfrm>
            <a:off x="6537960" y="4242816"/>
            <a:ext cx="566928" cy="566928"/>
          </a:xfrm>
          <a:prstGeom prst="roundRect">
            <a:avLst>
              <a:gd name="adj" fmla="val 28000"/>
            </a:avLst>
          </a:prstGeom>
          <a:solidFill>
            <a:srgbClr val="1C2123"/>
          </a:solidFill>
          <a:ln/>
        </p:spPr>
      </p:sp>
      <p:pic>
        <p:nvPicPr>
          <p:cNvPr id="36" name="Image 5" descr="preencoded.png">    </p:cNvPr>
          <p:cNvPicPr>
            <a:picLocks noChangeAspect="1"/>
          </p:cNvPicPr>
          <p:nvPr/>
        </p:nvPicPr>
        <p:blipFill>
          <a:blip r:embed="rId6"/>
          <a:stretch>
            <a:fillRect/>
          </a:stretch>
        </p:blipFill>
        <p:spPr>
          <a:xfrm>
            <a:off x="6674023" y="4378879"/>
            <a:ext cx="294803" cy="294803"/>
          </a:xfrm>
          <a:prstGeom prst="rect">
            <a:avLst/>
          </a:prstGeom>
        </p:spPr>
      </p:pic>
      <p:sp>
        <p:nvSpPr>
          <p:cNvPr id="37" name="Text 29"/>
          <p:cNvSpPr txBox="1"/>
          <p:nvPr/>
        </p:nvSpPr>
        <p:spPr>
          <a:xfrm>
            <a:off x="7269480" y="4242816"/>
            <a:ext cx="1500988" cy="310896"/>
          </a:xfrm>
          <a:prstGeom prst="rect">
            <a:avLst/>
          </a:prstGeom>
          <a:noFill/>
          <a:ln/>
        </p:spPr>
        <p:txBody>
          <a:bodyPr wrap="square" lIns="0" tIns="0" rIns="0" bIns="0" rtlCol="0" anchor="t"/>
          <a:lstStyle/>
          <a:p>
            <a:pPr indent="0" marL="0">
              <a:buNone/>
            </a:pPr>
            <a:r>
              <a:rPr lang="en-US" sz="1500" b="1" dirty="0">
                <a:solidFill>
                  <a:srgbClr val="F4F6F5"/>
                </a:solidFill>
                <a:latin typeface="Epilogue" pitchFamily="34" charset="0"/>
                <a:ea typeface="Epilogue" pitchFamily="34" charset="-122"/>
                <a:cs typeface="Epilogue" pitchFamily="34" charset="-120"/>
              </a:rPr>
              <a:t>Android</a:t>
            </a:r>
            <a:endParaRPr lang="en-US" sz="1500" dirty="0"/>
          </a:p>
        </p:txBody>
      </p:sp>
      <p:sp>
        <p:nvSpPr>
          <p:cNvPr id="38" name="Text 30"/>
          <p:cNvSpPr txBox="1"/>
          <p:nvPr/>
        </p:nvSpPr>
        <p:spPr>
          <a:xfrm>
            <a:off x="7315200" y="4572000"/>
            <a:ext cx="1409548" cy="274320"/>
          </a:xfrm>
          <a:prstGeom prst="rect">
            <a:avLst/>
          </a:prstGeom>
          <a:noFill/>
          <a:ln/>
        </p:spPr>
        <p:txBody>
          <a:bodyPr wrap="square" lIns="0" tIns="0" rIns="0" bIns="0" rtlCol="0" anchor="t"/>
          <a:lstStyle/>
          <a:p>
            <a:pPr indent="0" marL="0">
              <a:buNone/>
            </a:pPr>
            <a:r>
              <a:rPr lang="en-US" sz="1200" dirty="0">
                <a:solidFill>
                  <a:srgbClr val="9AA7A2"/>
                </a:solidFill>
                <a:latin typeface="Manrope" pitchFamily="34" charset="0"/>
                <a:ea typeface="Manrope" pitchFamily="34" charset="-122"/>
                <a:cs typeface="Manrope" pitchFamily="34" charset="-120"/>
              </a:rPr>
              <a:t>Phone &amp; tablet</a:t>
            </a:r>
            <a:endParaRPr lang="en-US" sz="1200" dirty="0"/>
          </a:p>
        </p:txBody>
      </p:sp>
      <p:sp>
        <p:nvSpPr>
          <p:cNvPr id="39" name="Shape 31"/>
          <p:cNvSpPr/>
          <p:nvPr/>
        </p:nvSpPr>
        <p:spPr>
          <a:xfrm>
            <a:off x="9044788" y="3931920"/>
            <a:ext cx="2598268" cy="1188720"/>
          </a:xfrm>
          <a:prstGeom prst="roundRect">
            <a:avLst>
              <a:gd name="adj" fmla="val 12308"/>
            </a:avLst>
          </a:prstGeom>
          <a:solidFill>
            <a:srgbClr val="15191A"/>
          </a:solidFill>
          <a:ln w="9525">
            <a:solidFill>
              <a:srgbClr val="262C2E"/>
            </a:solidFill>
            <a:prstDash val="solid"/>
          </a:ln>
        </p:spPr>
      </p:sp>
      <p:sp>
        <p:nvSpPr>
          <p:cNvPr id="40" name="Shape 32"/>
          <p:cNvSpPr/>
          <p:nvPr/>
        </p:nvSpPr>
        <p:spPr>
          <a:xfrm>
            <a:off x="9319108" y="4242816"/>
            <a:ext cx="566928" cy="566928"/>
          </a:xfrm>
          <a:prstGeom prst="roundRect">
            <a:avLst>
              <a:gd name="adj" fmla="val 28000"/>
            </a:avLst>
          </a:prstGeom>
          <a:solidFill>
            <a:srgbClr val="1C2123"/>
          </a:solidFill>
          <a:ln/>
        </p:spPr>
      </p:sp>
      <p:pic>
        <p:nvPicPr>
          <p:cNvPr id="41" name="Image 6" descr="preencoded.png">    </p:cNvPr>
          <p:cNvPicPr>
            <a:picLocks noChangeAspect="1"/>
          </p:cNvPicPr>
          <p:nvPr/>
        </p:nvPicPr>
        <p:blipFill>
          <a:blip r:embed="rId7"/>
          <a:stretch>
            <a:fillRect/>
          </a:stretch>
        </p:blipFill>
        <p:spPr>
          <a:xfrm>
            <a:off x="9455170" y="4378879"/>
            <a:ext cx="294803" cy="294803"/>
          </a:xfrm>
          <a:prstGeom prst="rect">
            <a:avLst/>
          </a:prstGeom>
        </p:spPr>
      </p:pic>
      <p:sp>
        <p:nvSpPr>
          <p:cNvPr id="42" name="Text 33"/>
          <p:cNvSpPr txBox="1"/>
          <p:nvPr/>
        </p:nvSpPr>
        <p:spPr>
          <a:xfrm>
            <a:off x="10050628" y="4242816"/>
            <a:ext cx="1500988" cy="310896"/>
          </a:xfrm>
          <a:prstGeom prst="rect">
            <a:avLst/>
          </a:prstGeom>
          <a:noFill/>
          <a:ln/>
        </p:spPr>
        <p:txBody>
          <a:bodyPr wrap="square" lIns="0" tIns="0" rIns="0" bIns="0" rtlCol="0" anchor="t"/>
          <a:lstStyle/>
          <a:p>
            <a:pPr indent="0" marL="0">
              <a:buNone/>
            </a:pPr>
            <a:r>
              <a:rPr lang="en-US" sz="1500" b="1" dirty="0">
                <a:solidFill>
                  <a:srgbClr val="F4F6F5"/>
                </a:solidFill>
                <a:latin typeface="Epilogue" pitchFamily="34" charset="0"/>
                <a:ea typeface="Epilogue" pitchFamily="34" charset="-122"/>
                <a:cs typeface="Epilogue" pitchFamily="34" charset="-120"/>
              </a:rPr>
              <a:t>Web</a:t>
            </a:r>
            <a:endParaRPr lang="en-US" sz="1500" dirty="0"/>
          </a:p>
        </p:txBody>
      </p:sp>
      <p:sp>
        <p:nvSpPr>
          <p:cNvPr id="43" name="Text 34"/>
          <p:cNvSpPr txBox="1"/>
          <p:nvPr/>
        </p:nvSpPr>
        <p:spPr>
          <a:xfrm>
            <a:off x="10096348" y="4572000"/>
            <a:ext cx="1409548" cy="274320"/>
          </a:xfrm>
          <a:prstGeom prst="rect">
            <a:avLst/>
          </a:prstGeom>
          <a:noFill/>
          <a:ln/>
        </p:spPr>
        <p:txBody>
          <a:bodyPr wrap="square" lIns="0" tIns="0" rIns="0" bIns="0" rtlCol="0" anchor="t"/>
          <a:lstStyle/>
          <a:p>
            <a:pPr indent="0" marL="0">
              <a:buNone/>
            </a:pPr>
            <a:r>
              <a:rPr lang="en-US" sz="1200" dirty="0">
                <a:solidFill>
                  <a:srgbClr val="9AA7A2"/>
                </a:solidFill>
                <a:latin typeface="Manrope" pitchFamily="34" charset="0"/>
                <a:ea typeface="Manrope" pitchFamily="34" charset="-122"/>
                <a:cs typeface="Manrope" pitchFamily="34" charset="-120"/>
              </a:rPr>
              <a:t>Any browser</a:t>
            </a:r>
            <a:endParaRPr lang="en-US" sz="1200" dirty="0"/>
          </a:p>
        </p:txBody>
      </p:sp>
      <p:sp>
        <p:nvSpPr>
          <p:cNvPr id="44" name="Text 35"/>
          <p:cNvSpPr txBox="1"/>
          <p:nvPr/>
        </p:nvSpPr>
        <p:spPr>
          <a:xfrm>
            <a:off x="548640" y="6446520"/>
            <a:ext cx="5486400" cy="201168"/>
          </a:xfrm>
          <a:prstGeom prst="rect">
            <a:avLst/>
          </a:prstGeom>
          <a:noFill/>
          <a:ln/>
        </p:spPr>
        <p:txBody>
          <a:bodyPr wrap="square" lIns="0" tIns="0" rIns="0" bIns="0" rtlCol="0" anchor="t"/>
          <a:lstStyle/>
          <a:p>
            <a:pPr indent="0" marL="0">
              <a:buNone/>
            </a:pPr>
            <a:r>
              <a:rPr lang="en-US" sz="800" b="1" spc="200" kern="0" dirty="0">
                <a:solidFill>
                  <a:srgbClr val="6B7773"/>
                </a:solidFill>
                <a:latin typeface="Plus Jakarta Sans" pitchFamily="34" charset="0"/>
                <a:ea typeface="Plus Jakarta Sans" pitchFamily="34" charset="-122"/>
                <a:cs typeface="Plus Jakarta Sans" pitchFamily="34" charset="-120"/>
              </a:rPr>
              <a:t>BOD APP  ·  RUN YOUR STUDIO THE CALM WAY</a:t>
            </a:r>
            <a:endParaRPr lang="en-US" sz="800" dirty="0"/>
          </a:p>
        </p:txBody>
      </p:sp>
      <p:sp>
        <p:nvSpPr>
          <p:cNvPr id="45" name="Text 36"/>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b="1" dirty="0">
                <a:solidFill>
                  <a:srgbClr val="6B7773"/>
                </a:solidFill>
                <a:latin typeface="Plus Jakarta Sans" pitchFamily="34" charset="0"/>
                <a:ea typeface="Plus Jakarta Sans" pitchFamily="34" charset="-122"/>
                <a:cs typeface="Plus Jakarta San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13  ·  GETTING STARTED</a:t>
            </a:r>
            <a:endParaRPr lang="en-US" sz="1000" dirty="0"/>
          </a:p>
        </p:txBody>
      </p:sp>
      <p:sp>
        <p:nvSpPr>
          <p:cNvPr id="3" name="Text 1"/>
          <p:cNvSpPr txBox="1"/>
          <p:nvPr/>
        </p:nvSpPr>
        <p:spPr>
          <a:xfrm>
            <a:off x="7985455" y="457200"/>
            <a:ext cx="3657600" cy="228600"/>
          </a:xfrm>
          <a:prstGeom prst="rect">
            <a:avLst/>
          </a:prstGeom>
          <a:noFill/>
          <a:ln/>
        </p:spPr>
        <p:txBody>
          <a:bodyPr wrap="square" lIns="0" tIns="0" rIns="0" bIns="0" rtlCol="0" anchor="t"/>
          <a:lstStyle/>
          <a:p>
            <a:pPr algn="r" indent="0" marL="0">
              <a:buNone/>
            </a:pPr>
            <a:r>
              <a:rPr lang="en-US" sz="900" b="1" spc="200" kern="0" dirty="0">
                <a:solidFill>
                  <a:srgbClr val="6B7773"/>
                </a:solidFill>
                <a:latin typeface="Plus Jakarta Sans" pitchFamily="34" charset="0"/>
                <a:ea typeface="Plus Jakarta Sans" pitchFamily="34" charset="-122"/>
                <a:cs typeface="Plus Jakarta Sans" pitchFamily="34" charset="-120"/>
              </a:rPr>
              <a:t>BOD APP  /  SALES DECK</a:t>
            </a:r>
            <a:endParaRPr lang="en-US" sz="9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indent="0" marL="0">
              <a:buNone/>
            </a:pPr>
            <a:r>
              <a:rPr lang="en-US" sz="3400" b="1" dirty="0">
                <a:solidFill>
                  <a:srgbClr val="F4F6F5"/>
                </a:solidFill>
                <a:latin typeface="Epilogue" pitchFamily="34" charset="0"/>
                <a:ea typeface="Epilogue" pitchFamily="34" charset="-122"/>
                <a:cs typeface="Epilogue" pitchFamily="34" charset="-120"/>
              </a:rPr>
              <a:t>From first call to a decision in 14 days.</a:t>
            </a:r>
            <a:endParaRPr lang="en-US" sz="3400" dirty="0"/>
          </a:p>
        </p:txBody>
      </p:sp>
      <p:sp>
        <p:nvSpPr>
          <p:cNvPr id="5" name="Text 3"/>
          <p:cNvSpPr txBox="1"/>
          <p:nvPr/>
        </p:nvSpPr>
        <p:spPr>
          <a:xfrm>
            <a:off x="548640" y="1536192"/>
            <a:ext cx="11094415" cy="548640"/>
          </a:xfrm>
          <a:prstGeom prst="rect">
            <a:avLst/>
          </a:prstGeom>
          <a:noFill/>
          <a:ln/>
        </p:spPr>
        <p:txBody>
          <a:bodyPr wrap="square" lIns="0" tIns="0" rIns="0" bIns="0" rtlCol="0" anchor="t"/>
          <a:lstStyle/>
          <a:p>
            <a:pPr indent="0" marL="0">
              <a:lnSpc>
                <a:spcPct val="115000"/>
              </a:lnSpc>
              <a:buNone/>
            </a:pPr>
            <a:r>
              <a:rPr lang="en-US" sz="1500" dirty="0">
                <a:solidFill>
                  <a:srgbClr val="9AA7A2"/>
                </a:solidFill>
                <a:latin typeface="Manrope" pitchFamily="34" charset="0"/>
                <a:ea typeface="Manrope" pitchFamily="34" charset="-122"/>
                <a:cs typeface="Manrope" pitchFamily="34" charset="-120"/>
              </a:rPr>
              <a:t>A real workflow, not a generic demo.</a:t>
            </a:r>
            <a:endParaRPr lang="en-US" sz="1500" dirty="0"/>
          </a:p>
        </p:txBody>
      </p:sp>
      <p:sp>
        <p:nvSpPr>
          <p:cNvPr id="6" name="Shape 4"/>
          <p:cNvSpPr/>
          <p:nvPr/>
        </p:nvSpPr>
        <p:spPr>
          <a:xfrm>
            <a:off x="731520" y="2697480"/>
            <a:ext cx="10728655" cy="0"/>
          </a:xfrm>
          <a:prstGeom prst="line">
            <a:avLst/>
          </a:prstGeom>
          <a:noFill/>
          <a:ln w="25400">
            <a:solidFill>
              <a:srgbClr val="B8E62E"/>
            </a:solidFill>
            <a:prstDash val="solid"/>
          </a:ln>
        </p:spPr>
      </p:sp>
      <p:sp>
        <p:nvSpPr>
          <p:cNvPr id="7" name="Shape 5"/>
          <p:cNvSpPr/>
          <p:nvPr/>
        </p:nvSpPr>
        <p:spPr>
          <a:xfrm>
            <a:off x="594360" y="2532888"/>
            <a:ext cx="329184" cy="329184"/>
          </a:xfrm>
          <a:prstGeom prst="ellipse">
            <a:avLst/>
          </a:prstGeom>
          <a:solidFill>
            <a:srgbClr val="0B0D0C"/>
          </a:solidFill>
          <a:ln w="25400">
            <a:solidFill>
              <a:srgbClr val="B8E62E"/>
            </a:solidFill>
            <a:prstDash val="solid"/>
          </a:ln>
        </p:spPr>
      </p:sp>
      <p:sp>
        <p:nvSpPr>
          <p:cNvPr id="8" name="Shape 6"/>
          <p:cNvSpPr/>
          <p:nvPr/>
        </p:nvSpPr>
        <p:spPr>
          <a:xfrm>
            <a:off x="548640" y="3154680"/>
            <a:ext cx="2602154" cy="2331720"/>
          </a:xfrm>
          <a:prstGeom prst="roundRect">
            <a:avLst>
              <a:gd name="adj" fmla="val 6275"/>
            </a:avLst>
          </a:prstGeom>
          <a:solidFill>
            <a:srgbClr val="15191A"/>
          </a:solidFill>
          <a:ln w="9525">
            <a:solidFill>
              <a:srgbClr val="262C2E"/>
            </a:solidFill>
            <a:prstDash val="solid"/>
          </a:ln>
        </p:spPr>
      </p:sp>
      <p:sp>
        <p:nvSpPr>
          <p:cNvPr id="9" name="Text 7"/>
          <p:cNvSpPr txBox="1"/>
          <p:nvPr/>
        </p:nvSpPr>
        <p:spPr>
          <a:xfrm>
            <a:off x="822960" y="3383280"/>
            <a:ext cx="2144954"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DAY 0</a:t>
            </a:r>
            <a:endParaRPr lang="en-US" sz="1000" dirty="0"/>
          </a:p>
        </p:txBody>
      </p:sp>
      <p:sp>
        <p:nvSpPr>
          <p:cNvPr id="10" name="Text 8"/>
          <p:cNvSpPr txBox="1"/>
          <p:nvPr/>
        </p:nvSpPr>
        <p:spPr>
          <a:xfrm>
            <a:off x="822960" y="3703320"/>
            <a:ext cx="2144954" cy="365760"/>
          </a:xfrm>
          <a:prstGeom prst="rect">
            <a:avLst/>
          </a:prstGeom>
          <a:noFill/>
          <a:ln/>
        </p:spPr>
        <p:txBody>
          <a:bodyPr wrap="square" lIns="0" tIns="0" rIns="0" bIns="0" rtlCol="0" anchor="t"/>
          <a:lstStyle/>
          <a:p>
            <a:pPr indent="0" marL="0">
              <a:buNone/>
            </a:pPr>
            <a:r>
              <a:rPr lang="en-US" sz="2000" b="1" dirty="0">
                <a:solidFill>
                  <a:srgbClr val="F4F6F5"/>
                </a:solidFill>
                <a:latin typeface="Epilogue" pitchFamily="34" charset="0"/>
                <a:ea typeface="Epilogue" pitchFamily="34" charset="-122"/>
                <a:cs typeface="Epilogue" pitchFamily="34" charset="-120"/>
              </a:rPr>
              <a:t>Walkthrough</a:t>
            </a:r>
            <a:endParaRPr lang="en-US" sz="2000" dirty="0"/>
          </a:p>
        </p:txBody>
      </p:sp>
      <p:sp>
        <p:nvSpPr>
          <p:cNvPr id="11" name="Text 9"/>
          <p:cNvSpPr txBox="1"/>
          <p:nvPr/>
        </p:nvSpPr>
        <p:spPr>
          <a:xfrm>
            <a:off x="822960" y="4160520"/>
            <a:ext cx="2099234" cy="1097280"/>
          </a:xfrm>
          <a:prstGeom prst="rect">
            <a:avLst/>
          </a:prstGeom>
          <a:noFill/>
          <a:ln/>
        </p:spPr>
        <p:txBody>
          <a:bodyPr wrap="square" lIns="0" tIns="0" rIns="0" bIns="0" rtlCol="0" anchor="t"/>
          <a:lstStyle/>
          <a:p>
            <a:pPr indent="0" marL="0">
              <a:lnSpc>
                <a:spcPct val="120000"/>
              </a:lnSpc>
              <a:buNone/>
            </a:pPr>
            <a:r>
              <a:rPr lang="en-US" sz="1250" dirty="0">
                <a:solidFill>
                  <a:srgbClr val="9AA7A2"/>
                </a:solidFill>
                <a:latin typeface="Manrope" pitchFamily="34" charset="0"/>
                <a:ea typeface="Manrope" pitchFamily="34" charset="-122"/>
                <a:cs typeface="Manrope" pitchFamily="34" charset="-120"/>
              </a:rPr>
              <a:t>20 minutes on your actual workflow — on WhatsApp or a call.</a:t>
            </a:r>
            <a:endParaRPr lang="en-US" sz="1250" dirty="0"/>
          </a:p>
        </p:txBody>
      </p:sp>
      <p:sp>
        <p:nvSpPr>
          <p:cNvPr id="12" name="Shape 10"/>
          <p:cNvSpPr/>
          <p:nvPr/>
        </p:nvSpPr>
        <p:spPr>
          <a:xfrm>
            <a:off x="3425114" y="2532888"/>
            <a:ext cx="329184" cy="329184"/>
          </a:xfrm>
          <a:prstGeom prst="ellipse">
            <a:avLst/>
          </a:prstGeom>
          <a:solidFill>
            <a:srgbClr val="0B0D0C"/>
          </a:solidFill>
          <a:ln w="25400">
            <a:solidFill>
              <a:srgbClr val="B8E62E"/>
            </a:solidFill>
            <a:prstDash val="solid"/>
          </a:ln>
        </p:spPr>
      </p:sp>
      <p:sp>
        <p:nvSpPr>
          <p:cNvPr id="13" name="Shape 11"/>
          <p:cNvSpPr/>
          <p:nvPr/>
        </p:nvSpPr>
        <p:spPr>
          <a:xfrm>
            <a:off x="3379394" y="3154680"/>
            <a:ext cx="2602154" cy="2331720"/>
          </a:xfrm>
          <a:prstGeom prst="roundRect">
            <a:avLst>
              <a:gd name="adj" fmla="val 6275"/>
            </a:avLst>
          </a:prstGeom>
          <a:solidFill>
            <a:srgbClr val="15191A"/>
          </a:solidFill>
          <a:ln w="9525">
            <a:solidFill>
              <a:srgbClr val="262C2E"/>
            </a:solidFill>
            <a:prstDash val="solid"/>
          </a:ln>
        </p:spPr>
      </p:sp>
      <p:sp>
        <p:nvSpPr>
          <p:cNvPr id="14" name="Text 12"/>
          <p:cNvSpPr txBox="1"/>
          <p:nvPr/>
        </p:nvSpPr>
        <p:spPr>
          <a:xfrm>
            <a:off x="3653714" y="3383280"/>
            <a:ext cx="2144954"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DAY 1</a:t>
            </a:r>
            <a:endParaRPr lang="en-US" sz="1000" dirty="0"/>
          </a:p>
        </p:txBody>
      </p:sp>
      <p:sp>
        <p:nvSpPr>
          <p:cNvPr id="15" name="Text 13"/>
          <p:cNvSpPr txBox="1"/>
          <p:nvPr/>
        </p:nvSpPr>
        <p:spPr>
          <a:xfrm>
            <a:off x="3653714" y="3703320"/>
            <a:ext cx="2144954" cy="365760"/>
          </a:xfrm>
          <a:prstGeom prst="rect">
            <a:avLst/>
          </a:prstGeom>
          <a:noFill/>
          <a:ln/>
        </p:spPr>
        <p:txBody>
          <a:bodyPr wrap="square" lIns="0" tIns="0" rIns="0" bIns="0" rtlCol="0" anchor="t"/>
          <a:lstStyle/>
          <a:p>
            <a:pPr indent="0" marL="0">
              <a:buNone/>
            </a:pPr>
            <a:r>
              <a:rPr lang="en-US" sz="2000" b="1" dirty="0">
                <a:solidFill>
                  <a:srgbClr val="F4F6F5"/>
                </a:solidFill>
                <a:latin typeface="Epilogue" pitchFamily="34" charset="0"/>
                <a:ea typeface="Epilogue" pitchFamily="34" charset="-122"/>
                <a:cs typeface="Epilogue" pitchFamily="34" charset="-120"/>
              </a:rPr>
              <a:t>Set up</a:t>
            </a:r>
            <a:endParaRPr lang="en-US" sz="2000" dirty="0"/>
          </a:p>
        </p:txBody>
      </p:sp>
      <p:sp>
        <p:nvSpPr>
          <p:cNvPr id="16" name="Text 14"/>
          <p:cNvSpPr txBox="1"/>
          <p:nvPr/>
        </p:nvSpPr>
        <p:spPr>
          <a:xfrm>
            <a:off x="3653714" y="4160520"/>
            <a:ext cx="2099234" cy="1097280"/>
          </a:xfrm>
          <a:prstGeom prst="rect">
            <a:avLst/>
          </a:prstGeom>
          <a:noFill/>
          <a:ln/>
        </p:spPr>
        <p:txBody>
          <a:bodyPr wrap="square" lIns="0" tIns="0" rIns="0" bIns="0" rtlCol="0" anchor="t"/>
          <a:lstStyle/>
          <a:p>
            <a:pPr indent="0" marL="0">
              <a:lnSpc>
                <a:spcPct val="120000"/>
              </a:lnSpc>
              <a:buNone/>
            </a:pPr>
            <a:r>
              <a:rPr lang="en-US" sz="1250" dirty="0">
                <a:solidFill>
                  <a:srgbClr val="9AA7A2"/>
                </a:solidFill>
                <a:latin typeface="Manrope" pitchFamily="34" charset="0"/>
                <a:ea typeface="Manrope" pitchFamily="34" charset="-122"/>
                <a:cs typeface="Manrope" pitchFamily="34" charset="-120"/>
              </a:rPr>
              <a:t>Invite the team, set roles, add clients and their colours. No migration.</a:t>
            </a:r>
            <a:endParaRPr lang="en-US" sz="1250" dirty="0"/>
          </a:p>
        </p:txBody>
      </p:sp>
      <p:sp>
        <p:nvSpPr>
          <p:cNvPr id="17" name="Shape 15"/>
          <p:cNvSpPr/>
          <p:nvPr/>
        </p:nvSpPr>
        <p:spPr>
          <a:xfrm>
            <a:off x="6255868" y="2532888"/>
            <a:ext cx="329184" cy="329184"/>
          </a:xfrm>
          <a:prstGeom prst="ellipse">
            <a:avLst/>
          </a:prstGeom>
          <a:solidFill>
            <a:srgbClr val="0B0D0C"/>
          </a:solidFill>
          <a:ln w="25400">
            <a:solidFill>
              <a:srgbClr val="B8E62E"/>
            </a:solidFill>
            <a:prstDash val="solid"/>
          </a:ln>
        </p:spPr>
      </p:sp>
      <p:sp>
        <p:nvSpPr>
          <p:cNvPr id="18" name="Shape 16"/>
          <p:cNvSpPr/>
          <p:nvPr/>
        </p:nvSpPr>
        <p:spPr>
          <a:xfrm>
            <a:off x="6210148" y="3154680"/>
            <a:ext cx="2602154" cy="2331720"/>
          </a:xfrm>
          <a:prstGeom prst="roundRect">
            <a:avLst>
              <a:gd name="adj" fmla="val 6275"/>
            </a:avLst>
          </a:prstGeom>
          <a:solidFill>
            <a:srgbClr val="15191A"/>
          </a:solidFill>
          <a:ln w="9525">
            <a:solidFill>
              <a:srgbClr val="262C2E"/>
            </a:solidFill>
            <a:prstDash val="solid"/>
          </a:ln>
        </p:spPr>
      </p:sp>
      <p:sp>
        <p:nvSpPr>
          <p:cNvPr id="19" name="Text 17"/>
          <p:cNvSpPr txBox="1"/>
          <p:nvPr/>
        </p:nvSpPr>
        <p:spPr>
          <a:xfrm>
            <a:off x="6484468" y="3383280"/>
            <a:ext cx="2144954"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DAYS 2–13</a:t>
            </a:r>
            <a:endParaRPr lang="en-US" sz="1000" dirty="0"/>
          </a:p>
        </p:txBody>
      </p:sp>
      <p:sp>
        <p:nvSpPr>
          <p:cNvPr id="20" name="Text 18"/>
          <p:cNvSpPr txBox="1"/>
          <p:nvPr/>
        </p:nvSpPr>
        <p:spPr>
          <a:xfrm>
            <a:off x="6484468" y="3703320"/>
            <a:ext cx="2144954" cy="365760"/>
          </a:xfrm>
          <a:prstGeom prst="rect">
            <a:avLst/>
          </a:prstGeom>
          <a:noFill/>
          <a:ln/>
        </p:spPr>
        <p:txBody>
          <a:bodyPr wrap="square" lIns="0" tIns="0" rIns="0" bIns="0" rtlCol="0" anchor="t"/>
          <a:lstStyle/>
          <a:p>
            <a:pPr indent="0" marL="0">
              <a:buNone/>
            </a:pPr>
            <a:r>
              <a:rPr lang="en-US" sz="2000" b="1" dirty="0">
                <a:solidFill>
                  <a:srgbClr val="F4F6F5"/>
                </a:solidFill>
                <a:latin typeface="Epilogue" pitchFamily="34" charset="0"/>
                <a:ea typeface="Epilogue" pitchFamily="34" charset="-122"/>
                <a:cs typeface="Epilogue" pitchFamily="34" charset="-120"/>
              </a:rPr>
              <a:t>Run real work</a:t>
            </a:r>
            <a:endParaRPr lang="en-US" sz="2000" dirty="0"/>
          </a:p>
        </p:txBody>
      </p:sp>
      <p:sp>
        <p:nvSpPr>
          <p:cNvPr id="21" name="Text 19"/>
          <p:cNvSpPr txBox="1"/>
          <p:nvPr/>
        </p:nvSpPr>
        <p:spPr>
          <a:xfrm>
            <a:off x="6484468" y="4160520"/>
            <a:ext cx="2099234" cy="1097280"/>
          </a:xfrm>
          <a:prstGeom prst="rect">
            <a:avLst/>
          </a:prstGeom>
          <a:noFill/>
          <a:ln/>
        </p:spPr>
        <p:txBody>
          <a:bodyPr wrap="square" lIns="0" tIns="0" rIns="0" bIns="0" rtlCol="0" anchor="t"/>
          <a:lstStyle/>
          <a:p>
            <a:pPr indent="0" marL="0">
              <a:lnSpc>
                <a:spcPct val="120000"/>
              </a:lnSpc>
              <a:buNone/>
            </a:pPr>
            <a:r>
              <a:rPr lang="en-US" sz="1250" dirty="0">
                <a:solidFill>
                  <a:srgbClr val="9AA7A2"/>
                </a:solidFill>
                <a:latin typeface="Manrope" pitchFamily="34" charset="0"/>
                <a:ea typeface="Manrope" pitchFamily="34" charset="-122"/>
                <a:cs typeface="Manrope" pitchFamily="34" charset="-120"/>
              </a:rPr>
              <a:t>Put live client work through the pipeline. Standups and nudges run themselves.</a:t>
            </a:r>
            <a:endParaRPr lang="en-US" sz="1250" dirty="0"/>
          </a:p>
        </p:txBody>
      </p:sp>
      <p:sp>
        <p:nvSpPr>
          <p:cNvPr id="22" name="Shape 20"/>
          <p:cNvSpPr/>
          <p:nvPr/>
        </p:nvSpPr>
        <p:spPr>
          <a:xfrm>
            <a:off x="9086621" y="2532888"/>
            <a:ext cx="329184" cy="329184"/>
          </a:xfrm>
          <a:prstGeom prst="ellipse">
            <a:avLst/>
          </a:prstGeom>
          <a:solidFill>
            <a:srgbClr val="B8E62E"/>
          </a:solidFill>
          <a:ln w="25400">
            <a:solidFill>
              <a:srgbClr val="B8E62E"/>
            </a:solidFill>
            <a:prstDash val="solid"/>
          </a:ln>
        </p:spPr>
      </p:sp>
      <p:sp>
        <p:nvSpPr>
          <p:cNvPr id="23" name="Shape 21"/>
          <p:cNvSpPr/>
          <p:nvPr/>
        </p:nvSpPr>
        <p:spPr>
          <a:xfrm>
            <a:off x="9040901" y="3154680"/>
            <a:ext cx="2602154" cy="2331720"/>
          </a:xfrm>
          <a:prstGeom prst="roundRect">
            <a:avLst>
              <a:gd name="adj" fmla="val 6275"/>
            </a:avLst>
          </a:prstGeom>
          <a:solidFill>
            <a:srgbClr val="15191A"/>
          </a:solidFill>
          <a:ln w="9525">
            <a:solidFill>
              <a:srgbClr val="262C2E"/>
            </a:solidFill>
            <a:prstDash val="solid"/>
          </a:ln>
        </p:spPr>
      </p:sp>
      <p:sp>
        <p:nvSpPr>
          <p:cNvPr id="24" name="Text 22"/>
          <p:cNvSpPr txBox="1"/>
          <p:nvPr/>
        </p:nvSpPr>
        <p:spPr>
          <a:xfrm>
            <a:off x="9315221" y="3383280"/>
            <a:ext cx="2144954"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DAY 14</a:t>
            </a:r>
            <a:endParaRPr lang="en-US" sz="1000" dirty="0"/>
          </a:p>
        </p:txBody>
      </p:sp>
      <p:sp>
        <p:nvSpPr>
          <p:cNvPr id="25" name="Text 23"/>
          <p:cNvSpPr txBox="1"/>
          <p:nvPr/>
        </p:nvSpPr>
        <p:spPr>
          <a:xfrm>
            <a:off x="9315221" y="3703320"/>
            <a:ext cx="2144954" cy="365760"/>
          </a:xfrm>
          <a:prstGeom prst="rect">
            <a:avLst/>
          </a:prstGeom>
          <a:noFill/>
          <a:ln/>
        </p:spPr>
        <p:txBody>
          <a:bodyPr wrap="square" lIns="0" tIns="0" rIns="0" bIns="0" rtlCol="0" anchor="t"/>
          <a:lstStyle/>
          <a:p>
            <a:pPr indent="0" marL="0">
              <a:buNone/>
            </a:pPr>
            <a:r>
              <a:rPr lang="en-US" sz="2000" b="1" dirty="0">
                <a:solidFill>
                  <a:srgbClr val="F4F6F5"/>
                </a:solidFill>
                <a:latin typeface="Epilogue" pitchFamily="34" charset="0"/>
                <a:ea typeface="Epilogue" pitchFamily="34" charset="-122"/>
                <a:cs typeface="Epilogue" pitchFamily="34" charset="-120"/>
              </a:rPr>
              <a:t>Decide</a:t>
            </a:r>
            <a:endParaRPr lang="en-US" sz="2000" dirty="0"/>
          </a:p>
        </p:txBody>
      </p:sp>
      <p:sp>
        <p:nvSpPr>
          <p:cNvPr id="26" name="Text 24"/>
          <p:cNvSpPr txBox="1"/>
          <p:nvPr/>
        </p:nvSpPr>
        <p:spPr>
          <a:xfrm>
            <a:off x="9315221" y="4160520"/>
            <a:ext cx="2099234" cy="1097280"/>
          </a:xfrm>
          <a:prstGeom prst="rect">
            <a:avLst/>
          </a:prstGeom>
          <a:noFill/>
          <a:ln/>
        </p:spPr>
        <p:txBody>
          <a:bodyPr wrap="square" lIns="0" tIns="0" rIns="0" bIns="0" rtlCol="0" anchor="t"/>
          <a:lstStyle/>
          <a:p>
            <a:pPr indent="0" marL="0">
              <a:lnSpc>
                <a:spcPct val="120000"/>
              </a:lnSpc>
              <a:buNone/>
            </a:pPr>
            <a:r>
              <a:rPr lang="en-US" sz="1250" dirty="0">
                <a:solidFill>
                  <a:srgbClr val="9AA7A2"/>
                </a:solidFill>
                <a:latin typeface="Manrope" pitchFamily="34" charset="0"/>
                <a:ea typeface="Manrope" pitchFamily="34" charset="-122"/>
                <a:cs typeface="Manrope" pitchFamily="34" charset="-120"/>
              </a:rPr>
              <a:t>Read your own analytics and AI summary. Keep it only if it earned its place.</a:t>
            </a:r>
            <a:endParaRPr lang="en-US" sz="1250" dirty="0"/>
          </a:p>
        </p:txBody>
      </p:sp>
      <p:sp>
        <p:nvSpPr>
          <p:cNvPr id="27" name="Text 25"/>
          <p:cNvSpPr txBox="1"/>
          <p:nvPr/>
        </p:nvSpPr>
        <p:spPr>
          <a:xfrm>
            <a:off x="548640" y="5760720"/>
            <a:ext cx="11094415" cy="320040"/>
          </a:xfrm>
          <a:prstGeom prst="rect">
            <a:avLst/>
          </a:prstGeom>
          <a:noFill/>
          <a:ln/>
        </p:spPr>
        <p:txBody>
          <a:bodyPr wrap="square" lIns="0" tIns="0" rIns="0" bIns="0" rtlCol="0" anchor="ctr"/>
          <a:lstStyle/>
          <a:p>
            <a:pPr indent="0" marL="0">
              <a:buNone/>
            </a:pPr>
            <a:r>
              <a:rPr lang="en-US" sz="1400" b="1" dirty="0">
                <a:solidFill>
                  <a:srgbClr val="B8E62E"/>
                </a:solidFill>
                <a:latin typeface="Manrope" pitchFamily="34" charset="0"/>
                <a:ea typeface="Manrope" pitchFamily="34" charset="-122"/>
                <a:cs typeface="Manrope" pitchFamily="34" charset="-120"/>
              </a:rPr>
              <a:t>14 days, full features, no card.  </a:t>
            </a:r>
            <a:pPr indent="0" marL="0">
              <a:buNone/>
            </a:pPr>
            <a:r>
              <a:rPr lang="en-US" sz="1400" dirty="0">
                <a:solidFill>
                  <a:srgbClr val="F4F6F5"/>
                </a:solidFill>
                <a:latin typeface="Manrope" pitchFamily="34" charset="0"/>
                <a:ea typeface="Manrope" pitchFamily="34" charset="-122"/>
                <a:cs typeface="Manrope" pitchFamily="34" charset="-120"/>
              </a:rPr>
              <a:t>If it hasn't earned its place, walk away — there's no contract to unwind.</a:t>
            </a:r>
            <a:endParaRPr lang="en-US" sz="1400" dirty="0"/>
          </a:p>
        </p:txBody>
      </p:sp>
      <p:sp>
        <p:nvSpPr>
          <p:cNvPr id="28" name="Text 26"/>
          <p:cNvSpPr txBox="1"/>
          <p:nvPr/>
        </p:nvSpPr>
        <p:spPr>
          <a:xfrm>
            <a:off x="548640" y="6446520"/>
            <a:ext cx="5486400" cy="201168"/>
          </a:xfrm>
          <a:prstGeom prst="rect">
            <a:avLst/>
          </a:prstGeom>
          <a:noFill/>
          <a:ln/>
        </p:spPr>
        <p:txBody>
          <a:bodyPr wrap="square" lIns="0" tIns="0" rIns="0" bIns="0" rtlCol="0" anchor="t"/>
          <a:lstStyle/>
          <a:p>
            <a:pPr indent="0" marL="0">
              <a:buNone/>
            </a:pPr>
            <a:r>
              <a:rPr lang="en-US" sz="800" b="1" spc="200" kern="0" dirty="0">
                <a:solidFill>
                  <a:srgbClr val="6B7773"/>
                </a:solidFill>
                <a:latin typeface="Plus Jakarta Sans" pitchFamily="34" charset="0"/>
                <a:ea typeface="Plus Jakarta Sans" pitchFamily="34" charset="-122"/>
                <a:cs typeface="Plus Jakarta Sans" pitchFamily="34" charset="-120"/>
              </a:rPr>
              <a:t>BOD APP  ·  RUN YOUR STUDIO THE CALM WAY</a:t>
            </a:r>
            <a:endParaRPr lang="en-US" sz="800" dirty="0"/>
          </a:p>
        </p:txBody>
      </p:sp>
      <p:sp>
        <p:nvSpPr>
          <p:cNvPr id="29" name="Text 27"/>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b="1" dirty="0">
                <a:solidFill>
                  <a:srgbClr val="6B7773"/>
                </a:solidFill>
                <a:latin typeface="Plus Jakarta Sans" pitchFamily="34" charset="0"/>
                <a:ea typeface="Plus Jakarta Sans" pitchFamily="34" charset="-122"/>
                <a:cs typeface="Plus Jakarta San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D0C"/>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28600"/>
          </a:xfrm>
          <a:prstGeom prst="rect">
            <a:avLst/>
          </a:prstGeom>
          <a:noFill/>
          <a:ln/>
        </p:spPr>
        <p:txBody>
          <a:bodyPr wrap="square" lIns="0" tIns="0" rIns="0" bIns="0" rtlCol="0" anchor="t"/>
          <a:lstStyle/>
          <a:p>
            <a:pPr indent="0" marL="0">
              <a:buNone/>
            </a:pPr>
            <a:r>
              <a:rPr lang="en-US" sz="1000" b="1" spc="200" kern="0" dirty="0">
                <a:solidFill>
                  <a:srgbClr val="B8E62E"/>
                </a:solidFill>
                <a:latin typeface="Plus Jakarta Sans" pitchFamily="34" charset="0"/>
                <a:ea typeface="Plus Jakarta Sans" pitchFamily="34" charset="-122"/>
                <a:cs typeface="Plus Jakarta Sans" pitchFamily="34" charset="-120"/>
              </a:rPr>
              <a:t>14  ·  QUESTIONS</a:t>
            </a:r>
            <a:endParaRPr lang="en-US" sz="1000" dirty="0"/>
          </a:p>
        </p:txBody>
      </p:sp>
      <p:sp>
        <p:nvSpPr>
          <p:cNvPr id="3" name="Text 1"/>
          <p:cNvSpPr txBox="1"/>
          <p:nvPr/>
        </p:nvSpPr>
        <p:spPr>
          <a:xfrm>
            <a:off x="7985455" y="457200"/>
            <a:ext cx="3657600" cy="228600"/>
          </a:xfrm>
          <a:prstGeom prst="rect">
            <a:avLst/>
          </a:prstGeom>
          <a:noFill/>
          <a:ln/>
        </p:spPr>
        <p:txBody>
          <a:bodyPr wrap="square" lIns="0" tIns="0" rIns="0" bIns="0" rtlCol="0" anchor="t"/>
          <a:lstStyle/>
          <a:p>
            <a:pPr algn="r" indent="0" marL="0">
              <a:buNone/>
            </a:pPr>
            <a:r>
              <a:rPr lang="en-US" sz="900" b="1" spc="200" kern="0" dirty="0">
                <a:solidFill>
                  <a:srgbClr val="6B7773"/>
                </a:solidFill>
                <a:latin typeface="Plus Jakarta Sans" pitchFamily="34" charset="0"/>
                <a:ea typeface="Plus Jakarta Sans" pitchFamily="34" charset="-122"/>
                <a:cs typeface="Plus Jakarta Sans" pitchFamily="34" charset="-120"/>
              </a:rPr>
              <a:t>BOD APP  /  SALES DECK</a:t>
            </a:r>
            <a:endParaRPr lang="en-US" sz="9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indent="0" marL="0">
              <a:buNone/>
            </a:pPr>
            <a:r>
              <a:rPr lang="en-US" sz="3400" b="1" dirty="0">
                <a:solidFill>
                  <a:srgbClr val="F4F6F5"/>
                </a:solidFill>
                <a:latin typeface="Epilogue" pitchFamily="34" charset="0"/>
                <a:ea typeface="Epilogue" pitchFamily="34" charset="-122"/>
                <a:cs typeface="Epilogue" pitchFamily="34" charset="-120"/>
              </a:rPr>
              <a:t>The questions you're already thinking.</a:t>
            </a:r>
            <a:endParaRPr lang="en-US" sz="3400" dirty="0"/>
          </a:p>
        </p:txBody>
      </p:sp>
      <p:sp>
        <p:nvSpPr>
          <p:cNvPr id="5" name="Text 3"/>
          <p:cNvSpPr txBox="1"/>
          <p:nvPr/>
        </p:nvSpPr>
        <p:spPr>
          <a:xfrm>
            <a:off x="548640" y="1536192"/>
            <a:ext cx="11094415" cy="548640"/>
          </a:xfrm>
          <a:prstGeom prst="rect">
            <a:avLst/>
          </a:prstGeom>
          <a:noFill/>
          <a:ln/>
        </p:spPr>
        <p:txBody>
          <a:bodyPr wrap="square" lIns="0" tIns="0" rIns="0" bIns="0" rtlCol="0" anchor="t"/>
          <a:lstStyle/>
          <a:p>
            <a:pPr indent="0" marL="0">
              <a:lnSpc>
                <a:spcPct val="115000"/>
              </a:lnSpc>
              <a:buNone/>
            </a:pPr>
            <a:r>
              <a:rPr lang="en-US" sz="1500" dirty="0">
                <a:solidFill>
                  <a:srgbClr val="9AA7A2"/>
                </a:solidFill>
                <a:latin typeface="Manrope" pitchFamily="34" charset="0"/>
                <a:ea typeface="Manrope" pitchFamily="34" charset="-122"/>
                <a:cs typeface="Manrope" pitchFamily="34" charset="-120"/>
              </a:rPr>
              <a:t>Short answers. No jargon.</a:t>
            </a:r>
            <a:endParaRPr lang="en-US" sz="1500" dirty="0"/>
          </a:p>
        </p:txBody>
      </p:sp>
      <p:sp>
        <p:nvSpPr>
          <p:cNvPr id="6" name="Shape 4"/>
          <p:cNvSpPr/>
          <p:nvPr/>
        </p:nvSpPr>
        <p:spPr>
          <a:xfrm>
            <a:off x="548640" y="2194560"/>
            <a:ext cx="5432908" cy="1143000"/>
          </a:xfrm>
          <a:prstGeom prst="roundRect">
            <a:avLst>
              <a:gd name="adj" fmla="val 12800"/>
            </a:avLst>
          </a:prstGeom>
          <a:solidFill>
            <a:srgbClr val="15191A"/>
          </a:solidFill>
          <a:ln w="9525">
            <a:solidFill>
              <a:srgbClr val="262C2E"/>
            </a:solidFill>
            <a:prstDash val="solid"/>
          </a:ln>
        </p:spPr>
      </p:sp>
      <p:sp>
        <p:nvSpPr>
          <p:cNvPr id="7" name="Text 5"/>
          <p:cNvSpPr txBox="1"/>
          <p:nvPr/>
        </p:nvSpPr>
        <p:spPr>
          <a:xfrm>
            <a:off x="868680" y="2395728"/>
            <a:ext cx="4792828" cy="292608"/>
          </a:xfrm>
          <a:prstGeom prst="rect">
            <a:avLst/>
          </a:prstGeom>
          <a:noFill/>
          <a:ln/>
        </p:spPr>
        <p:txBody>
          <a:bodyPr wrap="square" lIns="0" tIns="0" rIns="0" bIns="0" rtlCol="0" anchor="t"/>
          <a:lstStyle/>
          <a:p>
            <a:pPr indent="0" marL="0">
              <a:buNone/>
            </a:pPr>
            <a:r>
              <a:rPr lang="en-US" sz="1500" b="1" dirty="0">
                <a:solidFill>
                  <a:srgbClr val="F4F6F5"/>
                </a:solidFill>
                <a:latin typeface="Epilogue" pitchFamily="34" charset="0"/>
                <a:ea typeface="Epilogue" pitchFamily="34" charset="-122"/>
                <a:cs typeface="Epilogue" pitchFamily="34" charset="-120"/>
              </a:rPr>
              <a:t>We already use WhatsApp.</a:t>
            </a:r>
            <a:endParaRPr lang="en-US" sz="1500" dirty="0"/>
          </a:p>
        </p:txBody>
      </p:sp>
      <p:sp>
        <p:nvSpPr>
          <p:cNvPr id="8" name="Text 6"/>
          <p:cNvSpPr txBox="1"/>
          <p:nvPr/>
        </p:nvSpPr>
        <p:spPr>
          <a:xfrm>
            <a:off x="868680" y="2724912"/>
            <a:ext cx="4792828" cy="548640"/>
          </a:xfrm>
          <a:prstGeom prst="rect">
            <a:avLst/>
          </a:prstGeom>
          <a:noFill/>
          <a:ln/>
        </p:spPr>
        <p:txBody>
          <a:bodyPr wrap="square" lIns="0" tIns="0" rIns="0" bIns="0" rtlCol="0" anchor="t"/>
          <a:lstStyle/>
          <a:p>
            <a:pPr indent="0" marL="0">
              <a:lnSpc>
                <a:spcPct val="115000"/>
              </a:lnSpc>
              <a:buNone/>
            </a:pPr>
            <a:r>
              <a:rPr lang="en-US" sz="1200" dirty="0">
                <a:solidFill>
                  <a:srgbClr val="9AA7A2"/>
                </a:solidFill>
                <a:latin typeface="Manrope" pitchFamily="34" charset="0"/>
                <a:ea typeface="Manrope" pitchFamily="34" charset="-122"/>
                <a:cs typeface="Manrope" pitchFamily="34" charset="-120"/>
              </a:rPr>
              <a:t>WhatsApp is where work gets discussed, not tracked. Bod App gives the work a home — and still nudges on WhatsApp.</a:t>
            </a:r>
            <a:endParaRPr lang="en-US" sz="1200" dirty="0"/>
          </a:p>
        </p:txBody>
      </p:sp>
      <p:sp>
        <p:nvSpPr>
          <p:cNvPr id="9" name="Shape 7"/>
          <p:cNvSpPr/>
          <p:nvPr/>
        </p:nvSpPr>
        <p:spPr>
          <a:xfrm>
            <a:off x="6210148" y="2194560"/>
            <a:ext cx="5432908" cy="1143000"/>
          </a:xfrm>
          <a:prstGeom prst="roundRect">
            <a:avLst>
              <a:gd name="adj" fmla="val 12800"/>
            </a:avLst>
          </a:prstGeom>
          <a:solidFill>
            <a:srgbClr val="15191A"/>
          </a:solidFill>
          <a:ln w="9525">
            <a:solidFill>
              <a:srgbClr val="262C2E"/>
            </a:solidFill>
            <a:prstDash val="solid"/>
          </a:ln>
        </p:spPr>
      </p:sp>
      <p:sp>
        <p:nvSpPr>
          <p:cNvPr id="10" name="Text 8"/>
          <p:cNvSpPr txBox="1"/>
          <p:nvPr/>
        </p:nvSpPr>
        <p:spPr>
          <a:xfrm>
            <a:off x="6530188" y="2395728"/>
            <a:ext cx="4792828" cy="292608"/>
          </a:xfrm>
          <a:prstGeom prst="rect">
            <a:avLst/>
          </a:prstGeom>
          <a:noFill/>
          <a:ln/>
        </p:spPr>
        <p:txBody>
          <a:bodyPr wrap="square" lIns="0" tIns="0" rIns="0" bIns="0" rtlCol="0" anchor="t"/>
          <a:lstStyle/>
          <a:p>
            <a:pPr indent="0" marL="0">
              <a:buNone/>
            </a:pPr>
            <a:r>
              <a:rPr lang="en-US" sz="1500" b="1" dirty="0">
                <a:solidFill>
                  <a:srgbClr val="F4F6F5"/>
                </a:solidFill>
                <a:latin typeface="Epilogue" pitchFamily="34" charset="0"/>
                <a:ea typeface="Epilogue" pitchFamily="34" charset="-122"/>
                <a:cs typeface="Epilogue" pitchFamily="34" charset="-120"/>
              </a:rPr>
              <a:t>We tried a project tool. It died.</a:t>
            </a:r>
            <a:endParaRPr lang="en-US" sz="1500" dirty="0"/>
          </a:p>
        </p:txBody>
      </p:sp>
      <p:sp>
        <p:nvSpPr>
          <p:cNvPr id="11" name="Text 9"/>
          <p:cNvSpPr txBox="1"/>
          <p:nvPr/>
        </p:nvSpPr>
        <p:spPr>
          <a:xfrm>
            <a:off x="6530188" y="2724912"/>
            <a:ext cx="4792828" cy="548640"/>
          </a:xfrm>
          <a:prstGeom prst="rect">
            <a:avLst/>
          </a:prstGeom>
          <a:noFill/>
          <a:ln/>
        </p:spPr>
        <p:txBody>
          <a:bodyPr wrap="square" lIns="0" tIns="0" rIns="0" bIns="0" rtlCol="0" anchor="t"/>
          <a:lstStyle/>
          <a:p>
            <a:pPr indent="0" marL="0">
              <a:lnSpc>
                <a:spcPct val="115000"/>
              </a:lnSpc>
              <a:buNone/>
            </a:pPr>
            <a:r>
              <a:rPr lang="en-US" sz="1200" dirty="0">
                <a:solidFill>
                  <a:srgbClr val="9AA7A2"/>
                </a:solidFill>
                <a:latin typeface="Manrope" pitchFamily="34" charset="0"/>
                <a:ea typeface="Manrope" pitchFamily="34" charset="-122"/>
                <a:cs typeface="Manrope" pitchFamily="34" charset="-120"/>
              </a:rPr>
              <a:t>Usually because it demanded setup before it gave anything back. Bod App sorts your day from the first task you add.</a:t>
            </a:r>
            <a:endParaRPr lang="en-US" sz="1200" dirty="0"/>
          </a:p>
        </p:txBody>
      </p:sp>
      <p:sp>
        <p:nvSpPr>
          <p:cNvPr id="12" name="Shape 10"/>
          <p:cNvSpPr/>
          <p:nvPr/>
        </p:nvSpPr>
        <p:spPr>
          <a:xfrm>
            <a:off x="548640" y="3502152"/>
            <a:ext cx="5432908" cy="1143000"/>
          </a:xfrm>
          <a:prstGeom prst="roundRect">
            <a:avLst>
              <a:gd name="adj" fmla="val 12800"/>
            </a:avLst>
          </a:prstGeom>
          <a:solidFill>
            <a:srgbClr val="15191A"/>
          </a:solidFill>
          <a:ln w="9525">
            <a:solidFill>
              <a:srgbClr val="262C2E"/>
            </a:solidFill>
            <a:prstDash val="solid"/>
          </a:ln>
        </p:spPr>
      </p:sp>
      <p:sp>
        <p:nvSpPr>
          <p:cNvPr id="13" name="Text 11"/>
          <p:cNvSpPr txBox="1"/>
          <p:nvPr/>
        </p:nvSpPr>
        <p:spPr>
          <a:xfrm>
            <a:off x="868680" y="3703320"/>
            <a:ext cx="4792828" cy="292608"/>
          </a:xfrm>
          <a:prstGeom prst="rect">
            <a:avLst/>
          </a:prstGeom>
          <a:noFill/>
          <a:ln/>
        </p:spPr>
        <p:txBody>
          <a:bodyPr wrap="square" lIns="0" tIns="0" rIns="0" bIns="0" rtlCol="0" anchor="t"/>
          <a:lstStyle/>
          <a:p>
            <a:pPr indent="0" marL="0">
              <a:buNone/>
            </a:pPr>
            <a:r>
              <a:rPr lang="en-US" sz="1500" b="1" dirty="0">
                <a:solidFill>
                  <a:srgbClr val="F4F6F5"/>
                </a:solidFill>
                <a:latin typeface="Epilogue" pitchFamily="34" charset="0"/>
                <a:ea typeface="Epilogue" pitchFamily="34" charset="-122"/>
                <a:cs typeface="Epilogue" pitchFamily="34" charset="-120"/>
              </a:rPr>
              <a:t>Who has time to migrate?</a:t>
            </a:r>
            <a:endParaRPr lang="en-US" sz="1500" dirty="0"/>
          </a:p>
        </p:txBody>
      </p:sp>
      <p:sp>
        <p:nvSpPr>
          <p:cNvPr id="14" name="Text 12"/>
          <p:cNvSpPr txBox="1"/>
          <p:nvPr/>
        </p:nvSpPr>
        <p:spPr>
          <a:xfrm>
            <a:off x="868680" y="4032504"/>
            <a:ext cx="4792828" cy="548640"/>
          </a:xfrm>
          <a:prstGeom prst="rect">
            <a:avLst/>
          </a:prstGeom>
          <a:noFill/>
          <a:ln/>
        </p:spPr>
        <p:txBody>
          <a:bodyPr wrap="square" lIns="0" tIns="0" rIns="0" bIns="0" rtlCol="0" anchor="t"/>
          <a:lstStyle/>
          <a:p>
            <a:pPr indent="0" marL="0">
              <a:lnSpc>
                <a:spcPct val="115000"/>
              </a:lnSpc>
              <a:buNone/>
            </a:pPr>
            <a:r>
              <a:rPr lang="en-US" sz="1200" dirty="0">
                <a:solidFill>
                  <a:srgbClr val="9AA7A2"/>
                </a:solidFill>
                <a:latin typeface="Manrope" pitchFamily="34" charset="0"/>
                <a:ea typeface="Manrope" pitchFamily="34" charset="-122"/>
                <a:cs typeface="Manrope" pitchFamily="34" charset="-120"/>
              </a:rPr>
              <a:t>There's nothing to migrate. Start with this week's tasks — or speak them in. History can stay where it is.</a:t>
            </a:r>
            <a:endParaRPr lang="en-US" sz="1200" dirty="0"/>
          </a:p>
        </p:txBody>
      </p:sp>
      <p:sp>
        <p:nvSpPr>
          <p:cNvPr id="15" name="Shape 13"/>
          <p:cNvSpPr/>
          <p:nvPr/>
        </p:nvSpPr>
        <p:spPr>
          <a:xfrm>
            <a:off x="6210148" y="3502152"/>
            <a:ext cx="5432908" cy="1143000"/>
          </a:xfrm>
          <a:prstGeom prst="roundRect">
            <a:avLst>
              <a:gd name="adj" fmla="val 12800"/>
            </a:avLst>
          </a:prstGeom>
          <a:solidFill>
            <a:srgbClr val="15191A"/>
          </a:solidFill>
          <a:ln w="9525">
            <a:solidFill>
              <a:srgbClr val="262C2E"/>
            </a:solidFill>
            <a:prstDash val="solid"/>
          </a:ln>
        </p:spPr>
      </p:sp>
      <p:sp>
        <p:nvSpPr>
          <p:cNvPr id="16" name="Text 14"/>
          <p:cNvSpPr txBox="1"/>
          <p:nvPr/>
        </p:nvSpPr>
        <p:spPr>
          <a:xfrm>
            <a:off x="6530188" y="3703320"/>
            <a:ext cx="4792828" cy="292608"/>
          </a:xfrm>
          <a:prstGeom prst="rect">
            <a:avLst/>
          </a:prstGeom>
          <a:noFill/>
          <a:ln/>
        </p:spPr>
        <p:txBody>
          <a:bodyPr wrap="square" lIns="0" tIns="0" rIns="0" bIns="0" rtlCol="0" anchor="t"/>
          <a:lstStyle/>
          <a:p>
            <a:pPr indent="0" marL="0">
              <a:buNone/>
            </a:pPr>
            <a:r>
              <a:rPr lang="en-US" sz="1500" b="1" dirty="0">
                <a:solidFill>
                  <a:srgbClr val="F4F6F5"/>
                </a:solidFill>
                <a:latin typeface="Epilogue" pitchFamily="34" charset="0"/>
                <a:ea typeface="Epilogue" pitchFamily="34" charset="-122"/>
                <a:cs typeface="Epilogue" pitchFamily="34" charset="-120"/>
              </a:rPr>
              <a:t>Does it replace our invoicing?</a:t>
            </a:r>
            <a:endParaRPr lang="en-US" sz="1500" dirty="0"/>
          </a:p>
        </p:txBody>
      </p:sp>
      <p:sp>
        <p:nvSpPr>
          <p:cNvPr id="17" name="Text 15"/>
          <p:cNvSpPr txBox="1"/>
          <p:nvPr/>
        </p:nvSpPr>
        <p:spPr>
          <a:xfrm>
            <a:off x="6530188" y="4032504"/>
            <a:ext cx="4792828" cy="548640"/>
          </a:xfrm>
          <a:prstGeom prst="rect">
            <a:avLst/>
          </a:prstGeom>
          <a:noFill/>
          <a:ln/>
        </p:spPr>
        <p:txBody>
          <a:bodyPr wrap="square" lIns="0" tIns="0" rIns="0" bIns="0" rtlCol="0" anchor="t"/>
          <a:lstStyle/>
          <a:p>
            <a:pPr indent="0" marL="0">
              <a:lnSpc>
                <a:spcPct val="115000"/>
              </a:lnSpc>
              <a:buNone/>
            </a:pPr>
            <a:r>
              <a:rPr lang="en-US" sz="1200" dirty="0">
                <a:solidFill>
                  <a:srgbClr val="9AA7A2"/>
                </a:solidFill>
                <a:latin typeface="Manrope" pitchFamily="34" charset="0"/>
                <a:ea typeface="Manrope" pitchFamily="34" charset="-122"/>
                <a:cs typeface="Manrope" pitchFamily="34" charset="-120"/>
              </a:rPr>
              <a:t>No. It runs a “what to bill” checklist and a Ready to Bill queue. Amounts and invoices stay in Zoho.</a:t>
            </a:r>
            <a:endParaRPr lang="en-US" sz="1200" dirty="0"/>
          </a:p>
        </p:txBody>
      </p:sp>
      <p:sp>
        <p:nvSpPr>
          <p:cNvPr id="18" name="Shape 16"/>
          <p:cNvSpPr/>
          <p:nvPr/>
        </p:nvSpPr>
        <p:spPr>
          <a:xfrm>
            <a:off x="548640" y="4809744"/>
            <a:ext cx="5432908" cy="1143000"/>
          </a:xfrm>
          <a:prstGeom prst="roundRect">
            <a:avLst>
              <a:gd name="adj" fmla="val 12800"/>
            </a:avLst>
          </a:prstGeom>
          <a:solidFill>
            <a:srgbClr val="15191A"/>
          </a:solidFill>
          <a:ln w="9525">
            <a:solidFill>
              <a:srgbClr val="262C2E"/>
            </a:solidFill>
            <a:prstDash val="solid"/>
          </a:ln>
        </p:spPr>
      </p:sp>
      <p:sp>
        <p:nvSpPr>
          <p:cNvPr id="19" name="Text 17"/>
          <p:cNvSpPr txBox="1"/>
          <p:nvPr/>
        </p:nvSpPr>
        <p:spPr>
          <a:xfrm>
            <a:off x="868680" y="5010912"/>
            <a:ext cx="4792828" cy="292608"/>
          </a:xfrm>
          <a:prstGeom prst="rect">
            <a:avLst/>
          </a:prstGeom>
          <a:noFill/>
          <a:ln/>
        </p:spPr>
        <p:txBody>
          <a:bodyPr wrap="square" lIns="0" tIns="0" rIns="0" bIns="0" rtlCol="0" anchor="t"/>
          <a:lstStyle/>
          <a:p>
            <a:pPr indent="0" marL="0">
              <a:buNone/>
            </a:pPr>
            <a:r>
              <a:rPr lang="en-US" sz="1500" b="1" dirty="0">
                <a:solidFill>
                  <a:srgbClr val="F4F6F5"/>
                </a:solidFill>
                <a:latin typeface="Epilogue" pitchFamily="34" charset="0"/>
                <a:ea typeface="Epilogue" pitchFamily="34" charset="-122"/>
                <a:cs typeface="Epilogue" pitchFamily="34" charset="-120"/>
              </a:rPr>
              <a:t>Is the AI really multilingual?</a:t>
            </a:r>
            <a:endParaRPr lang="en-US" sz="1500" dirty="0"/>
          </a:p>
        </p:txBody>
      </p:sp>
      <p:sp>
        <p:nvSpPr>
          <p:cNvPr id="20" name="Text 18"/>
          <p:cNvSpPr txBox="1"/>
          <p:nvPr/>
        </p:nvSpPr>
        <p:spPr>
          <a:xfrm>
            <a:off x="868680" y="5340096"/>
            <a:ext cx="4792828" cy="548640"/>
          </a:xfrm>
          <a:prstGeom prst="rect">
            <a:avLst/>
          </a:prstGeom>
          <a:noFill/>
          <a:ln/>
        </p:spPr>
        <p:txBody>
          <a:bodyPr wrap="square" lIns="0" tIns="0" rIns="0" bIns="0" rtlCol="0" anchor="t"/>
          <a:lstStyle/>
          <a:p>
            <a:pPr indent="0" marL="0">
              <a:lnSpc>
                <a:spcPct val="115000"/>
              </a:lnSpc>
              <a:buNone/>
            </a:pPr>
            <a:r>
              <a:rPr lang="en-US" sz="1200" dirty="0">
                <a:solidFill>
                  <a:srgbClr val="9AA7A2"/>
                </a:solidFill>
                <a:latin typeface="Manrope" pitchFamily="34" charset="0"/>
                <a:ea typeface="Manrope" pitchFamily="34" charset="-122"/>
                <a:cs typeface="Manrope" pitchFamily="34" charset="-120"/>
              </a:rPr>
              <a:t>Yes — Malayalam, English or Manglish, by voice or text. It parses the who, what and when into a draft task.</a:t>
            </a:r>
            <a:endParaRPr lang="en-US" sz="1200" dirty="0"/>
          </a:p>
        </p:txBody>
      </p:sp>
      <p:sp>
        <p:nvSpPr>
          <p:cNvPr id="21" name="Shape 19"/>
          <p:cNvSpPr/>
          <p:nvPr/>
        </p:nvSpPr>
        <p:spPr>
          <a:xfrm>
            <a:off x="6210148" y="4809744"/>
            <a:ext cx="5432908" cy="1143000"/>
          </a:xfrm>
          <a:prstGeom prst="roundRect">
            <a:avLst>
              <a:gd name="adj" fmla="val 12800"/>
            </a:avLst>
          </a:prstGeom>
          <a:solidFill>
            <a:srgbClr val="15191A"/>
          </a:solidFill>
          <a:ln w="9525">
            <a:solidFill>
              <a:srgbClr val="262C2E"/>
            </a:solidFill>
            <a:prstDash val="solid"/>
          </a:ln>
        </p:spPr>
      </p:sp>
      <p:sp>
        <p:nvSpPr>
          <p:cNvPr id="22" name="Text 20"/>
          <p:cNvSpPr txBox="1"/>
          <p:nvPr/>
        </p:nvSpPr>
        <p:spPr>
          <a:xfrm>
            <a:off x="6530188" y="5010912"/>
            <a:ext cx="4792828" cy="292608"/>
          </a:xfrm>
          <a:prstGeom prst="rect">
            <a:avLst/>
          </a:prstGeom>
          <a:noFill/>
          <a:ln/>
        </p:spPr>
        <p:txBody>
          <a:bodyPr wrap="square" lIns="0" tIns="0" rIns="0" bIns="0" rtlCol="0" anchor="t"/>
          <a:lstStyle/>
          <a:p>
            <a:pPr indent="0" marL="0">
              <a:buNone/>
            </a:pPr>
            <a:r>
              <a:rPr lang="en-US" sz="1500" b="1" dirty="0">
                <a:solidFill>
                  <a:srgbClr val="F4F6F5"/>
                </a:solidFill>
                <a:latin typeface="Epilogue" pitchFamily="34" charset="0"/>
                <a:ea typeface="Epilogue" pitchFamily="34" charset="-122"/>
                <a:cs typeface="Epilogue" pitchFamily="34" charset="-120"/>
              </a:rPr>
              <a:t>Which devices?</a:t>
            </a:r>
            <a:endParaRPr lang="en-US" sz="1500" dirty="0"/>
          </a:p>
        </p:txBody>
      </p:sp>
      <p:sp>
        <p:nvSpPr>
          <p:cNvPr id="23" name="Text 21"/>
          <p:cNvSpPr txBox="1"/>
          <p:nvPr/>
        </p:nvSpPr>
        <p:spPr>
          <a:xfrm>
            <a:off x="6530188" y="5340096"/>
            <a:ext cx="4792828" cy="548640"/>
          </a:xfrm>
          <a:prstGeom prst="rect">
            <a:avLst/>
          </a:prstGeom>
          <a:noFill/>
          <a:ln/>
        </p:spPr>
        <p:txBody>
          <a:bodyPr wrap="square" lIns="0" tIns="0" rIns="0" bIns="0" rtlCol="0" anchor="t"/>
          <a:lstStyle/>
          <a:p>
            <a:pPr indent="0" marL="0">
              <a:lnSpc>
                <a:spcPct val="115000"/>
              </a:lnSpc>
              <a:buNone/>
            </a:pPr>
            <a:r>
              <a:rPr lang="en-US" sz="1200" dirty="0">
                <a:solidFill>
                  <a:srgbClr val="9AA7A2"/>
                </a:solidFill>
                <a:latin typeface="Manrope" pitchFamily="34" charset="0"/>
                <a:ea typeface="Manrope" pitchFamily="34" charset="-122"/>
                <a:cs typeface="Manrope" pitchFamily="34" charset="-120"/>
              </a:rPr>
              <a:t>iOS, Android and web from one codebase — with home-screen widgets on mobile and offline caching when the signal drops.</a:t>
            </a:r>
            <a:endParaRPr lang="en-US" sz="1200" dirty="0"/>
          </a:p>
        </p:txBody>
      </p:sp>
      <p:sp>
        <p:nvSpPr>
          <p:cNvPr id="24" name="Text 22"/>
          <p:cNvSpPr txBox="1"/>
          <p:nvPr/>
        </p:nvSpPr>
        <p:spPr>
          <a:xfrm>
            <a:off x="548640" y="6446520"/>
            <a:ext cx="5486400" cy="201168"/>
          </a:xfrm>
          <a:prstGeom prst="rect">
            <a:avLst/>
          </a:prstGeom>
          <a:noFill/>
          <a:ln/>
        </p:spPr>
        <p:txBody>
          <a:bodyPr wrap="square" lIns="0" tIns="0" rIns="0" bIns="0" rtlCol="0" anchor="t"/>
          <a:lstStyle/>
          <a:p>
            <a:pPr indent="0" marL="0">
              <a:buNone/>
            </a:pPr>
            <a:r>
              <a:rPr lang="en-US" sz="800" b="1" spc="200" kern="0" dirty="0">
                <a:solidFill>
                  <a:srgbClr val="6B7773"/>
                </a:solidFill>
                <a:latin typeface="Plus Jakarta Sans" pitchFamily="34" charset="0"/>
                <a:ea typeface="Plus Jakarta Sans" pitchFamily="34" charset="-122"/>
                <a:cs typeface="Plus Jakarta Sans" pitchFamily="34" charset="-120"/>
              </a:rPr>
              <a:t>BOD APP  ·  RUN YOUR STUDIO THE CALM WAY</a:t>
            </a:r>
            <a:endParaRPr lang="en-US" sz="800" dirty="0"/>
          </a:p>
        </p:txBody>
      </p:sp>
      <p:sp>
        <p:nvSpPr>
          <p:cNvPr id="25" name="Text 23"/>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b="1" dirty="0">
                <a:solidFill>
                  <a:srgbClr val="6B7773"/>
                </a:solidFill>
                <a:latin typeface="Plus Jakarta Sans" pitchFamily="34" charset="0"/>
                <a:ea typeface="Plus Jakarta Sans" pitchFamily="34" charset="-122"/>
                <a:cs typeface="Plus Jakarta San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B8E62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57200"/>
            <a:ext cx="566928" cy="566928"/>
          </a:xfrm>
          <a:prstGeom prst="rect">
            <a:avLst/>
          </a:prstGeom>
        </p:spPr>
      </p:pic>
      <p:sp>
        <p:nvSpPr>
          <p:cNvPr id="3" name="Text 0"/>
          <p:cNvSpPr txBox="1"/>
          <p:nvPr/>
        </p:nvSpPr>
        <p:spPr>
          <a:xfrm>
            <a:off x="1261872" y="457200"/>
            <a:ext cx="2743200" cy="329184"/>
          </a:xfrm>
          <a:prstGeom prst="rect">
            <a:avLst/>
          </a:prstGeom>
          <a:noFill/>
          <a:ln/>
        </p:spPr>
        <p:txBody>
          <a:bodyPr wrap="square" lIns="0" tIns="0" rIns="0" bIns="0" rtlCol="0" anchor="t"/>
          <a:lstStyle/>
          <a:p>
            <a:pPr indent="0" marL="0">
              <a:buNone/>
            </a:pPr>
            <a:r>
              <a:rPr lang="en-US" sz="2000" b="1" dirty="0">
                <a:solidFill>
                  <a:srgbClr val="0B0D0C"/>
                </a:solidFill>
                <a:latin typeface="Epilogue" pitchFamily="34" charset="0"/>
                <a:ea typeface="Epilogue" pitchFamily="34" charset="-122"/>
                <a:cs typeface="Epilogue" pitchFamily="34" charset="-120"/>
              </a:rPr>
              <a:t>Bod App</a:t>
            </a:r>
            <a:endParaRPr lang="en-US" sz="2000" dirty="0"/>
          </a:p>
        </p:txBody>
      </p:sp>
      <p:sp>
        <p:nvSpPr>
          <p:cNvPr id="4" name="Text 1"/>
          <p:cNvSpPr txBox="1"/>
          <p:nvPr/>
        </p:nvSpPr>
        <p:spPr>
          <a:xfrm>
            <a:off x="1261872" y="804672"/>
            <a:ext cx="2743200" cy="201168"/>
          </a:xfrm>
          <a:prstGeom prst="rect">
            <a:avLst/>
          </a:prstGeom>
          <a:noFill/>
          <a:ln/>
        </p:spPr>
        <p:txBody>
          <a:bodyPr wrap="square" lIns="0" tIns="0" rIns="0" bIns="0" rtlCol="0" anchor="t"/>
          <a:lstStyle/>
          <a:p>
            <a:pPr indent="0" marL="0">
              <a:buNone/>
            </a:pPr>
            <a:r>
              <a:rPr lang="en-US" sz="850" b="1" spc="200" kern="0" dirty="0">
                <a:solidFill>
                  <a:srgbClr val="2B3510"/>
                </a:solidFill>
                <a:latin typeface="Plus Jakarta Sans" pitchFamily="34" charset="0"/>
                <a:ea typeface="Plus Jakarta Sans" pitchFamily="34" charset="-122"/>
                <a:cs typeface="Plus Jakarta Sans" pitchFamily="34" charset="-120"/>
              </a:rPr>
              <a:t>A BOD STUDIO PRODUCT</a:t>
            </a:r>
            <a:endParaRPr lang="en-US" sz="850" dirty="0"/>
          </a:p>
        </p:txBody>
      </p:sp>
      <p:sp>
        <p:nvSpPr>
          <p:cNvPr id="5" name="Text 2"/>
          <p:cNvSpPr txBox="1"/>
          <p:nvPr/>
        </p:nvSpPr>
        <p:spPr>
          <a:xfrm>
            <a:off x="548640" y="1600200"/>
            <a:ext cx="3657600" cy="228600"/>
          </a:xfrm>
          <a:prstGeom prst="rect">
            <a:avLst/>
          </a:prstGeom>
          <a:noFill/>
          <a:ln/>
        </p:spPr>
        <p:txBody>
          <a:bodyPr wrap="square" lIns="0" tIns="0" rIns="0" bIns="0" rtlCol="0" anchor="t"/>
          <a:lstStyle/>
          <a:p>
            <a:pPr indent="0" marL="0">
              <a:buNone/>
            </a:pPr>
            <a:r>
              <a:rPr lang="en-US" sz="1000" b="1" spc="200" kern="0" dirty="0">
                <a:solidFill>
                  <a:srgbClr val="2B3510"/>
                </a:solidFill>
                <a:latin typeface="Plus Jakarta Sans" pitchFamily="34" charset="0"/>
                <a:ea typeface="Plus Jakarta Sans" pitchFamily="34" charset="-122"/>
                <a:cs typeface="Plus Jakarta Sans" pitchFamily="34" charset="-120"/>
              </a:rPr>
              <a:t>NEXT STEP</a:t>
            </a:r>
            <a:endParaRPr lang="en-US" sz="1000" dirty="0"/>
          </a:p>
        </p:txBody>
      </p:sp>
      <p:sp>
        <p:nvSpPr>
          <p:cNvPr id="6" name="Text 3"/>
          <p:cNvSpPr txBox="1"/>
          <p:nvPr/>
        </p:nvSpPr>
        <p:spPr>
          <a:xfrm>
            <a:off x="548640" y="1920240"/>
            <a:ext cx="6858000" cy="1737360"/>
          </a:xfrm>
          <a:prstGeom prst="rect">
            <a:avLst/>
          </a:prstGeom>
          <a:noFill/>
          <a:ln/>
        </p:spPr>
        <p:txBody>
          <a:bodyPr wrap="square" lIns="0" tIns="0" rIns="0" bIns="0" rtlCol="0" anchor="t"/>
          <a:lstStyle/>
          <a:p>
            <a:pPr indent="0" marL="0">
              <a:lnSpc>
                <a:spcPct val="95000"/>
              </a:lnSpc>
              <a:buNone/>
            </a:pPr>
            <a:r>
              <a:rPr lang="en-US" sz="5800" b="1" i="1" dirty="0">
                <a:solidFill>
                  <a:srgbClr val="0B0D0C"/>
                </a:solidFill>
                <a:latin typeface="Fraunces" pitchFamily="34" charset="0"/>
                <a:ea typeface="Fraunces" pitchFamily="34" charset="-122"/>
                <a:cs typeface="Fraunces" pitchFamily="34" charset="-120"/>
              </a:rPr>
              <a:t>Run your studio</a:t>
            </a:r>
            <a:endParaRPr lang="en-US" sz="5800" dirty="0"/>
          </a:p>
          <a:p>
            <a:pPr indent="0" marL="0">
              <a:lnSpc>
                <a:spcPct val="95000"/>
              </a:lnSpc>
              <a:buNone/>
            </a:pPr>
            <a:r>
              <a:rPr lang="en-US" sz="5800" b="1" i="1" dirty="0">
                <a:solidFill>
                  <a:srgbClr val="0B0D0C"/>
                </a:solidFill>
                <a:latin typeface="Fraunces" pitchFamily="34" charset="0"/>
                <a:ea typeface="Fraunces" pitchFamily="34" charset="-122"/>
                <a:cs typeface="Fraunces" pitchFamily="34" charset="-120"/>
              </a:rPr>
              <a:t>the calm way.</a:t>
            </a:r>
            <a:endParaRPr lang="en-US" sz="5800" dirty="0"/>
          </a:p>
        </p:txBody>
      </p:sp>
      <p:sp>
        <p:nvSpPr>
          <p:cNvPr id="7" name="Text 4"/>
          <p:cNvSpPr txBox="1"/>
          <p:nvPr/>
        </p:nvSpPr>
        <p:spPr>
          <a:xfrm>
            <a:off x="548640" y="3794760"/>
            <a:ext cx="6217920" cy="731520"/>
          </a:xfrm>
          <a:prstGeom prst="rect">
            <a:avLst/>
          </a:prstGeom>
          <a:noFill/>
          <a:ln/>
        </p:spPr>
        <p:txBody>
          <a:bodyPr wrap="square" lIns="0" tIns="0" rIns="0" bIns="0" rtlCol="0" anchor="t"/>
          <a:lstStyle/>
          <a:p>
            <a:pPr indent="0" marL="0">
              <a:lnSpc>
                <a:spcPct val="120000"/>
              </a:lnSpc>
              <a:buNone/>
            </a:pPr>
            <a:r>
              <a:rPr lang="en-US" sz="1500" dirty="0">
                <a:solidFill>
                  <a:srgbClr val="25300C"/>
                </a:solidFill>
                <a:latin typeface="Manrope" pitchFamily="34" charset="0"/>
                <a:ea typeface="Manrope" pitchFamily="34" charset="-122"/>
                <a:cs typeface="Manrope" pitchFamily="34" charset="-120"/>
              </a:rPr>
              <a:t>Start the 14-day free trial, or book a 20-minute walkthrough on your real workflow. If it doesn't hold up, you've lost two weeks and no money.</a:t>
            </a:r>
            <a:endParaRPr lang="en-US" sz="1500" dirty="0"/>
          </a:p>
        </p:txBody>
      </p:sp>
      <p:sp>
        <p:nvSpPr>
          <p:cNvPr id="8" name="Shape 5"/>
          <p:cNvSpPr/>
          <p:nvPr/>
        </p:nvSpPr>
        <p:spPr>
          <a:xfrm>
            <a:off x="548640" y="4663440"/>
            <a:ext cx="2103120" cy="475488"/>
          </a:xfrm>
          <a:prstGeom prst="roundRect">
            <a:avLst>
              <a:gd name="adj" fmla="val 50000"/>
            </a:avLst>
          </a:prstGeom>
          <a:solidFill>
            <a:srgbClr val="0B0D0C"/>
          </a:solidFill>
          <a:ln/>
        </p:spPr>
      </p:sp>
      <p:sp>
        <p:nvSpPr>
          <p:cNvPr id="9" name="Text 6"/>
          <p:cNvSpPr txBox="1"/>
          <p:nvPr/>
        </p:nvSpPr>
        <p:spPr>
          <a:xfrm>
            <a:off x="548640" y="4663440"/>
            <a:ext cx="2103120" cy="475488"/>
          </a:xfrm>
          <a:prstGeom prst="rect">
            <a:avLst/>
          </a:prstGeom>
          <a:noFill/>
          <a:ln/>
        </p:spPr>
        <p:txBody>
          <a:bodyPr wrap="square" lIns="0" tIns="0" rIns="0" bIns="0" rtlCol="0" anchor="ctr"/>
          <a:lstStyle/>
          <a:p>
            <a:pPr algn="ctr" indent="0" marL="0">
              <a:buNone/>
            </a:pPr>
            <a:r>
              <a:rPr lang="en-US" sz="1050" b="1" spc="150" kern="0" dirty="0">
                <a:solidFill>
                  <a:srgbClr val="B8E62E"/>
                </a:solidFill>
                <a:latin typeface="Plus Jakarta Sans" pitchFamily="34" charset="0"/>
                <a:ea typeface="Plus Jakarta Sans" pitchFamily="34" charset="-122"/>
                <a:cs typeface="Plus Jakarta Sans" pitchFamily="34" charset="-120"/>
              </a:rPr>
              <a:t>START FREE TRIAL  →</a:t>
            </a:r>
            <a:endParaRPr lang="en-US" sz="1050" dirty="0"/>
          </a:p>
        </p:txBody>
      </p:sp>
      <p:sp>
        <p:nvSpPr>
          <p:cNvPr id="10" name="Shape 7"/>
          <p:cNvSpPr/>
          <p:nvPr/>
        </p:nvSpPr>
        <p:spPr>
          <a:xfrm>
            <a:off x="2788920" y="4663440"/>
            <a:ext cx="2103120" cy="475488"/>
          </a:xfrm>
          <a:prstGeom prst="roundRect">
            <a:avLst>
              <a:gd name="adj" fmla="val 50000"/>
            </a:avLst>
          </a:prstGeom>
          <a:solidFill>
            <a:srgbClr val="B8E62E"/>
          </a:solidFill>
          <a:ln w="9525">
            <a:solidFill>
              <a:srgbClr val="0B0D0C"/>
            </a:solidFill>
            <a:prstDash val="solid"/>
          </a:ln>
        </p:spPr>
      </p:sp>
      <p:sp>
        <p:nvSpPr>
          <p:cNvPr id="11" name="Text 8"/>
          <p:cNvSpPr txBox="1"/>
          <p:nvPr/>
        </p:nvSpPr>
        <p:spPr>
          <a:xfrm>
            <a:off x="2788920" y="4663440"/>
            <a:ext cx="2103120" cy="475488"/>
          </a:xfrm>
          <a:prstGeom prst="rect">
            <a:avLst/>
          </a:prstGeom>
          <a:noFill/>
          <a:ln/>
        </p:spPr>
        <p:txBody>
          <a:bodyPr wrap="square" lIns="0" tIns="0" rIns="0" bIns="0" rtlCol="0" anchor="ctr"/>
          <a:lstStyle/>
          <a:p>
            <a:pPr algn="ctr" indent="0" marL="0">
              <a:buNone/>
            </a:pPr>
            <a:r>
              <a:rPr lang="en-US" sz="1050" b="1" spc="150" kern="0" dirty="0">
                <a:solidFill>
                  <a:srgbClr val="0B0D0C"/>
                </a:solidFill>
                <a:latin typeface="Plus Jakarta Sans" pitchFamily="34" charset="0"/>
                <a:ea typeface="Plus Jakarta Sans" pitchFamily="34" charset="-122"/>
                <a:cs typeface="Plus Jakarta Sans" pitchFamily="34" charset="-120"/>
              </a:rPr>
              <a:t>DEMO ON WHATSAPP</a:t>
            </a:r>
            <a:endParaRPr lang="en-US" sz="1050" dirty="0"/>
          </a:p>
        </p:txBody>
      </p:sp>
      <p:sp>
        <p:nvSpPr>
          <p:cNvPr id="12" name="Text 9"/>
          <p:cNvSpPr txBox="1"/>
          <p:nvPr/>
        </p:nvSpPr>
        <p:spPr>
          <a:xfrm>
            <a:off x="548640" y="5577840"/>
            <a:ext cx="1600200" cy="201168"/>
          </a:xfrm>
          <a:prstGeom prst="rect">
            <a:avLst/>
          </a:prstGeom>
          <a:noFill/>
          <a:ln/>
        </p:spPr>
        <p:txBody>
          <a:bodyPr wrap="square" lIns="0" tIns="0" rIns="0" bIns="0" rtlCol="0" anchor="t"/>
          <a:lstStyle/>
          <a:p>
            <a:pPr indent="0" marL="0">
              <a:buNone/>
            </a:pPr>
            <a:r>
              <a:rPr lang="en-US" sz="850" b="1" spc="200" kern="0" dirty="0">
                <a:solidFill>
                  <a:srgbClr val="3A4A10"/>
                </a:solidFill>
                <a:latin typeface="Plus Jakarta Sans" pitchFamily="34" charset="0"/>
                <a:ea typeface="Plus Jakarta Sans" pitchFamily="34" charset="-122"/>
                <a:cs typeface="Plus Jakarta Sans" pitchFamily="34" charset="-120"/>
              </a:rPr>
              <a:t>WHATSAPP</a:t>
            </a:r>
            <a:endParaRPr lang="en-US" sz="850" dirty="0"/>
          </a:p>
        </p:txBody>
      </p:sp>
      <p:sp>
        <p:nvSpPr>
          <p:cNvPr id="13" name="Text 10"/>
          <p:cNvSpPr txBox="1"/>
          <p:nvPr/>
        </p:nvSpPr>
        <p:spPr>
          <a:xfrm>
            <a:off x="548640" y="5815584"/>
            <a:ext cx="1600200" cy="274320"/>
          </a:xfrm>
          <a:prstGeom prst="rect">
            <a:avLst/>
          </a:prstGeom>
          <a:noFill/>
          <a:ln/>
        </p:spPr>
        <p:txBody>
          <a:bodyPr wrap="square" lIns="0" tIns="0" rIns="0" bIns="0" rtlCol="0" anchor="t"/>
          <a:lstStyle/>
          <a:p>
            <a:pPr indent="0" marL="0">
              <a:buNone/>
            </a:pPr>
            <a:r>
              <a:rPr lang="en-US" sz="1250" b="1" dirty="0">
                <a:solidFill>
                  <a:srgbClr val="0B0D0C"/>
                </a:solidFill>
                <a:latin typeface="Manrope" pitchFamily="34" charset="0"/>
                <a:ea typeface="Manrope" pitchFamily="34" charset="-122"/>
                <a:cs typeface="Manrope" pitchFamily="34" charset="-120"/>
              </a:rPr>
              <a:t>+91 7356 333 975</a:t>
            </a:r>
            <a:endParaRPr lang="en-US" sz="1250" dirty="0"/>
          </a:p>
        </p:txBody>
      </p:sp>
      <p:sp>
        <p:nvSpPr>
          <p:cNvPr id="14" name="Text 11"/>
          <p:cNvSpPr txBox="1"/>
          <p:nvPr/>
        </p:nvSpPr>
        <p:spPr>
          <a:xfrm>
            <a:off x="2148840" y="5577840"/>
            <a:ext cx="2514600" cy="201168"/>
          </a:xfrm>
          <a:prstGeom prst="rect">
            <a:avLst/>
          </a:prstGeom>
          <a:noFill/>
          <a:ln/>
        </p:spPr>
        <p:txBody>
          <a:bodyPr wrap="square" lIns="0" tIns="0" rIns="0" bIns="0" rtlCol="0" anchor="t"/>
          <a:lstStyle/>
          <a:p>
            <a:pPr indent="0" marL="0">
              <a:buNone/>
            </a:pPr>
            <a:r>
              <a:rPr lang="en-US" sz="850" b="1" spc="200" kern="0" dirty="0">
                <a:solidFill>
                  <a:srgbClr val="3A4A10"/>
                </a:solidFill>
                <a:latin typeface="Plus Jakarta Sans" pitchFamily="34" charset="0"/>
                <a:ea typeface="Plus Jakarta Sans" pitchFamily="34" charset="-122"/>
                <a:cs typeface="Plus Jakarta Sans" pitchFamily="34" charset="-120"/>
              </a:rPr>
              <a:t>EMAIL</a:t>
            </a:r>
            <a:endParaRPr lang="en-US" sz="850" dirty="0"/>
          </a:p>
        </p:txBody>
      </p:sp>
      <p:sp>
        <p:nvSpPr>
          <p:cNvPr id="15" name="Text 12"/>
          <p:cNvSpPr txBox="1"/>
          <p:nvPr/>
        </p:nvSpPr>
        <p:spPr>
          <a:xfrm>
            <a:off x="2148840" y="5815584"/>
            <a:ext cx="2514600" cy="274320"/>
          </a:xfrm>
          <a:prstGeom prst="rect">
            <a:avLst/>
          </a:prstGeom>
          <a:noFill/>
          <a:ln/>
        </p:spPr>
        <p:txBody>
          <a:bodyPr wrap="square" lIns="0" tIns="0" rIns="0" bIns="0" rtlCol="0" anchor="t"/>
          <a:lstStyle/>
          <a:p>
            <a:pPr indent="0" marL="0">
              <a:buNone/>
            </a:pPr>
            <a:r>
              <a:rPr lang="en-US" sz="1250" b="1" dirty="0">
                <a:solidFill>
                  <a:srgbClr val="0B0D0C"/>
                </a:solidFill>
                <a:latin typeface="Manrope" pitchFamily="34" charset="0"/>
                <a:ea typeface="Manrope" pitchFamily="34" charset="-122"/>
                <a:cs typeface="Manrope" pitchFamily="34" charset="-120"/>
              </a:rPr>
              <a:t>info@storibodcreatives.com</a:t>
            </a:r>
            <a:endParaRPr lang="en-US" sz="1250" dirty="0"/>
          </a:p>
        </p:txBody>
      </p:sp>
      <p:sp>
        <p:nvSpPr>
          <p:cNvPr id="16" name="Text 13"/>
          <p:cNvSpPr txBox="1"/>
          <p:nvPr/>
        </p:nvSpPr>
        <p:spPr>
          <a:xfrm>
            <a:off x="4663440" y="5577840"/>
            <a:ext cx="1600200" cy="201168"/>
          </a:xfrm>
          <a:prstGeom prst="rect">
            <a:avLst/>
          </a:prstGeom>
          <a:noFill/>
          <a:ln/>
        </p:spPr>
        <p:txBody>
          <a:bodyPr wrap="square" lIns="0" tIns="0" rIns="0" bIns="0" rtlCol="0" anchor="t"/>
          <a:lstStyle/>
          <a:p>
            <a:pPr indent="0" marL="0">
              <a:buNone/>
            </a:pPr>
            <a:r>
              <a:rPr lang="en-US" sz="850" b="1" spc="200" kern="0" dirty="0">
                <a:solidFill>
                  <a:srgbClr val="3A4A10"/>
                </a:solidFill>
                <a:latin typeface="Plus Jakarta Sans" pitchFamily="34" charset="0"/>
                <a:ea typeface="Plus Jakarta Sans" pitchFamily="34" charset="-122"/>
                <a:cs typeface="Plus Jakarta Sans" pitchFamily="34" charset="-120"/>
              </a:rPr>
              <a:t>WEB</a:t>
            </a:r>
            <a:endParaRPr lang="en-US" sz="850" dirty="0"/>
          </a:p>
        </p:txBody>
      </p:sp>
      <p:sp>
        <p:nvSpPr>
          <p:cNvPr id="17" name="Text 14"/>
          <p:cNvSpPr txBox="1"/>
          <p:nvPr/>
        </p:nvSpPr>
        <p:spPr>
          <a:xfrm>
            <a:off x="4663440" y="5815584"/>
            <a:ext cx="1600200" cy="274320"/>
          </a:xfrm>
          <a:prstGeom prst="rect">
            <a:avLst/>
          </a:prstGeom>
          <a:noFill/>
          <a:ln/>
        </p:spPr>
        <p:txBody>
          <a:bodyPr wrap="square" lIns="0" tIns="0" rIns="0" bIns="0" rtlCol="0" anchor="t"/>
          <a:lstStyle/>
          <a:p>
            <a:pPr indent="0" marL="0">
              <a:buNone/>
            </a:pPr>
            <a:r>
              <a:rPr lang="en-US" sz="1250" b="1" dirty="0">
                <a:solidFill>
                  <a:srgbClr val="0B0D0C"/>
                </a:solidFill>
                <a:latin typeface="Manrope" pitchFamily="34" charset="0"/>
                <a:ea typeface="Manrope" pitchFamily="34" charset="-122"/>
                <a:cs typeface="Manrope" pitchFamily="34" charset="-120"/>
              </a:rPr>
              <a:t>mybodstudio.com</a:t>
            </a:r>
            <a:endParaRPr lang="en-US" sz="1250" dirty="0"/>
          </a:p>
        </p:txBody>
      </p:sp>
      <p:sp>
        <p:nvSpPr>
          <p:cNvPr id="18" name="Text 15"/>
          <p:cNvSpPr txBox="1"/>
          <p:nvPr/>
        </p:nvSpPr>
        <p:spPr>
          <a:xfrm>
            <a:off x="6263640" y="5577840"/>
            <a:ext cx="1737360" cy="201168"/>
          </a:xfrm>
          <a:prstGeom prst="rect">
            <a:avLst/>
          </a:prstGeom>
          <a:noFill/>
          <a:ln/>
        </p:spPr>
        <p:txBody>
          <a:bodyPr wrap="square" lIns="0" tIns="0" rIns="0" bIns="0" rtlCol="0" anchor="t"/>
          <a:lstStyle/>
          <a:p>
            <a:pPr indent="0" marL="0">
              <a:buNone/>
            </a:pPr>
            <a:r>
              <a:rPr lang="en-US" sz="850" b="1" spc="200" kern="0" dirty="0">
                <a:solidFill>
                  <a:srgbClr val="3A4A10"/>
                </a:solidFill>
                <a:latin typeface="Plus Jakarta Sans" pitchFamily="34" charset="0"/>
                <a:ea typeface="Plus Jakarta Sans" pitchFamily="34" charset="-122"/>
                <a:cs typeface="Plus Jakarta Sans" pitchFamily="34" charset="-120"/>
              </a:rPr>
              <a:t>INSTAGRAM</a:t>
            </a:r>
            <a:endParaRPr lang="en-US" sz="850" dirty="0"/>
          </a:p>
        </p:txBody>
      </p:sp>
      <p:sp>
        <p:nvSpPr>
          <p:cNvPr id="19" name="Text 16"/>
          <p:cNvSpPr txBox="1"/>
          <p:nvPr/>
        </p:nvSpPr>
        <p:spPr>
          <a:xfrm>
            <a:off x="6263640" y="5815584"/>
            <a:ext cx="1737360" cy="274320"/>
          </a:xfrm>
          <a:prstGeom prst="rect">
            <a:avLst/>
          </a:prstGeom>
          <a:noFill/>
          <a:ln/>
        </p:spPr>
        <p:txBody>
          <a:bodyPr wrap="square" lIns="0" tIns="0" rIns="0" bIns="0" rtlCol="0" anchor="t"/>
          <a:lstStyle/>
          <a:p>
            <a:pPr indent="0" marL="0">
              <a:buNone/>
            </a:pPr>
            <a:r>
              <a:rPr lang="en-US" sz="1250" b="1" dirty="0">
                <a:solidFill>
                  <a:srgbClr val="0B0D0C"/>
                </a:solidFill>
                <a:latin typeface="Manrope" pitchFamily="34" charset="0"/>
                <a:ea typeface="Manrope" pitchFamily="34" charset="-122"/>
                <a:cs typeface="Manrope" pitchFamily="34" charset="-120"/>
              </a:rPr>
              <a:t>@storibod.creatives</a:t>
            </a:r>
            <a:endParaRPr lang="en-US" sz="1250" dirty="0"/>
          </a:p>
        </p:txBody>
      </p:sp>
      <p:pic>
        <p:nvPicPr>
          <p:cNvPr id="20" name="Image 1" descr="/tmp/claude-0/-home-user-Claude-Works/c609e3f7-e17f-5f43-8424-4df30cb9a6a9/scratchpad/build/img/fig_tasks_crop.png">    </p:cNvPr>
          <p:cNvPicPr>
            <a:picLocks noChangeAspect="1"/>
          </p:cNvPicPr>
          <p:nvPr/>
        </p:nvPicPr>
        <p:blipFill>
          <a:blip r:embed="rId2"/>
          <a:stretch>
            <a:fillRect/>
          </a:stretch>
        </p:blipFill>
        <p:spPr>
          <a:xfrm>
            <a:off x="8366760" y="274320"/>
            <a:ext cx="3091586" cy="63093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Bod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Bod App — Sales Deck</dc:title>
  <dc:subject>PptxGenJS Presentation</dc:subject>
  <dc:creator>Bod Studio · Storibod Creatives</dc:creator>
  <cp:lastModifiedBy>Bod Studio · Storibod Creatives</cp:lastModifiedBy>
  <cp:revision>1</cp:revision>
  <dcterms:created xsi:type="dcterms:W3CDTF">2026-09-26T14:26:50Z</dcterms:created>
  <dcterms:modified xsi:type="dcterms:W3CDTF">2026-09-26T14:26:50Z</dcterms:modified>
</cp:coreProperties>
</file>