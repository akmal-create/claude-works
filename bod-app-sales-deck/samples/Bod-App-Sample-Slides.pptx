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light. Bod Annan greets the room; the phone shows the home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follow-up nudge appears when a task has been waiting on a client. Each team sets how long that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Usually: briefs arrive on WhatsApp late at night, nobody knows who owns what, status lives in people's heads, the client goes quiet, and finished work sits unbilled. With Bod App each of those steps is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offering the walkthrough, not the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D0C"/>
        </a:solidFill>
      </p:bgPr>
    </p:bg>
    <p:spTree>
      <p:nvGrpSpPr>
        <p:cNvPr id="1" name=""/>
        <p:cNvGrpSpPr/>
        <p:nvPr/>
      </p:nvGrpSpPr>
      <p:grpSpPr>
        <a:xfrm>
          <a:off x="0" y="0"/>
          <a:ext cx="0" cy="0"/>
          <a:chOff x="0" y="0"/>
          <a:chExt cx="0" cy="0"/>
        </a:xfrm>
      </p:grpSpPr>
      <p:pic>
        <p:nvPicPr>
          <p:cNvPr id="2" name="Image 0" descr="/tmp/claude-0/-home-user-Claude-Works/c609e3f7-e17f-5f43-8424-4df30cb9a6a9/scratchpad/build/s/img/glow.png">    </p:cNvPr>
          <p:cNvPicPr>
            <a:picLocks noChangeAspect="1"/>
          </p:cNvPicPr>
          <p:nvPr/>
        </p:nvPicPr>
        <p:blipFill>
          <a:blip r:embed="rId1"/>
          <a:stretch>
            <a:fillRect/>
          </a:stretch>
        </p:blipFill>
        <p:spPr>
          <a:xfrm>
            <a:off x="6798445" y="-457200"/>
            <a:ext cx="6719130" cy="6719130"/>
          </a:xfrm>
          <a:prstGeom prst="rect">
            <a:avLst/>
          </a:prstGeom>
        </p:spPr>
      </p:pic>
      <p:pic>
        <p:nvPicPr>
          <p:cNvPr id="3" name="Image 1" descr="preencoded.png">    </p:cNvPr>
          <p:cNvPicPr>
            <a:picLocks noChangeAspect="1"/>
          </p:cNvPicPr>
          <p:nvPr/>
        </p:nvPicPr>
        <p:blipFill>
          <a:blip r:embed="rId2"/>
          <a:stretch>
            <a:fillRect/>
          </a:stretch>
        </p:blipFill>
        <p:spPr>
          <a:xfrm>
            <a:off x="685800" y="640080"/>
            <a:ext cx="457200" cy="457200"/>
          </a:xfrm>
          <a:prstGeom prst="rect">
            <a:avLst/>
          </a:prstGeom>
        </p:spPr>
      </p:pic>
      <p:sp>
        <p:nvSpPr>
          <p:cNvPr id="4" name="Text 0"/>
          <p:cNvSpPr txBox="1"/>
          <p:nvPr/>
        </p:nvSpPr>
        <p:spPr>
          <a:xfrm>
            <a:off x="1325880" y="768096"/>
            <a:ext cx="3657600" cy="201168"/>
          </a:xfrm>
          <a:prstGeom prst="rect">
            <a:avLst/>
          </a:prstGeom>
          <a:noFill/>
          <a:ln/>
        </p:spPr>
        <p:txBody>
          <a:bodyPr wrap="square" lIns="0" tIns="0" rIns="0" bIns="0" rtlCol="0" anchor="t"/>
          <a:lstStyle/>
          <a:p>
            <a:pPr indent="0" marL="0">
              <a:buNone/>
            </a:pPr>
            <a:r>
              <a:rPr lang="en-US" sz="1000" b="1" spc="200" kern="0" dirty="0">
                <a:solidFill>
                  <a:srgbClr val="9AA7A2"/>
                </a:solidFill>
                <a:latin typeface="Plus Jakarta Sans" pitchFamily="34" charset="0"/>
                <a:ea typeface="Plus Jakarta Sans" pitchFamily="34" charset="-122"/>
                <a:cs typeface="Plus Jakarta Sans" pitchFamily="34" charset="-120"/>
              </a:rPr>
              <a:t>A BOD STUDIO PRODUCT</a:t>
            </a:r>
            <a:endParaRPr lang="en-US" sz="1000" dirty="0"/>
          </a:p>
        </p:txBody>
      </p:sp>
      <p:sp>
        <p:nvSpPr>
          <p:cNvPr id="5" name="Text 1"/>
          <p:cNvSpPr txBox="1"/>
          <p:nvPr/>
        </p:nvSpPr>
        <p:spPr>
          <a:xfrm>
            <a:off x="685800" y="2148840"/>
            <a:ext cx="6216472" cy="1280160"/>
          </a:xfrm>
          <a:prstGeom prst="rect">
            <a:avLst/>
          </a:prstGeom>
          <a:noFill/>
          <a:ln/>
        </p:spPr>
        <p:txBody>
          <a:bodyPr wrap="square" lIns="0" tIns="0" rIns="0" bIns="0" rtlCol="0" anchor="b"/>
          <a:lstStyle/>
          <a:p>
            <a:pPr indent="0" marL="0">
              <a:buNone/>
            </a:pPr>
            <a:r>
              <a:rPr lang="en-US" sz="8800" b="1" dirty="0">
                <a:solidFill>
                  <a:srgbClr val="F4F6F5"/>
                </a:solidFill>
                <a:latin typeface="Epilogue" pitchFamily="34" charset="0"/>
                <a:ea typeface="Epilogue" pitchFamily="34" charset="-122"/>
                <a:cs typeface="Epilogue" pitchFamily="34" charset="-120"/>
              </a:rPr>
              <a:t>Bod App</a:t>
            </a:r>
            <a:endParaRPr lang="en-US" sz="8800" dirty="0"/>
          </a:p>
        </p:txBody>
      </p:sp>
      <p:sp>
        <p:nvSpPr>
          <p:cNvPr id="6" name="Text 2"/>
          <p:cNvSpPr txBox="1"/>
          <p:nvPr/>
        </p:nvSpPr>
        <p:spPr>
          <a:xfrm>
            <a:off x="685800" y="3520440"/>
            <a:ext cx="6216472" cy="457200"/>
          </a:xfrm>
          <a:prstGeom prst="rect">
            <a:avLst/>
          </a:prstGeom>
          <a:noFill/>
          <a:ln/>
        </p:spPr>
        <p:txBody>
          <a:bodyPr wrap="square" lIns="0" tIns="0" rIns="0" bIns="0" rtlCol="0" anchor="t"/>
          <a:lstStyle/>
          <a:p>
            <a:pPr indent="0" marL="0">
              <a:buNone/>
            </a:pPr>
            <a:r>
              <a:rPr lang="en-US" sz="2600" b="1" dirty="0">
                <a:solidFill>
                  <a:srgbClr val="B8E62E"/>
                </a:solidFill>
                <a:latin typeface="Epilogue" pitchFamily="34" charset="0"/>
                <a:ea typeface="Epilogue" pitchFamily="34" charset="-122"/>
                <a:cs typeface="Epilogue" pitchFamily="34" charset="-120"/>
              </a:rPr>
              <a:t>The task app for creative agencies.</a:t>
            </a:r>
            <a:endParaRPr lang="en-US" sz="2600" dirty="0"/>
          </a:p>
        </p:txBody>
      </p:sp>
      <p:sp>
        <p:nvSpPr>
          <p:cNvPr id="7" name="Text 3"/>
          <p:cNvSpPr txBox="1"/>
          <p:nvPr/>
        </p:nvSpPr>
        <p:spPr>
          <a:xfrm>
            <a:off x="685800" y="4069080"/>
            <a:ext cx="4375023" cy="731520"/>
          </a:xfrm>
          <a:prstGeom prst="rect">
            <a:avLst/>
          </a:prstGeom>
          <a:noFill/>
          <a:ln/>
        </p:spPr>
        <p:txBody>
          <a:bodyPr wrap="square" lIns="0" tIns="0" rIns="0" bIns="0" rtlCol="0" anchor="t"/>
          <a:lstStyle/>
          <a:p>
            <a:pPr indent="0" marL="0">
              <a:lnSpc>
                <a:spcPct val="125000"/>
              </a:lnSpc>
              <a:buNone/>
            </a:pPr>
            <a:r>
              <a:rPr lang="en-US" sz="1800" dirty="0">
                <a:solidFill>
                  <a:srgbClr val="9AA7A2"/>
                </a:solidFill>
                <a:latin typeface="Manrope" pitchFamily="34" charset="0"/>
                <a:ea typeface="Manrope" pitchFamily="34" charset="-122"/>
                <a:cs typeface="Manrope" pitchFamily="34" charset="-120"/>
              </a:rPr>
              <a:t>It handles the admin, so your team can do the work.</a:t>
            </a:r>
            <a:endParaRPr lang="en-US" sz="1800" dirty="0"/>
          </a:p>
        </p:txBody>
      </p:sp>
      <p:sp>
        <p:nvSpPr>
          <p:cNvPr id="8" name="Text 4"/>
          <p:cNvSpPr txBox="1"/>
          <p:nvPr/>
        </p:nvSpPr>
        <p:spPr>
          <a:xfrm>
            <a:off x="685800" y="6355080"/>
            <a:ext cx="3657600"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BODSTUDIO.COM</a:t>
            </a:r>
            <a:endParaRPr lang="en-US" sz="1000" dirty="0"/>
          </a:p>
        </p:txBody>
      </p:sp>
      <p:pic>
        <p:nvPicPr>
          <p:cNvPr id="9" name="Image 2" descr="/tmp/claude-0/-home-user-Claude-Works/c609e3f7-e17f-5f43-8424-4df30cb9a6a9/scratchpad/build/s/img/m_front_home_dark.png">    </p:cNvPr>
          <p:cNvPicPr>
            <a:picLocks noChangeAspect="1"/>
          </p:cNvPicPr>
          <p:nvPr/>
        </p:nvPicPr>
        <p:blipFill>
          <a:blip r:embed="rId3"/>
          <a:stretch>
            <a:fillRect/>
          </a:stretch>
        </p:blipFill>
        <p:spPr>
          <a:xfrm>
            <a:off x="8810125" y="640080"/>
            <a:ext cx="2695770" cy="5577840"/>
          </a:xfrm>
          <a:prstGeom prst="rect">
            <a:avLst/>
          </a:prstGeom>
        </p:spPr>
      </p:pic>
      <p:pic>
        <p:nvPicPr>
          <p:cNvPr id="10" name="Image 3" descr="/tmp/claude-0/-home-user-Claude-Works/c609e3f7-e17f-5f43-8424-4df30cb9a6a9/scratchpad/build/s/img/annan_waving.png">    </p:cNvPr>
          <p:cNvPicPr>
            <a:picLocks noChangeAspect="1"/>
          </p:cNvPicPr>
          <p:nvPr/>
        </p:nvPicPr>
        <p:blipFill>
          <a:blip r:embed="rId4"/>
          <a:stretch>
            <a:fillRect/>
          </a:stretch>
        </p:blipFill>
        <p:spPr>
          <a:xfrm>
            <a:off x="6633094" y="3749040"/>
            <a:ext cx="2451351" cy="2468880"/>
          </a:xfrm>
          <a:prstGeom prst="rect">
            <a:avLst/>
          </a:prstGeom>
        </p:spPr>
      </p:pic>
      <p:sp>
        <p:nvSpPr>
          <p:cNvPr id="11" name="Shape 5"/>
          <p:cNvSpPr/>
          <p:nvPr/>
        </p:nvSpPr>
        <p:spPr>
          <a:xfrm>
            <a:off x="7159841" y="2793291"/>
            <a:ext cx="2167235" cy="795528"/>
          </a:xfrm>
          <a:prstGeom prst="roundRect">
            <a:avLst>
              <a:gd name="adj" fmla="val 20690"/>
            </a:avLst>
          </a:prstGeom>
          <a:solidFill>
            <a:srgbClr val="F4F6F5"/>
          </a:solidFill>
          <a:ln/>
        </p:spPr>
      </p:sp>
      <p:sp>
        <p:nvSpPr>
          <p:cNvPr id="12" name="Shape 6"/>
          <p:cNvSpPr/>
          <p:nvPr/>
        </p:nvSpPr>
        <p:spPr>
          <a:xfrm rot="10800000">
            <a:off x="7474416" y="3579675"/>
            <a:ext cx="237744" cy="182880"/>
          </a:xfrm>
          <a:prstGeom prst="triangle">
            <a:avLst/>
          </a:prstGeom>
          <a:solidFill>
            <a:srgbClr val="F4F6F5"/>
          </a:solidFill>
          <a:ln/>
        </p:spPr>
      </p:sp>
      <p:sp>
        <p:nvSpPr>
          <p:cNvPr id="13" name="Text 7"/>
          <p:cNvSpPr txBox="1"/>
          <p:nvPr/>
        </p:nvSpPr>
        <p:spPr>
          <a:xfrm>
            <a:off x="7397585" y="2957883"/>
            <a:ext cx="1691747" cy="466344"/>
          </a:xfrm>
          <a:prstGeom prst="rect">
            <a:avLst/>
          </a:prstGeom>
          <a:noFill/>
          <a:ln/>
        </p:spPr>
        <p:txBody>
          <a:bodyPr wrap="square" lIns="0" tIns="0" rIns="0" bIns="0" rtlCol="0" anchor="ctr"/>
          <a:lstStyle/>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Come in. Let me</a:t>
            </a:r>
            <a:endParaRPr lang="en-US" sz="1500" dirty="0"/>
          </a:p>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show you around.</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D0C"/>
        </a:solidFill>
      </p:bgPr>
    </p:bg>
    <p:spTree>
      <p:nvGrpSpPr>
        <p:cNvPr id="1" name=""/>
        <p:cNvGrpSpPr/>
        <p:nvPr/>
      </p:nvGrpSpPr>
      <p:grpSpPr>
        <a:xfrm>
          <a:off x="0" y="0"/>
          <a:ext cx="0" cy="0"/>
          <a:chOff x="0" y="0"/>
          <a:chExt cx="0" cy="0"/>
        </a:xfrm>
      </p:grpSpPr>
      <p:pic>
        <p:nvPicPr>
          <p:cNvPr id="2" name="Image 0" descr="/tmp/claude-0/-home-user-Claude-Works/c609e3f7-e17f-5f43-8424-4df30cb9a6a9/scratchpad/build/s/img/glow.png">    </p:cNvPr>
          <p:cNvPicPr>
            <a:picLocks noChangeAspect="1"/>
          </p:cNvPicPr>
          <p:nvPr/>
        </p:nvPicPr>
        <p:blipFill>
          <a:blip r:embed="rId1"/>
          <a:stretch>
            <a:fillRect/>
          </a:stretch>
        </p:blipFill>
        <p:spPr>
          <a:xfrm>
            <a:off x="5667832" y="-548640"/>
            <a:ext cx="6949440" cy="6949440"/>
          </a:xfrm>
          <a:prstGeom prst="rect">
            <a:avLst/>
          </a:prstGeom>
        </p:spPr>
      </p:pic>
      <p:sp>
        <p:nvSpPr>
          <p:cNvPr id="3" name="Text 0"/>
          <p:cNvSpPr txBox="1"/>
          <p:nvPr/>
        </p:nvSpPr>
        <p:spPr>
          <a:xfrm>
            <a:off x="685800" y="640080"/>
            <a:ext cx="2743200" cy="201168"/>
          </a:xfrm>
          <a:prstGeom prst="rect">
            <a:avLst/>
          </a:prstGeom>
          <a:noFill/>
          <a:ln/>
        </p:spPr>
        <p:txBody>
          <a:bodyPr wrap="square" lIns="0" tIns="0" rIns="0" bIns="0" rtlCol="0" anchor="t"/>
          <a:lstStyle/>
          <a:p>
            <a:pPr indent="0" marL="0">
              <a:buNone/>
            </a:pPr>
            <a:r>
              <a:rPr lang="en-US" sz="1000" b="1" spc="200" kern="0" dirty="0">
                <a:solidFill>
                  <a:srgbClr val="B8E62E"/>
                </a:solidFill>
                <a:latin typeface="Plus Jakarta Sans" pitchFamily="34" charset="0"/>
                <a:ea typeface="Plus Jakarta Sans" pitchFamily="34" charset="-122"/>
                <a:cs typeface="Plus Jakarta Sans" pitchFamily="34" charset="-120"/>
              </a:rPr>
              <a:t>FOLLOW-UPS</a:t>
            </a:r>
            <a:endParaRPr lang="en-US" sz="1000" dirty="0"/>
          </a:p>
        </p:txBody>
      </p:sp>
      <p:sp>
        <p:nvSpPr>
          <p:cNvPr id="4" name="Text 1"/>
          <p:cNvSpPr txBox="1"/>
          <p:nvPr/>
        </p:nvSpPr>
        <p:spPr>
          <a:xfrm>
            <a:off x="685800" y="1005840"/>
            <a:ext cx="5295748" cy="1417320"/>
          </a:xfrm>
          <a:prstGeom prst="rect">
            <a:avLst/>
          </a:prstGeom>
          <a:noFill/>
          <a:ln/>
        </p:spPr>
        <p:txBody>
          <a:bodyPr wrap="square" lIns="0" tIns="0" rIns="0" bIns="0" rtlCol="0" anchor="t"/>
          <a:lstStyle/>
          <a:p>
            <a:pPr indent="0" marL="0">
              <a:lnSpc>
                <a:spcPct val="100000"/>
              </a:lnSpc>
              <a:buNone/>
            </a:pPr>
            <a:r>
              <a:rPr lang="en-US" sz="4400" b="1" dirty="0">
                <a:solidFill>
                  <a:srgbClr val="F4F6F5"/>
                </a:solidFill>
                <a:latin typeface="Epilogue" pitchFamily="34" charset="0"/>
                <a:ea typeface="Epilogue" pitchFamily="34" charset="-122"/>
                <a:cs typeface="Epilogue" pitchFamily="34" charset="-120"/>
              </a:rPr>
              <a:t>The client's</a:t>
            </a:r>
            <a:endParaRPr lang="en-US" sz="4400" dirty="0"/>
          </a:p>
          <a:p>
            <a:pPr indent="0" marL="0">
              <a:lnSpc>
                <a:spcPct val="100000"/>
              </a:lnSpc>
              <a:buNone/>
            </a:pPr>
            <a:r>
              <a:rPr lang="en-US" sz="4400" b="1" dirty="0">
                <a:solidFill>
                  <a:srgbClr val="F4F6F5"/>
                </a:solidFill>
                <a:latin typeface="Epilogue" pitchFamily="34" charset="0"/>
                <a:ea typeface="Epilogue" pitchFamily="34" charset="-122"/>
                <a:cs typeface="Epilogue" pitchFamily="34" charset="-120"/>
              </a:rPr>
              <a:t>gone quiet.</a:t>
            </a:r>
            <a:endParaRPr lang="en-US" sz="4400" dirty="0"/>
          </a:p>
        </p:txBody>
      </p:sp>
      <p:sp>
        <p:nvSpPr>
          <p:cNvPr id="5" name="Text 2"/>
          <p:cNvSpPr txBox="1"/>
          <p:nvPr/>
        </p:nvSpPr>
        <p:spPr>
          <a:xfrm>
            <a:off x="685800" y="2468880"/>
            <a:ext cx="4375023" cy="777240"/>
          </a:xfrm>
          <a:prstGeom prst="rect">
            <a:avLst/>
          </a:prstGeom>
          <a:noFill/>
          <a:ln/>
        </p:spPr>
        <p:txBody>
          <a:bodyPr wrap="square" lIns="0" tIns="0" rIns="0" bIns="0" rtlCol="0" anchor="t"/>
          <a:lstStyle/>
          <a:p>
            <a:pPr indent="0" marL="0">
              <a:lnSpc>
                <a:spcPct val="125000"/>
              </a:lnSpc>
              <a:buNone/>
            </a:pPr>
            <a:r>
              <a:rPr lang="en-US" sz="1800" dirty="0">
                <a:solidFill>
                  <a:srgbClr val="9AA7A2"/>
                </a:solidFill>
                <a:latin typeface="Manrope" pitchFamily="34" charset="0"/>
                <a:ea typeface="Manrope" pitchFamily="34" charset="-122"/>
                <a:cs typeface="Manrope" pitchFamily="34" charset="-120"/>
              </a:rPr>
              <a:t>Bod App notices, and drafts the follow-up for you. You just send it.</a:t>
            </a:r>
            <a:endParaRPr lang="en-US" sz="1800" dirty="0"/>
          </a:p>
        </p:txBody>
      </p:sp>
      <p:pic>
        <p:nvPicPr>
          <p:cNvPr id="6" name="Image 1" descr="/tmp/claude-0/-home-user-Claude-Works/c609e3f7-e17f-5f43-8424-4df30cb9a6a9/scratchpad/build/s/img/annan_pointing.png">    </p:cNvPr>
          <p:cNvPicPr>
            <a:picLocks noChangeAspect="1"/>
          </p:cNvPicPr>
          <p:nvPr/>
        </p:nvPicPr>
        <p:blipFill>
          <a:blip r:embed="rId2"/>
          <a:stretch>
            <a:fillRect/>
          </a:stretch>
        </p:blipFill>
        <p:spPr>
          <a:xfrm>
            <a:off x="594360" y="4434840"/>
            <a:ext cx="1726241" cy="1737360"/>
          </a:xfrm>
          <a:prstGeom prst="rect">
            <a:avLst/>
          </a:prstGeom>
        </p:spPr>
      </p:pic>
      <p:sp>
        <p:nvSpPr>
          <p:cNvPr id="7" name="Shape 3"/>
          <p:cNvSpPr/>
          <p:nvPr/>
        </p:nvSpPr>
        <p:spPr>
          <a:xfrm>
            <a:off x="368752" y="3456121"/>
            <a:ext cx="2814816" cy="795528"/>
          </a:xfrm>
          <a:prstGeom prst="roundRect">
            <a:avLst>
              <a:gd name="adj" fmla="val 20690"/>
            </a:avLst>
          </a:prstGeom>
          <a:solidFill>
            <a:srgbClr val="F4F6F5"/>
          </a:solidFill>
          <a:ln/>
        </p:spPr>
      </p:sp>
      <p:sp>
        <p:nvSpPr>
          <p:cNvPr id="8" name="Shape 4"/>
          <p:cNvSpPr/>
          <p:nvPr/>
        </p:nvSpPr>
        <p:spPr>
          <a:xfrm rot="10800000">
            <a:off x="1150621" y="4242505"/>
            <a:ext cx="237744" cy="182880"/>
          </a:xfrm>
          <a:prstGeom prst="triangle">
            <a:avLst/>
          </a:prstGeom>
          <a:solidFill>
            <a:srgbClr val="F4F6F5"/>
          </a:solidFill>
          <a:ln/>
        </p:spPr>
      </p:sp>
      <p:sp>
        <p:nvSpPr>
          <p:cNvPr id="9" name="Text 5"/>
          <p:cNvSpPr txBox="1"/>
          <p:nvPr/>
        </p:nvSpPr>
        <p:spPr>
          <a:xfrm>
            <a:off x="606496" y="3620713"/>
            <a:ext cx="2339328" cy="466344"/>
          </a:xfrm>
          <a:prstGeom prst="rect">
            <a:avLst/>
          </a:prstGeom>
          <a:noFill/>
          <a:ln/>
        </p:spPr>
        <p:txBody>
          <a:bodyPr wrap="square" lIns="0" tIns="0" rIns="0" bIns="0" rtlCol="0" anchor="ctr"/>
          <a:lstStyle/>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No reply yet? I've written</a:t>
            </a:r>
            <a:endParaRPr lang="en-US" sz="1500" dirty="0"/>
          </a:p>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the follow-up for you.</a:t>
            </a:r>
            <a:endParaRPr lang="en-US" sz="1500" dirty="0"/>
          </a:p>
        </p:txBody>
      </p:sp>
      <p:pic>
        <p:nvPicPr>
          <p:cNvPr id="10" name="Image 2" descr="/tmp/claude-0/-home-user-Claude-Works/c609e3f7-e17f-5f43-8424-4df30cb9a6a9/scratchpad/build/s/img/m_front_nudge_light.png">    </p:cNvPr>
          <p:cNvPicPr>
            <a:picLocks noChangeAspect="1"/>
          </p:cNvPicPr>
          <p:nvPr/>
        </p:nvPicPr>
        <p:blipFill>
          <a:blip r:embed="rId3"/>
          <a:stretch>
            <a:fillRect/>
          </a:stretch>
        </p:blipFill>
        <p:spPr>
          <a:xfrm>
            <a:off x="9163669" y="1325880"/>
            <a:ext cx="2342226" cy="4846320"/>
          </a:xfrm>
          <a:prstGeom prst="rect">
            <a:avLst/>
          </a:prstGeom>
        </p:spPr>
      </p:pic>
      <p:pic>
        <p:nvPicPr>
          <p:cNvPr id="11" name="Image 3" descr="/tmp/claude-0/-home-user-Claude-Works/c609e3f7-e17f-5f43-8424-4df30cb9a6a9/scratchpad/build/s/img/m_front_nudge_dark.png">    </p:cNvPr>
          <p:cNvPicPr>
            <a:picLocks noChangeAspect="1"/>
          </p:cNvPicPr>
          <p:nvPr/>
        </p:nvPicPr>
        <p:blipFill>
          <a:blip r:embed="rId4"/>
          <a:stretch>
            <a:fillRect/>
          </a:stretch>
        </p:blipFill>
        <p:spPr>
          <a:xfrm>
            <a:off x="7130872" y="685800"/>
            <a:ext cx="2651577" cy="5486400"/>
          </a:xfrm>
          <a:prstGeom prst="rect">
            <a:avLst/>
          </a:prstGeom>
        </p:spPr>
      </p:pic>
      <p:sp>
        <p:nvSpPr>
          <p:cNvPr id="12" name="Text 6"/>
          <p:cNvSpPr txBox="1"/>
          <p:nvPr/>
        </p:nvSpPr>
        <p:spPr>
          <a:xfrm>
            <a:off x="7130872" y="6355080"/>
            <a:ext cx="2651577" cy="201168"/>
          </a:xfrm>
          <a:prstGeom prst="rect">
            <a:avLst/>
          </a:prstGeom>
          <a:noFill/>
          <a:ln/>
        </p:spPr>
        <p:txBody>
          <a:bodyPr wrap="square" lIns="0" tIns="0" rIns="0" bIns="0" rtlCol="0" anchor="t"/>
          <a:lstStyle/>
          <a:p>
            <a:pPr algn="ct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DARK THEME</a:t>
            </a:r>
            <a:endParaRPr lang="en-US" sz="1000" dirty="0"/>
          </a:p>
        </p:txBody>
      </p:sp>
      <p:sp>
        <p:nvSpPr>
          <p:cNvPr id="13" name="Text 7"/>
          <p:cNvSpPr txBox="1"/>
          <p:nvPr/>
        </p:nvSpPr>
        <p:spPr>
          <a:xfrm>
            <a:off x="9782449" y="6355080"/>
            <a:ext cx="1723446" cy="201168"/>
          </a:xfrm>
          <a:prstGeom prst="rect">
            <a:avLst/>
          </a:prstGeom>
          <a:noFill/>
          <a:ln/>
        </p:spPr>
        <p:txBody>
          <a:bodyPr wrap="square" lIns="0" tIns="0" rIns="0" bIns="0" rtlCol="0" anchor="t"/>
          <a:lstStyle/>
          <a:p>
            <a:pPr algn="ct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LIGHT THEME</a:t>
            </a:r>
            <a:endParaRPr lang="en-US" sz="1000" dirty="0"/>
          </a:p>
        </p:txBody>
      </p:sp>
      <p:sp>
        <p:nvSpPr>
          <p:cNvPr id="14" name="Text 8"/>
          <p:cNvSpPr txBox="1"/>
          <p:nvPr/>
        </p:nvSpPr>
        <p:spPr>
          <a:xfrm>
            <a:off x="685800" y="6355080"/>
            <a:ext cx="5029200"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BOD APP  ·  THE TASK APP FOR CREATIVE AGENCIES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D0C"/>
        </a:solidFill>
      </p:bgPr>
    </p:bg>
    <p:spTree>
      <p:nvGrpSpPr>
        <p:cNvPr id="1" name=""/>
        <p:cNvGrpSpPr/>
        <p:nvPr/>
      </p:nvGrpSpPr>
      <p:grpSpPr>
        <a:xfrm>
          <a:off x="0" y="0"/>
          <a:ext cx="0" cy="0"/>
          <a:chOff x="0" y="0"/>
          <a:chExt cx="0" cy="0"/>
        </a:xfrm>
      </p:grpSpPr>
      <p:sp>
        <p:nvSpPr>
          <p:cNvPr id="2" name="Text 0"/>
          <p:cNvSpPr txBox="1"/>
          <p:nvPr/>
        </p:nvSpPr>
        <p:spPr>
          <a:xfrm>
            <a:off x="685800" y="640080"/>
            <a:ext cx="3657600" cy="201168"/>
          </a:xfrm>
          <a:prstGeom prst="rect">
            <a:avLst/>
          </a:prstGeom>
          <a:noFill/>
          <a:ln/>
        </p:spPr>
        <p:txBody>
          <a:bodyPr wrap="square" lIns="0" tIns="0" rIns="0" bIns="0" rtlCol="0" anchor="t"/>
          <a:lstStyle/>
          <a:p>
            <a:pPr indent="0" marL="0">
              <a:buNone/>
            </a:pPr>
            <a:r>
              <a:rPr lang="en-US" sz="1000" b="1" spc="200" kern="0" dirty="0">
                <a:solidFill>
                  <a:srgbClr val="B8E62E"/>
                </a:solidFill>
                <a:latin typeface="Plus Jakarta Sans" pitchFamily="34" charset="0"/>
                <a:ea typeface="Plus Jakarta Sans" pitchFamily="34" charset="-122"/>
                <a:cs typeface="Plus Jakarta Sans" pitchFamily="34" charset="-120"/>
              </a:rPr>
              <a:t>HOW IT WORKS</a:t>
            </a:r>
            <a:endParaRPr lang="en-US" sz="1000" dirty="0"/>
          </a:p>
        </p:txBody>
      </p:sp>
      <p:sp>
        <p:nvSpPr>
          <p:cNvPr id="3" name="Text 1"/>
          <p:cNvSpPr txBox="1"/>
          <p:nvPr/>
        </p:nvSpPr>
        <p:spPr>
          <a:xfrm>
            <a:off x="685800" y="1005840"/>
            <a:ext cx="7137197" cy="731520"/>
          </a:xfrm>
          <a:prstGeom prst="rect">
            <a:avLst/>
          </a:prstGeom>
          <a:noFill/>
          <a:ln/>
        </p:spPr>
        <p:txBody>
          <a:bodyPr wrap="square" lIns="0" tIns="0" rIns="0" bIns="0" rtlCol="0" anchor="t"/>
          <a:lstStyle/>
          <a:p>
            <a:pPr indent="0" marL="0">
              <a:buNone/>
            </a:pPr>
            <a:r>
              <a:rPr lang="en-US" sz="4400" b="1" dirty="0">
                <a:solidFill>
                  <a:srgbClr val="F4F6F5"/>
                </a:solidFill>
                <a:latin typeface="Epilogue" pitchFamily="34" charset="0"/>
                <a:ea typeface="Epilogue" pitchFamily="34" charset="-122"/>
                <a:cs typeface="Epilogue" pitchFamily="34" charset="-120"/>
              </a:rPr>
              <a:t>From brief to invoice.</a:t>
            </a:r>
            <a:endParaRPr lang="en-US" sz="4400" dirty="0"/>
          </a:p>
        </p:txBody>
      </p:sp>
      <p:sp>
        <p:nvSpPr>
          <p:cNvPr id="4" name="Text 2"/>
          <p:cNvSpPr txBox="1"/>
          <p:nvPr/>
        </p:nvSpPr>
        <p:spPr>
          <a:xfrm>
            <a:off x="685800" y="1783080"/>
            <a:ext cx="7137197" cy="411480"/>
          </a:xfrm>
          <a:prstGeom prst="rect">
            <a:avLst/>
          </a:prstGeom>
          <a:noFill/>
          <a:ln/>
        </p:spPr>
        <p:txBody>
          <a:bodyPr wrap="square" lIns="0" tIns="0" rIns="0" bIns="0" rtlCol="0" anchor="t"/>
          <a:lstStyle/>
          <a:p>
            <a:pPr indent="0" marL="0">
              <a:buNone/>
            </a:pPr>
            <a:r>
              <a:rPr lang="en-US" sz="1800" dirty="0">
                <a:solidFill>
                  <a:srgbClr val="9AA7A2"/>
                </a:solidFill>
                <a:latin typeface="Manrope" pitchFamily="34" charset="0"/>
                <a:ea typeface="Manrope" pitchFamily="34" charset="-122"/>
                <a:cs typeface="Manrope" pitchFamily="34" charset="-120"/>
              </a:rPr>
              <a:t>Every job takes the same five steps.</a:t>
            </a:r>
            <a:endParaRPr lang="en-US" sz="1800" dirty="0"/>
          </a:p>
        </p:txBody>
      </p:sp>
      <p:sp>
        <p:nvSpPr>
          <p:cNvPr id="5" name="Shape 3"/>
          <p:cNvSpPr/>
          <p:nvPr/>
        </p:nvSpPr>
        <p:spPr>
          <a:xfrm>
            <a:off x="1554480" y="3223260"/>
            <a:ext cx="8912108" cy="0"/>
          </a:xfrm>
          <a:prstGeom prst="line">
            <a:avLst/>
          </a:prstGeom>
          <a:noFill/>
          <a:ln w="19050">
            <a:solidFill>
              <a:srgbClr val="262C2E"/>
            </a:solidFill>
            <a:prstDash val="solid"/>
          </a:ln>
        </p:spPr>
      </p:sp>
      <p:sp>
        <p:nvSpPr>
          <p:cNvPr id="6" name="Shape 4"/>
          <p:cNvSpPr/>
          <p:nvPr/>
        </p:nvSpPr>
        <p:spPr>
          <a:xfrm>
            <a:off x="685800" y="2788920"/>
            <a:ext cx="868680" cy="868680"/>
          </a:xfrm>
          <a:prstGeom prst="ellipse">
            <a:avLst/>
          </a:prstGeom>
          <a:solidFill>
            <a:srgbClr val="15191A"/>
          </a:solidFill>
          <a:ln w="12700">
            <a:solidFill>
              <a:srgbClr val="262C2E"/>
            </a:solidFill>
            <a:prstDash val="solid"/>
          </a:ln>
        </p:spPr>
      </p:sp>
      <p:pic>
        <p:nvPicPr>
          <p:cNvPr id="7" name="Image 0" descr="preencoded.png">    </p:cNvPr>
          <p:cNvPicPr>
            <a:picLocks noChangeAspect="1"/>
          </p:cNvPicPr>
          <p:nvPr/>
        </p:nvPicPr>
        <p:blipFill>
          <a:blip r:embed="rId1"/>
          <a:stretch>
            <a:fillRect/>
          </a:stretch>
        </p:blipFill>
        <p:spPr>
          <a:xfrm>
            <a:off x="929030" y="3032150"/>
            <a:ext cx="382219" cy="382219"/>
          </a:xfrm>
          <a:prstGeom prst="rect">
            <a:avLst/>
          </a:prstGeom>
        </p:spPr>
      </p:pic>
      <p:sp>
        <p:nvSpPr>
          <p:cNvPr id="8" name="Text 5"/>
          <p:cNvSpPr txBox="1"/>
          <p:nvPr/>
        </p:nvSpPr>
        <p:spPr>
          <a:xfrm>
            <a:off x="685800" y="3977640"/>
            <a:ext cx="1907987"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STEP 1</a:t>
            </a:r>
            <a:endParaRPr lang="en-US" sz="1000" dirty="0"/>
          </a:p>
        </p:txBody>
      </p:sp>
      <p:sp>
        <p:nvSpPr>
          <p:cNvPr id="9" name="Text 6"/>
          <p:cNvSpPr txBox="1"/>
          <p:nvPr/>
        </p:nvSpPr>
        <p:spPr>
          <a:xfrm>
            <a:off x="685800" y="4251960"/>
            <a:ext cx="1907987" cy="731520"/>
          </a:xfrm>
          <a:prstGeom prst="rect">
            <a:avLst/>
          </a:prstGeom>
          <a:noFill/>
          <a:ln/>
        </p:spPr>
        <p:txBody>
          <a:bodyPr wrap="square" lIns="0" tIns="0" rIns="0" bIns="0" rtlCol="0" anchor="t"/>
          <a:lstStyle/>
          <a:p>
            <a:pPr indent="0" marL="0">
              <a:lnSpc>
                <a:spcPct val="100000"/>
              </a:lnSpc>
              <a:buNone/>
            </a:pPr>
            <a:r>
              <a:rPr lang="en-US" sz="2200" b="1" dirty="0">
                <a:solidFill>
                  <a:srgbClr val="F4F6F5"/>
                </a:solidFill>
                <a:latin typeface="Epilogue" pitchFamily="34" charset="0"/>
                <a:ea typeface="Epilogue" pitchFamily="34" charset="-122"/>
                <a:cs typeface="Epilogue" pitchFamily="34" charset="-120"/>
              </a:rPr>
              <a:t>Brief comes in</a:t>
            </a:r>
            <a:endParaRPr lang="en-US" sz="2200" dirty="0"/>
          </a:p>
        </p:txBody>
      </p:sp>
      <p:sp>
        <p:nvSpPr>
          <p:cNvPr id="10" name="Text 7"/>
          <p:cNvSpPr txBox="1"/>
          <p:nvPr/>
        </p:nvSpPr>
        <p:spPr>
          <a:xfrm>
            <a:off x="685800" y="5074920"/>
            <a:ext cx="1907987" cy="640080"/>
          </a:xfrm>
          <a:prstGeom prst="rect">
            <a:avLst/>
          </a:prstGeom>
          <a:noFill/>
          <a:ln/>
        </p:spPr>
        <p:txBody>
          <a:bodyPr wrap="square" lIns="0" tIns="0" rIns="0" bIns="0" rtlCol="0" anchor="t"/>
          <a:lstStyle/>
          <a:p>
            <a:pPr indent="0" marL="0">
              <a:lnSpc>
                <a:spcPct val="125000"/>
              </a:lnSpc>
              <a:buNone/>
            </a:pPr>
            <a:r>
              <a:rPr lang="en-US" sz="1500" dirty="0">
                <a:solidFill>
                  <a:srgbClr val="9AA7A2"/>
                </a:solidFill>
                <a:latin typeface="Manrope" pitchFamily="34" charset="0"/>
                <a:ea typeface="Manrope" pitchFamily="34" charset="-122"/>
                <a:cs typeface="Manrope" pitchFamily="34" charset="-120"/>
              </a:rPr>
              <a:t>Say it, type it or drop the PDF.</a:t>
            </a:r>
            <a:endParaRPr lang="en-US" sz="1500" dirty="0"/>
          </a:p>
        </p:txBody>
      </p:sp>
      <p:sp>
        <p:nvSpPr>
          <p:cNvPr id="11" name="Shape 8"/>
          <p:cNvSpPr/>
          <p:nvPr/>
        </p:nvSpPr>
        <p:spPr>
          <a:xfrm>
            <a:off x="2913827" y="2788920"/>
            <a:ext cx="868680" cy="868680"/>
          </a:xfrm>
          <a:prstGeom prst="ellipse">
            <a:avLst/>
          </a:prstGeom>
          <a:solidFill>
            <a:srgbClr val="15191A"/>
          </a:solidFill>
          <a:ln w="12700">
            <a:solidFill>
              <a:srgbClr val="262C2E"/>
            </a:solidFill>
            <a:prstDash val="solid"/>
          </a:ln>
        </p:spPr>
      </p:sp>
      <p:pic>
        <p:nvPicPr>
          <p:cNvPr id="12" name="Image 1" descr="preencoded.png">    </p:cNvPr>
          <p:cNvPicPr>
            <a:picLocks noChangeAspect="1"/>
          </p:cNvPicPr>
          <p:nvPr/>
        </p:nvPicPr>
        <p:blipFill>
          <a:blip r:embed="rId2"/>
          <a:stretch>
            <a:fillRect/>
          </a:stretch>
        </p:blipFill>
        <p:spPr>
          <a:xfrm>
            <a:off x="3157057" y="3032150"/>
            <a:ext cx="382219" cy="382219"/>
          </a:xfrm>
          <a:prstGeom prst="rect">
            <a:avLst/>
          </a:prstGeom>
        </p:spPr>
      </p:pic>
      <p:sp>
        <p:nvSpPr>
          <p:cNvPr id="13" name="Text 9"/>
          <p:cNvSpPr txBox="1"/>
          <p:nvPr/>
        </p:nvSpPr>
        <p:spPr>
          <a:xfrm>
            <a:off x="2913827" y="3977640"/>
            <a:ext cx="1907987"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STEP 2</a:t>
            </a:r>
            <a:endParaRPr lang="en-US" sz="1000" dirty="0"/>
          </a:p>
        </p:txBody>
      </p:sp>
      <p:sp>
        <p:nvSpPr>
          <p:cNvPr id="14" name="Text 10"/>
          <p:cNvSpPr txBox="1"/>
          <p:nvPr/>
        </p:nvSpPr>
        <p:spPr>
          <a:xfrm>
            <a:off x="2913827" y="4251960"/>
            <a:ext cx="1907987" cy="731520"/>
          </a:xfrm>
          <a:prstGeom prst="rect">
            <a:avLst/>
          </a:prstGeom>
          <a:noFill/>
          <a:ln/>
        </p:spPr>
        <p:txBody>
          <a:bodyPr wrap="square" lIns="0" tIns="0" rIns="0" bIns="0" rtlCol="0" anchor="t"/>
          <a:lstStyle/>
          <a:p>
            <a:pPr indent="0" marL="0">
              <a:lnSpc>
                <a:spcPct val="100000"/>
              </a:lnSpc>
              <a:buNone/>
            </a:pPr>
            <a:r>
              <a:rPr lang="en-US" sz="2200" b="1" dirty="0">
                <a:solidFill>
                  <a:srgbClr val="F4F6F5"/>
                </a:solidFill>
                <a:latin typeface="Epilogue" pitchFamily="34" charset="0"/>
                <a:ea typeface="Epilogue" pitchFamily="34" charset="-122"/>
                <a:cs typeface="Epilogue" pitchFamily="34" charset="-120"/>
              </a:rPr>
              <a:t>Gets assigned</a:t>
            </a:r>
            <a:endParaRPr lang="en-US" sz="2200" dirty="0"/>
          </a:p>
        </p:txBody>
      </p:sp>
      <p:sp>
        <p:nvSpPr>
          <p:cNvPr id="15" name="Text 11"/>
          <p:cNvSpPr txBox="1"/>
          <p:nvPr/>
        </p:nvSpPr>
        <p:spPr>
          <a:xfrm>
            <a:off x="2913827" y="5074920"/>
            <a:ext cx="1907987" cy="640080"/>
          </a:xfrm>
          <a:prstGeom prst="rect">
            <a:avLst/>
          </a:prstGeom>
          <a:noFill/>
          <a:ln/>
        </p:spPr>
        <p:txBody>
          <a:bodyPr wrap="square" lIns="0" tIns="0" rIns="0" bIns="0" rtlCol="0" anchor="t"/>
          <a:lstStyle/>
          <a:p>
            <a:pPr indent="0" marL="0">
              <a:lnSpc>
                <a:spcPct val="125000"/>
              </a:lnSpc>
              <a:buNone/>
            </a:pPr>
            <a:r>
              <a:rPr lang="en-US" sz="1500" dirty="0">
                <a:solidFill>
                  <a:srgbClr val="9AA7A2"/>
                </a:solidFill>
                <a:latin typeface="Manrope" pitchFamily="34" charset="0"/>
                <a:ea typeface="Manrope" pitchFamily="34" charset="-122"/>
                <a:cs typeface="Manrope" pitchFamily="34" charset="-120"/>
              </a:rPr>
              <a:t>The PM approves it once.</a:t>
            </a:r>
            <a:endParaRPr lang="en-US" sz="1500" dirty="0"/>
          </a:p>
        </p:txBody>
      </p:sp>
      <p:sp>
        <p:nvSpPr>
          <p:cNvPr id="16" name="Shape 12"/>
          <p:cNvSpPr/>
          <p:nvPr/>
        </p:nvSpPr>
        <p:spPr>
          <a:xfrm>
            <a:off x="5141854" y="2788920"/>
            <a:ext cx="868680" cy="868680"/>
          </a:xfrm>
          <a:prstGeom prst="ellipse">
            <a:avLst/>
          </a:prstGeom>
          <a:solidFill>
            <a:srgbClr val="15191A"/>
          </a:solidFill>
          <a:ln w="12700">
            <a:solidFill>
              <a:srgbClr val="262C2E"/>
            </a:solidFill>
            <a:prstDash val="solid"/>
          </a:ln>
        </p:spPr>
      </p:sp>
      <p:pic>
        <p:nvPicPr>
          <p:cNvPr id="17" name="Image 2" descr="preencoded.png">    </p:cNvPr>
          <p:cNvPicPr>
            <a:picLocks noChangeAspect="1"/>
          </p:cNvPicPr>
          <p:nvPr/>
        </p:nvPicPr>
        <p:blipFill>
          <a:blip r:embed="rId3"/>
          <a:stretch>
            <a:fillRect/>
          </a:stretch>
        </p:blipFill>
        <p:spPr>
          <a:xfrm>
            <a:off x="5385084" y="3032150"/>
            <a:ext cx="382219" cy="382219"/>
          </a:xfrm>
          <a:prstGeom prst="rect">
            <a:avLst/>
          </a:prstGeom>
        </p:spPr>
      </p:pic>
      <p:sp>
        <p:nvSpPr>
          <p:cNvPr id="18" name="Text 13"/>
          <p:cNvSpPr txBox="1"/>
          <p:nvPr/>
        </p:nvSpPr>
        <p:spPr>
          <a:xfrm>
            <a:off x="5141854" y="3977640"/>
            <a:ext cx="1907987"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STEP 3</a:t>
            </a:r>
            <a:endParaRPr lang="en-US" sz="1000" dirty="0"/>
          </a:p>
        </p:txBody>
      </p:sp>
      <p:sp>
        <p:nvSpPr>
          <p:cNvPr id="19" name="Text 14"/>
          <p:cNvSpPr txBox="1"/>
          <p:nvPr/>
        </p:nvSpPr>
        <p:spPr>
          <a:xfrm>
            <a:off x="5141854" y="4251960"/>
            <a:ext cx="1907987" cy="731520"/>
          </a:xfrm>
          <a:prstGeom prst="rect">
            <a:avLst/>
          </a:prstGeom>
          <a:noFill/>
          <a:ln/>
        </p:spPr>
        <p:txBody>
          <a:bodyPr wrap="square" lIns="0" tIns="0" rIns="0" bIns="0" rtlCol="0" anchor="t"/>
          <a:lstStyle/>
          <a:p>
            <a:pPr indent="0" marL="0">
              <a:lnSpc>
                <a:spcPct val="100000"/>
              </a:lnSpc>
              <a:buNone/>
            </a:pPr>
            <a:r>
              <a:rPr lang="en-US" sz="2200" b="1" dirty="0">
                <a:solidFill>
                  <a:srgbClr val="F4F6F5"/>
                </a:solidFill>
                <a:latin typeface="Epilogue" pitchFamily="34" charset="0"/>
                <a:ea typeface="Epilogue" pitchFamily="34" charset="-122"/>
                <a:cs typeface="Epilogue" pitchFamily="34" charset="-120"/>
              </a:rPr>
              <a:t>Work happens</a:t>
            </a:r>
            <a:endParaRPr lang="en-US" sz="2200" dirty="0"/>
          </a:p>
        </p:txBody>
      </p:sp>
      <p:sp>
        <p:nvSpPr>
          <p:cNvPr id="20" name="Text 15"/>
          <p:cNvSpPr txBox="1"/>
          <p:nvPr/>
        </p:nvSpPr>
        <p:spPr>
          <a:xfrm>
            <a:off x="5141854" y="5074920"/>
            <a:ext cx="1907987" cy="640080"/>
          </a:xfrm>
          <a:prstGeom prst="rect">
            <a:avLst/>
          </a:prstGeom>
          <a:noFill/>
          <a:ln/>
        </p:spPr>
        <p:txBody>
          <a:bodyPr wrap="square" lIns="0" tIns="0" rIns="0" bIns="0" rtlCol="0" anchor="t"/>
          <a:lstStyle/>
          <a:p>
            <a:pPr indent="0" marL="0">
              <a:lnSpc>
                <a:spcPct val="125000"/>
              </a:lnSpc>
              <a:buNone/>
            </a:pPr>
            <a:r>
              <a:rPr lang="en-US" sz="1500" dirty="0">
                <a:solidFill>
                  <a:srgbClr val="9AA7A2"/>
                </a:solidFill>
                <a:latin typeface="Manrope" pitchFamily="34" charset="0"/>
                <a:ea typeface="Manrope" pitchFamily="34" charset="-122"/>
                <a:cs typeface="Manrope" pitchFamily="34" charset="-120"/>
              </a:rPr>
              <a:t>Everyone can see where it's at.</a:t>
            </a:r>
            <a:endParaRPr lang="en-US" sz="1500" dirty="0"/>
          </a:p>
        </p:txBody>
      </p:sp>
      <p:sp>
        <p:nvSpPr>
          <p:cNvPr id="21" name="Shape 16"/>
          <p:cNvSpPr/>
          <p:nvPr/>
        </p:nvSpPr>
        <p:spPr>
          <a:xfrm>
            <a:off x="7369881" y="2788920"/>
            <a:ext cx="868680" cy="868680"/>
          </a:xfrm>
          <a:prstGeom prst="ellipse">
            <a:avLst/>
          </a:prstGeom>
          <a:solidFill>
            <a:srgbClr val="15191A"/>
          </a:solidFill>
          <a:ln w="12700">
            <a:solidFill>
              <a:srgbClr val="262C2E"/>
            </a:solidFill>
            <a:prstDash val="solid"/>
          </a:ln>
        </p:spPr>
      </p:sp>
      <p:pic>
        <p:nvPicPr>
          <p:cNvPr id="22" name="Image 3" descr="preencoded.png">    </p:cNvPr>
          <p:cNvPicPr>
            <a:picLocks noChangeAspect="1"/>
          </p:cNvPicPr>
          <p:nvPr/>
        </p:nvPicPr>
        <p:blipFill>
          <a:blip r:embed="rId4"/>
          <a:stretch>
            <a:fillRect/>
          </a:stretch>
        </p:blipFill>
        <p:spPr>
          <a:xfrm>
            <a:off x="7613112" y="3032150"/>
            <a:ext cx="382219" cy="382219"/>
          </a:xfrm>
          <a:prstGeom prst="rect">
            <a:avLst/>
          </a:prstGeom>
        </p:spPr>
      </p:pic>
      <p:sp>
        <p:nvSpPr>
          <p:cNvPr id="23" name="Text 17"/>
          <p:cNvSpPr txBox="1"/>
          <p:nvPr/>
        </p:nvSpPr>
        <p:spPr>
          <a:xfrm>
            <a:off x="7369881" y="3977640"/>
            <a:ext cx="1907987"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STEP 4</a:t>
            </a:r>
            <a:endParaRPr lang="en-US" sz="1000" dirty="0"/>
          </a:p>
        </p:txBody>
      </p:sp>
      <p:sp>
        <p:nvSpPr>
          <p:cNvPr id="24" name="Text 18"/>
          <p:cNvSpPr txBox="1"/>
          <p:nvPr/>
        </p:nvSpPr>
        <p:spPr>
          <a:xfrm>
            <a:off x="7369881" y="4251960"/>
            <a:ext cx="1907987" cy="731520"/>
          </a:xfrm>
          <a:prstGeom prst="rect">
            <a:avLst/>
          </a:prstGeom>
          <a:noFill/>
          <a:ln/>
        </p:spPr>
        <p:txBody>
          <a:bodyPr wrap="square" lIns="0" tIns="0" rIns="0" bIns="0" rtlCol="0" anchor="t"/>
          <a:lstStyle/>
          <a:p>
            <a:pPr indent="0" marL="0">
              <a:lnSpc>
                <a:spcPct val="100000"/>
              </a:lnSpc>
              <a:buNone/>
            </a:pPr>
            <a:r>
              <a:rPr lang="en-US" sz="2200" b="1" dirty="0">
                <a:solidFill>
                  <a:srgbClr val="F4F6F5"/>
                </a:solidFill>
                <a:latin typeface="Epilogue" pitchFamily="34" charset="0"/>
                <a:ea typeface="Epilogue" pitchFamily="34" charset="-122"/>
                <a:cs typeface="Epilogue" pitchFamily="34" charset="-120"/>
              </a:rPr>
              <a:t>Client nudged</a:t>
            </a:r>
            <a:endParaRPr lang="en-US" sz="2200" dirty="0"/>
          </a:p>
        </p:txBody>
      </p:sp>
      <p:sp>
        <p:nvSpPr>
          <p:cNvPr id="25" name="Text 19"/>
          <p:cNvSpPr txBox="1"/>
          <p:nvPr/>
        </p:nvSpPr>
        <p:spPr>
          <a:xfrm>
            <a:off x="7369881" y="5074920"/>
            <a:ext cx="1907987" cy="640080"/>
          </a:xfrm>
          <a:prstGeom prst="rect">
            <a:avLst/>
          </a:prstGeom>
          <a:noFill/>
          <a:ln/>
        </p:spPr>
        <p:txBody>
          <a:bodyPr wrap="square" lIns="0" tIns="0" rIns="0" bIns="0" rtlCol="0" anchor="t"/>
          <a:lstStyle/>
          <a:p>
            <a:pPr indent="0" marL="0">
              <a:lnSpc>
                <a:spcPct val="125000"/>
              </a:lnSpc>
              <a:buNone/>
            </a:pPr>
            <a:r>
              <a:rPr lang="en-US" sz="1500" dirty="0">
                <a:solidFill>
                  <a:srgbClr val="9AA7A2"/>
                </a:solidFill>
                <a:latin typeface="Manrope" pitchFamily="34" charset="0"/>
                <a:ea typeface="Manrope" pitchFamily="34" charset="-122"/>
                <a:cs typeface="Manrope" pitchFamily="34" charset="-120"/>
              </a:rPr>
              <a:t>Gone quiet? It drafts the follow-up.</a:t>
            </a:r>
            <a:endParaRPr lang="en-US" sz="1500" dirty="0"/>
          </a:p>
        </p:txBody>
      </p:sp>
      <p:sp>
        <p:nvSpPr>
          <p:cNvPr id="26" name="Shape 20"/>
          <p:cNvSpPr/>
          <p:nvPr/>
        </p:nvSpPr>
        <p:spPr>
          <a:xfrm>
            <a:off x="9597908" y="2788920"/>
            <a:ext cx="868680" cy="868680"/>
          </a:xfrm>
          <a:prstGeom prst="ellipse">
            <a:avLst/>
          </a:prstGeom>
          <a:solidFill>
            <a:srgbClr val="B8E62E"/>
          </a:solidFill>
          <a:ln w="12700">
            <a:solidFill>
              <a:srgbClr val="B8E62E"/>
            </a:solidFill>
            <a:prstDash val="solid"/>
          </a:ln>
        </p:spPr>
      </p:sp>
      <p:pic>
        <p:nvPicPr>
          <p:cNvPr id="27" name="Image 4" descr="preencoded.png">    </p:cNvPr>
          <p:cNvPicPr>
            <a:picLocks noChangeAspect="1"/>
          </p:cNvPicPr>
          <p:nvPr/>
        </p:nvPicPr>
        <p:blipFill>
          <a:blip r:embed="rId5"/>
          <a:stretch>
            <a:fillRect/>
          </a:stretch>
        </p:blipFill>
        <p:spPr>
          <a:xfrm>
            <a:off x="9841139" y="3032150"/>
            <a:ext cx="382219" cy="382219"/>
          </a:xfrm>
          <a:prstGeom prst="rect">
            <a:avLst/>
          </a:prstGeom>
        </p:spPr>
      </p:pic>
      <p:sp>
        <p:nvSpPr>
          <p:cNvPr id="28" name="Text 21"/>
          <p:cNvSpPr txBox="1"/>
          <p:nvPr/>
        </p:nvSpPr>
        <p:spPr>
          <a:xfrm>
            <a:off x="9597908" y="3977640"/>
            <a:ext cx="1907987"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STEP 5</a:t>
            </a:r>
            <a:endParaRPr lang="en-US" sz="1000" dirty="0"/>
          </a:p>
        </p:txBody>
      </p:sp>
      <p:sp>
        <p:nvSpPr>
          <p:cNvPr id="29" name="Text 22"/>
          <p:cNvSpPr txBox="1"/>
          <p:nvPr/>
        </p:nvSpPr>
        <p:spPr>
          <a:xfrm>
            <a:off x="9597908" y="4251960"/>
            <a:ext cx="1907987" cy="731520"/>
          </a:xfrm>
          <a:prstGeom prst="rect">
            <a:avLst/>
          </a:prstGeom>
          <a:noFill/>
          <a:ln/>
        </p:spPr>
        <p:txBody>
          <a:bodyPr wrap="square" lIns="0" tIns="0" rIns="0" bIns="0" rtlCol="0" anchor="t"/>
          <a:lstStyle/>
          <a:p>
            <a:pPr indent="0" marL="0">
              <a:lnSpc>
                <a:spcPct val="100000"/>
              </a:lnSpc>
              <a:buNone/>
            </a:pPr>
            <a:r>
              <a:rPr lang="en-US" sz="2200" b="1" dirty="0">
                <a:solidFill>
                  <a:srgbClr val="F4F6F5"/>
                </a:solidFill>
                <a:latin typeface="Epilogue" pitchFamily="34" charset="0"/>
                <a:ea typeface="Epilogue" pitchFamily="34" charset="-122"/>
                <a:cs typeface="Epilogue" pitchFamily="34" charset="-120"/>
              </a:rPr>
              <a:t>Billed</a:t>
            </a:r>
            <a:endParaRPr lang="en-US" sz="2200" dirty="0"/>
          </a:p>
        </p:txBody>
      </p:sp>
      <p:sp>
        <p:nvSpPr>
          <p:cNvPr id="30" name="Text 23"/>
          <p:cNvSpPr txBox="1"/>
          <p:nvPr/>
        </p:nvSpPr>
        <p:spPr>
          <a:xfrm>
            <a:off x="9597908" y="5074920"/>
            <a:ext cx="1907987" cy="640080"/>
          </a:xfrm>
          <a:prstGeom prst="rect">
            <a:avLst/>
          </a:prstGeom>
          <a:noFill/>
          <a:ln/>
        </p:spPr>
        <p:txBody>
          <a:bodyPr wrap="square" lIns="0" tIns="0" rIns="0" bIns="0" rtlCol="0" anchor="t"/>
          <a:lstStyle/>
          <a:p>
            <a:pPr indent="0" marL="0">
              <a:lnSpc>
                <a:spcPct val="125000"/>
              </a:lnSpc>
              <a:buNone/>
            </a:pPr>
            <a:r>
              <a:rPr lang="en-US" sz="1500" dirty="0">
                <a:solidFill>
                  <a:srgbClr val="9AA7A2"/>
                </a:solidFill>
                <a:latin typeface="Manrope" pitchFamily="34" charset="0"/>
                <a:ea typeface="Manrope" pitchFamily="34" charset="-122"/>
                <a:cs typeface="Manrope" pitchFamily="34" charset="-120"/>
              </a:rPr>
              <a:t>Done work goes straight to billing.</a:t>
            </a:r>
            <a:endParaRPr lang="en-US" sz="1500" dirty="0"/>
          </a:p>
        </p:txBody>
      </p:sp>
      <p:pic>
        <p:nvPicPr>
          <p:cNvPr id="31" name="Image 5" descr="/tmp/claude-0/-home-user-Claude-Works/c609e3f7-e17f-5f43-8424-4df30cb9a6a9/scratchpad/build/s/img/annan_proud.png">    </p:cNvPr>
          <p:cNvPicPr>
            <a:picLocks noChangeAspect="1"/>
          </p:cNvPicPr>
          <p:nvPr/>
        </p:nvPicPr>
        <p:blipFill>
          <a:blip r:embed="rId6"/>
          <a:stretch>
            <a:fillRect/>
          </a:stretch>
        </p:blipFill>
        <p:spPr>
          <a:xfrm>
            <a:off x="10134419" y="548640"/>
            <a:ext cx="1481205" cy="1783080"/>
          </a:xfrm>
          <a:prstGeom prst="rect">
            <a:avLst/>
          </a:prstGeom>
        </p:spPr>
      </p:pic>
      <p:sp>
        <p:nvSpPr>
          <p:cNvPr id="32" name="Shape 24"/>
          <p:cNvSpPr/>
          <p:nvPr/>
        </p:nvSpPr>
        <p:spPr>
          <a:xfrm>
            <a:off x="7580991" y="803483"/>
            <a:ext cx="2497872" cy="795528"/>
          </a:xfrm>
          <a:prstGeom prst="roundRect">
            <a:avLst>
              <a:gd name="adj" fmla="val 20690"/>
            </a:avLst>
          </a:prstGeom>
          <a:solidFill>
            <a:srgbClr val="F4F6F5"/>
          </a:solidFill>
          <a:ln/>
        </p:spPr>
      </p:sp>
      <p:sp>
        <p:nvSpPr>
          <p:cNvPr id="33" name="Shape 25"/>
          <p:cNvSpPr/>
          <p:nvPr/>
        </p:nvSpPr>
        <p:spPr>
          <a:xfrm rot="5400000">
            <a:off x="10042287" y="1082375"/>
            <a:ext cx="237744" cy="182880"/>
          </a:xfrm>
          <a:prstGeom prst="triangle">
            <a:avLst/>
          </a:prstGeom>
          <a:solidFill>
            <a:srgbClr val="F4F6F5"/>
          </a:solidFill>
          <a:ln/>
        </p:spPr>
      </p:sp>
      <p:sp>
        <p:nvSpPr>
          <p:cNvPr id="34" name="Text 26"/>
          <p:cNvSpPr txBox="1"/>
          <p:nvPr/>
        </p:nvSpPr>
        <p:spPr>
          <a:xfrm>
            <a:off x="7818735" y="968075"/>
            <a:ext cx="2022384" cy="466344"/>
          </a:xfrm>
          <a:prstGeom prst="rect">
            <a:avLst/>
          </a:prstGeom>
          <a:noFill/>
          <a:ln/>
        </p:spPr>
        <p:txBody>
          <a:bodyPr wrap="square" lIns="0" tIns="0" rIns="0" bIns="0" rtlCol="0" anchor="ctr"/>
          <a:lstStyle/>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Every job, same path.</a:t>
            </a:r>
            <a:endParaRPr lang="en-US" sz="1500" dirty="0"/>
          </a:p>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I watch every step.</a:t>
            </a:r>
            <a:endParaRPr lang="en-US" sz="1500" dirty="0"/>
          </a:p>
        </p:txBody>
      </p:sp>
      <p:sp>
        <p:nvSpPr>
          <p:cNvPr id="35" name="Text 27"/>
          <p:cNvSpPr txBox="1"/>
          <p:nvPr/>
        </p:nvSpPr>
        <p:spPr>
          <a:xfrm>
            <a:off x="685800" y="6355080"/>
            <a:ext cx="6400800"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BOD APP  ·  THE TASK APP FOR CREATIVE AGENCIES</a:t>
            </a:r>
            <a:endParaRPr lang="en-US" sz="1000" dirty="0"/>
          </a:p>
        </p:txBody>
      </p:sp>
      <p:sp>
        <p:nvSpPr>
          <p:cNvPr id="36" name="Text 28"/>
          <p:cNvSpPr txBox="1"/>
          <p:nvPr/>
        </p:nvSpPr>
        <p:spPr>
          <a:xfrm>
            <a:off x="10591495" y="6355080"/>
            <a:ext cx="914400" cy="201168"/>
          </a:xfrm>
          <a:prstGeom prst="rect">
            <a:avLst/>
          </a:prstGeom>
          <a:noFill/>
          <a:ln/>
        </p:spPr>
        <p:txBody>
          <a:bodyPr wrap="square" lIns="0" tIns="0" rIns="0" bIns="0" rtlCol="0" anchor="t"/>
          <a:lstStyle/>
          <a:p>
            <a:pPr algn="r" indent="0" marL="0">
              <a:buNone/>
            </a:pPr>
            <a:r>
              <a:rPr lang="en-US" sz="1000" b="1" dirty="0">
                <a:solidFill>
                  <a:srgbClr val="6B7773"/>
                </a:solidFill>
                <a:latin typeface="Plus Jakarta Sans" pitchFamily="34" charset="0"/>
                <a:ea typeface="Plus Jakarta Sans" pitchFamily="34" charset="-122"/>
                <a:cs typeface="Plus Jakarta Sans"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D0C"/>
        </a:solidFill>
      </p:bgPr>
    </p:bg>
    <p:spTree>
      <p:nvGrpSpPr>
        <p:cNvPr id="1" name=""/>
        <p:cNvGrpSpPr/>
        <p:nvPr/>
      </p:nvGrpSpPr>
      <p:grpSpPr>
        <a:xfrm>
          <a:off x="0" y="0"/>
          <a:ext cx="0" cy="0"/>
          <a:chOff x="0" y="0"/>
          <a:chExt cx="0" cy="0"/>
        </a:xfrm>
      </p:grpSpPr>
      <p:pic>
        <p:nvPicPr>
          <p:cNvPr id="2" name="Image 0" descr="/tmp/claude-0/-home-user-Claude-Works/c609e3f7-e17f-5f43-8424-4df30cb9a6a9/scratchpad/build/s/img/glow.png">    </p:cNvPr>
          <p:cNvPicPr>
            <a:picLocks noChangeAspect="1"/>
          </p:cNvPicPr>
          <p:nvPr/>
        </p:nvPicPr>
        <p:blipFill>
          <a:blip r:embed="rId1"/>
          <a:stretch>
            <a:fillRect/>
          </a:stretch>
        </p:blipFill>
        <p:spPr>
          <a:xfrm>
            <a:off x="6763936" y="-548640"/>
            <a:ext cx="6936520" cy="6936520"/>
          </a:xfrm>
          <a:prstGeom prst="rect">
            <a:avLst/>
          </a:prstGeom>
        </p:spPr>
      </p:pic>
      <p:sp>
        <p:nvSpPr>
          <p:cNvPr id="3" name="Text 0"/>
          <p:cNvSpPr txBox="1"/>
          <p:nvPr/>
        </p:nvSpPr>
        <p:spPr>
          <a:xfrm>
            <a:off x="685800" y="640080"/>
            <a:ext cx="3657600" cy="201168"/>
          </a:xfrm>
          <a:prstGeom prst="rect">
            <a:avLst/>
          </a:prstGeom>
          <a:noFill/>
          <a:ln/>
        </p:spPr>
        <p:txBody>
          <a:bodyPr wrap="square" lIns="0" tIns="0" rIns="0" bIns="0" rtlCol="0" anchor="t"/>
          <a:lstStyle/>
          <a:p>
            <a:pPr indent="0" marL="0">
              <a:buNone/>
            </a:pPr>
            <a:r>
              <a:rPr lang="en-US" sz="1000" b="1" spc="200" kern="0" dirty="0">
                <a:solidFill>
                  <a:srgbClr val="B8E62E"/>
                </a:solidFill>
                <a:latin typeface="Plus Jakarta Sans" pitchFamily="34" charset="0"/>
                <a:ea typeface="Plus Jakarta Sans" pitchFamily="34" charset="-122"/>
                <a:cs typeface="Plus Jakarta Sans" pitchFamily="34" charset="-120"/>
              </a:rPr>
              <a:t>LET'S TALK</a:t>
            </a:r>
            <a:endParaRPr lang="en-US" sz="1000" dirty="0"/>
          </a:p>
        </p:txBody>
      </p:sp>
      <p:sp>
        <p:nvSpPr>
          <p:cNvPr id="4" name="Text 1"/>
          <p:cNvSpPr txBox="1"/>
          <p:nvPr/>
        </p:nvSpPr>
        <p:spPr>
          <a:xfrm>
            <a:off x="685800" y="1005840"/>
            <a:ext cx="6216472" cy="1417320"/>
          </a:xfrm>
          <a:prstGeom prst="rect">
            <a:avLst/>
          </a:prstGeom>
          <a:noFill/>
          <a:ln/>
        </p:spPr>
        <p:txBody>
          <a:bodyPr wrap="square" lIns="0" tIns="0" rIns="0" bIns="0" rtlCol="0" anchor="t"/>
          <a:lstStyle/>
          <a:p>
            <a:pPr indent="0" marL="0">
              <a:lnSpc>
                <a:spcPct val="100000"/>
              </a:lnSpc>
              <a:buNone/>
            </a:pPr>
            <a:r>
              <a:rPr lang="en-US" sz="4400" b="1" dirty="0">
                <a:solidFill>
                  <a:srgbClr val="F4F6F5"/>
                </a:solidFill>
                <a:latin typeface="Epilogue" pitchFamily="34" charset="0"/>
                <a:ea typeface="Epilogue" pitchFamily="34" charset="-122"/>
                <a:cs typeface="Epilogue" pitchFamily="34" charset="-120"/>
              </a:rPr>
              <a:t>Come see</a:t>
            </a:r>
            <a:endParaRPr lang="en-US" sz="4400" dirty="0"/>
          </a:p>
          <a:p>
            <a:pPr indent="0" marL="0">
              <a:lnSpc>
                <a:spcPct val="100000"/>
              </a:lnSpc>
              <a:buNone/>
            </a:pPr>
            <a:r>
              <a:rPr lang="en-US" sz="4400" b="1" dirty="0">
                <a:solidFill>
                  <a:srgbClr val="F4F6F5"/>
                </a:solidFill>
                <a:latin typeface="Epilogue" pitchFamily="34" charset="0"/>
                <a:ea typeface="Epilogue" pitchFamily="34" charset="-122"/>
                <a:cs typeface="Epilogue" pitchFamily="34" charset="-120"/>
              </a:rPr>
              <a:t>how it feels.</a:t>
            </a:r>
            <a:endParaRPr lang="en-US" sz="4400" dirty="0"/>
          </a:p>
        </p:txBody>
      </p:sp>
      <p:sp>
        <p:nvSpPr>
          <p:cNvPr id="5" name="Text 2"/>
          <p:cNvSpPr txBox="1"/>
          <p:nvPr/>
        </p:nvSpPr>
        <p:spPr>
          <a:xfrm>
            <a:off x="685800" y="2468880"/>
            <a:ext cx="5295748" cy="411480"/>
          </a:xfrm>
          <a:prstGeom prst="rect">
            <a:avLst/>
          </a:prstGeom>
          <a:noFill/>
          <a:ln/>
        </p:spPr>
        <p:txBody>
          <a:bodyPr wrap="square" lIns="0" tIns="0" rIns="0" bIns="0" rtlCol="0" anchor="t"/>
          <a:lstStyle/>
          <a:p>
            <a:pPr indent="0" marL="0">
              <a:buNone/>
            </a:pPr>
            <a:r>
              <a:rPr lang="en-US" sz="1800" dirty="0">
                <a:solidFill>
                  <a:srgbClr val="9AA7A2"/>
                </a:solidFill>
                <a:latin typeface="Manrope" pitchFamily="34" charset="0"/>
                <a:ea typeface="Manrope" pitchFamily="34" charset="-122"/>
                <a:cs typeface="Manrope" pitchFamily="34" charset="-120"/>
              </a:rPr>
              <a:t>A 20-minute walkthrough on your own workflow.</a:t>
            </a:r>
            <a:endParaRPr lang="en-US" sz="1800" dirty="0"/>
          </a:p>
        </p:txBody>
      </p:sp>
      <p:sp>
        <p:nvSpPr>
          <p:cNvPr id="6" name="Text 3"/>
          <p:cNvSpPr txBox="1"/>
          <p:nvPr/>
        </p:nvSpPr>
        <p:spPr>
          <a:xfrm>
            <a:off x="685800" y="3429000"/>
            <a:ext cx="5295748" cy="594360"/>
          </a:xfrm>
          <a:prstGeom prst="rect">
            <a:avLst/>
          </a:prstGeom>
          <a:noFill/>
          <a:ln/>
        </p:spPr>
        <p:txBody>
          <a:bodyPr wrap="square" lIns="0" tIns="0" rIns="0" bIns="0" rtlCol="0" anchor="t"/>
          <a:lstStyle/>
          <a:p>
            <a:pPr indent="0" marL="0">
              <a:buNone/>
            </a:pPr>
            <a:r>
              <a:rPr lang="en-US" sz="3600" b="1" dirty="0">
                <a:solidFill>
                  <a:srgbClr val="B8E62E"/>
                </a:solidFill>
                <a:latin typeface="Epilogue" pitchFamily="34" charset="0"/>
                <a:ea typeface="Epilogue" pitchFamily="34" charset="-122"/>
                <a:cs typeface="Epilogue" pitchFamily="34" charset="-120"/>
              </a:rPr>
              <a:t>bodstudio.com</a:t>
            </a:r>
            <a:endParaRPr lang="en-US" sz="3600" dirty="0"/>
          </a:p>
        </p:txBody>
      </p:sp>
      <p:sp>
        <p:nvSpPr>
          <p:cNvPr id="7" name="Text 4"/>
          <p:cNvSpPr txBox="1"/>
          <p:nvPr/>
        </p:nvSpPr>
        <p:spPr>
          <a:xfrm>
            <a:off x="685800" y="4306824"/>
            <a:ext cx="1097280"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SALES</a:t>
            </a:r>
            <a:endParaRPr lang="en-US" sz="1000" dirty="0"/>
          </a:p>
        </p:txBody>
      </p:sp>
      <p:sp>
        <p:nvSpPr>
          <p:cNvPr id="8" name="Text 5"/>
          <p:cNvSpPr txBox="1"/>
          <p:nvPr/>
        </p:nvSpPr>
        <p:spPr>
          <a:xfrm>
            <a:off x="1874520" y="4251960"/>
            <a:ext cx="4107028" cy="310896"/>
          </a:xfrm>
          <a:prstGeom prst="rect">
            <a:avLst/>
          </a:prstGeom>
          <a:noFill/>
          <a:ln/>
        </p:spPr>
        <p:txBody>
          <a:bodyPr wrap="square" lIns="0" tIns="0" rIns="0" bIns="0" rtlCol="0" anchor="ctr"/>
          <a:lstStyle/>
          <a:p>
            <a:pPr indent="0" marL="0">
              <a:buNone/>
            </a:pPr>
            <a:r>
              <a:rPr lang="en-US" sz="1800" b="1" dirty="0">
                <a:solidFill>
                  <a:srgbClr val="F4F6F5"/>
                </a:solidFill>
                <a:latin typeface="Manrope" pitchFamily="34" charset="0"/>
                <a:ea typeface="Manrope" pitchFamily="34" charset="-122"/>
                <a:cs typeface="Manrope" pitchFamily="34" charset="-120"/>
              </a:rPr>
              <a:t>+91 7356 333 965</a:t>
            </a:r>
            <a:endParaRPr lang="en-US" sz="1800" dirty="0"/>
          </a:p>
        </p:txBody>
      </p:sp>
      <p:sp>
        <p:nvSpPr>
          <p:cNvPr id="9" name="Text 6"/>
          <p:cNvSpPr txBox="1"/>
          <p:nvPr/>
        </p:nvSpPr>
        <p:spPr>
          <a:xfrm>
            <a:off x="685800" y="4764024"/>
            <a:ext cx="1097280"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EMAIL</a:t>
            </a:r>
            <a:endParaRPr lang="en-US" sz="1000" dirty="0"/>
          </a:p>
        </p:txBody>
      </p:sp>
      <p:sp>
        <p:nvSpPr>
          <p:cNvPr id="10" name="Text 7"/>
          <p:cNvSpPr txBox="1"/>
          <p:nvPr/>
        </p:nvSpPr>
        <p:spPr>
          <a:xfrm>
            <a:off x="1874520" y="4709160"/>
            <a:ext cx="4107028" cy="310896"/>
          </a:xfrm>
          <a:prstGeom prst="rect">
            <a:avLst/>
          </a:prstGeom>
          <a:noFill/>
          <a:ln/>
        </p:spPr>
        <p:txBody>
          <a:bodyPr wrap="square" lIns="0" tIns="0" rIns="0" bIns="0" rtlCol="0" anchor="ctr"/>
          <a:lstStyle/>
          <a:p>
            <a:pPr indent="0" marL="0">
              <a:buNone/>
            </a:pPr>
            <a:r>
              <a:rPr lang="en-US" sz="1800" b="1" dirty="0">
                <a:solidFill>
                  <a:srgbClr val="F4F6F5"/>
                </a:solidFill>
                <a:latin typeface="Manrope" pitchFamily="34" charset="0"/>
                <a:ea typeface="Manrope" pitchFamily="34" charset="-122"/>
                <a:cs typeface="Manrope" pitchFamily="34" charset="-120"/>
              </a:rPr>
              <a:t>info@storibodcreatives.com</a:t>
            </a:r>
            <a:endParaRPr lang="en-US" sz="1800" dirty="0"/>
          </a:p>
        </p:txBody>
      </p:sp>
      <p:sp>
        <p:nvSpPr>
          <p:cNvPr id="11" name="Text 8"/>
          <p:cNvSpPr txBox="1"/>
          <p:nvPr/>
        </p:nvSpPr>
        <p:spPr>
          <a:xfrm>
            <a:off x="685800" y="5221224"/>
            <a:ext cx="1097280"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SOCIAL</a:t>
            </a:r>
            <a:endParaRPr lang="en-US" sz="1000" dirty="0"/>
          </a:p>
        </p:txBody>
      </p:sp>
      <p:sp>
        <p:nvSpPr>
          <p:cNvPr id="12" name="Text 9"/>
          <p:cNvSpPr txBox="1"/>
          <p:nvPr/>
        </p:nvSpPr>
        <p:spPr>
          <a:xfrm>
            <a:off x="1874520" y="5166360"/>
            <a:ext cx="4107028" cy="310896"/>
          </a:xfrm>
          <a:prstGeom prst="rect">
            <a:avLst/>
          </a:prstGeom>
          <a:noFill/>
          <a:ln/>
        </p:spPr>
        <p:txBody>
          <a:bodyPr wrap="square" lIns="0" tIns="0" rIns="0" bIns="0" rtlCol="0" anchor="ctr"/>
          <a:lstStyle/>
          <a:p>
            <a:pPr indent="0" marL="0">
              <a:buNone/>
            </a:pPr>
            <a:r>
              <a:rPr lang="en-US" sz="1800" b="1" dirty="0">
                <a:solidFill>
                  <a:srgbClr val="F4F6F5"/>
                </a:solidFill>
                <a:latin typeface="Manrope" pitchFamily="34" charset="0"/>
                <a:ea typeface="Manrope" pitchFamily="34" charset="-122"/>
                <a:cs typeface="Manrope" pitchFamily="34" charset="-120"/>
              </a:rPr>
              <a:t>@bodstudio</a:t>
            </a:r>
            <a:endParaRPr lang="en-US" sz="1800" dirty="0"/>
          </a:p>
        </p:txBody>
      </p:sp>
      <p:pic>
        <p:nvPicPr>
          <p:cNvPr id="13" name="Image 1" descr="preencoded.png">    </p:cNvPr>
          <p:cNvPicPr>
            <a:picLocks noChangeAspect="1"/>
          </p:cNvPicPr>
          <p:nvPr/>
        </p:nvPicPr>
        <p:blipFill>
          <a:blip r:embed="rId2"/>
          <a:stretch>
            <a:fillRect/>
          </a:stretch>
        </p:blipFill>
        <p:spPr>
          <a:xfrm>
            <a:off x="685800" y="6245352"/>
            <a:ext cx="365760" cy="365760"/>
          </a:xfrm>
          <a:prstGeom prst="rect">
            <a:avLst/>
          </a:prstGeom>
        </p:spPr>
      </p:pic>
      <p:sp>
        <p:nvSpPr>
          <p:cNvPr id="14" name="Text 10"/>
          <p:cNvSpPr txBox="1"/>
          <p:nvPr/>
        </p:nvSpPr>
        <p:spPr>
          <a:xfrm>
            <a:off x="1188720" y="6355080"/>
            <a:ext cx="3657600" cy="201168"/>
          </a:xfrm>
          <a:prstGeom prst="rect">
            <a:avLst/>
          </a:prstGeom>
          <a:noFill/>
          <a:ln/>
        </p:spPr>
        <p:txBody>
          <a:bodyPr wrap="square" lIns="0" tIns="0" rIns="0" bIns="0" rtlCol="0" anchor="t"/>
          <a:lstStyle/>
          <a:p>
            <a:pPr indent="0" marL="0">
              <a:buNone/>
            </a:pPr>
            <a:r>
              <a:rPr lang="en-US" sz="1000" b="1" spc="200" kern="0" dirty="0">
                <a:solidFill>
                  <a:srgbClr val="9AA7A2"/>
                </a:solidFill>
                <a:latin typeface="Plus Jakarta Sans" pitchFamily="34" charset="0"/>
                <a:ea typeface="Plus Jakarta Sans" pitchFamily="34" charset="-122"/>
                <a:cs typeface="Plus Jakarta Sans" pitchFamily="34" charset="-120"/>
              </a:rPr>
              <a:t>POWERED BY BOD STUDIO</a:t>
            </a:r>
            <a:endParaRPr lang="en-US" sz="1000" dirty="0"/>
          </a:p>
        </p:txBody>
      </p:sp>
      <p:pic>
        <p:nvPicPr>
          <p:cNvPr id="15" name="Image 2" descr="/tmp/claude-0/-home-user-Claude-Works/c609e3f7-e17f-5f43-8424-4df30cb9a6a9/scratchpad/build/s/img/m_angR_focus_light.png">    </p:cNvPr>
          <p:cNvPicPr>
            <a:picLocks noChangeAspect="1"/>
          </p:cNvPicPr>
          <p:nvPr/>
        </p:nvPicPr>
        <p:blipFill>
          <a:blip r:embed="rId3"/>
          <a:stretch>
            <a:fillRect/>
          </a:stretch>
        </p:blipFill>
        <p:spPr>
          <a:xfrm>
            <a:off x="8958496" y="640080"/>
            <a:ext cx="2547400" cy="5577840"/>
          </a:xfrm>
          <a:prstGeom prst="rect">
            <a:avLst/>
          </a:prstGeom>
        </p:spPr>
      </p:pic>
      <p:pic>
        <p:nvPicPr>
          <p:cNvPr id="16" name="Image 3" descr="/tmp/claude-0/-home-user-Claude-Works/c609e3f7-e17f-5f43-8424-4df30cb9a6a9/scratchpad/build/s/img/annan_waving.png">    </p:cNvPr>
          <p:cNvPicPr>
            <a:picLocks noChangeAspect="1"/>
          </p:cNvPicPr>
          <p:nvPr/>
        </p:nvPicPr>
        <p:blipFill>
          <a:blip r:embed="rId4"/>
          <a:stretch>
            <a:fillRect/>
          </a:stretch>
        </p:blipFill>
        <p:spPr>
          <a:xfrm>
            <a:off x="7008766" y="3931920"/>
            <a:ext cx="2269769" cy="2286000"/>
          </a:xfrm>
          <a:prstGeom prst="rect">
            <a:avLst/>
          </a:prstGeom>
        </p:spPr>
      </p:pic>
      <p:sp>
        <p:nvSpPr>
          <p:cNvPr id="17" name="Shape 11"/>
          <p:cNvSpPr/>
          <p:nvPr/>
        </p:nvSpPr>
        <p:spPr>
          <a:xfrm>
            <a:off x="7356026" y="2970428"/>
            <a:ext cx="2167235" cy="795528"/>
          </a:xfrm>
          <a:prstGeom prst="roundRect">
            <a:avLst>
              <a:gd name="adj" fmla="val 20690"/>
            </a:avLst>
          </a:prstGeom>
          <a:solidFill>
            <a:srgbClr val="F4F6F5"/>
          </a:solidFill>
          <a:ln/>
        </p:spPr>
      </p:sp>
      <p:sp>
        <p:nvSpPr>
          <p:cNvPr id="18" name="Shape 12"/>
          <p:cNvSpPr/>
          <p:nvPr/>
        </p:nvSpPr>
        <p:spPr>
          <a:xfrm rot="10800000">
            <a:off x="7778963" y="3756812"/>
            <a:ext cx="237744" cy="182880"/>
          </a:xfrm>
          <a:prstGeom prst="triangle">
            <a:avLst/>
          </a:prstGeom>
          <a:solidFill>
            <a:srgbClr val="F4F6F5"/>
          </a:solidFill>
          <a:ln/>
        </p:spPr>
      </p:sp>
      <p:sp>
        <p:nvSpPr>
          <p:cNvPr id="19" name="Text 13"/>
          <p:cNvSpPr txBox="1"/>
          <p:nvPr/>
        </p:nvSpPr>
        <p:spPr>
          <a:xfrm>
            <a:off x="7593770" y="3135020"/>
            <a:ext cx="1691747" cy="466344"/>
          </a:xfrm>
          <a:prstGeom prst="rect">
            <a:avLst/>
          </a:prstGeom>
          <a:noFill/>
          <a:ln/>
        </p:spPr>
        <p:txBody>
          <a:bodyPr wrap="square" lIns="0" tIns="0" rIns="0" bIns="0" rtlCol="0" anchor="ctr"/>
          <a:lstStyle/>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Come by. I'll</a:t>
            </a:r>
            <a:endParaRPr lang="en-US" sz="1500" dirty="0"/>
          </a:p>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show you around.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Bod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 App — Sales Deck</dc:title>
  <dc:subject>PptxGenJS Presentation</dc:subject>
  <dc:creator>Bod Studio · Storibod Creatives</dc:creator>
  <cp:lastModifiedBy>Bod Studio · Storibod Creatives</cp:lastModifiedBy>
  <cp:revision>1</cp:revision>
  <dcterms:created xsi:type="dcterms:W3CDTF">2026-09-26T16:25:13Z</dcterms:created>
  <dcterms:modified xsi:type="dcterms:W3CDTF">2026-09-26T16:25:13Z</dcterms:modified>
</cp:coreProperties>
</file>