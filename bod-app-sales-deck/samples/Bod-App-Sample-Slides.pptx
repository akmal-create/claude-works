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light. Bod Annan greets the room; the phone shows the home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follow-up nudge. It appears once a task has waited on a client for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Usually: briefs arrive on WhatsApp at 11 pm, nobody knows who owns what, status lives in people's heads, the client goes quiet for three days, and finished work sits unbilled. With Bod App each of those steps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6798445" y="-457200"/>
            <a:ext cx="6719130" cy="6719130"/>
          </a:xfrm>
          <a:prstGeom prst="rect">
            <a:avLst/>
          </a:prstGeom>
        </p:spPr>
      </p:pic>
      <p:pic>
        <p:nvPicPr>
          <p:cNvPr id="3" name="Image 1" descr="preencoded.png">    </p:cNvPr>
          <p:cNvPicPr>
            <a:picLocks noChangeAspect="1"/>
          </p:cNvPicPr>
          <p:nvPr/>
        </p:nvPicPr>
        <p:blipFill>
          <a:blip r:embed="rId2"/>
          <a:stretch>
            <a:fillRect/>
          </a:stretch>
        </p:blipFill>
        <p:spPr>
          <a:xfrm>
            <a:off x="685800" y="640080"/>
            <a:ext cx="457200" cy="457200"/>
          </a:xfrm>
          <a:prstGeom prst="rect">
            <a:avLst/>
          </a:prstGeom>
        </p:spPr>
      </p:pic>
      <p:sp>
        <p:nvSpPr>
          <p:cNvPr id="4" name="Text 0"/>
          <p:cNvSpPr txBox="1"/>
          <p:nvPr/>
        </p:nvSpPr>
        <p:spPr>
          <a:xfrm>
            <a:off x="1325880" y="768096"/>
            <a:ext cx="3657600" cy="201168"/>
          </a:xfrm>
          <a:prstGeom prst="rect">
            <a:avLst/>
          </a:prstGeom>
          <a:noFill/>
          <a:ln/>
        </p:spPr>
        <p:txBody>
          <a:bodyPr wrap="square" lIns="0" tIns="0" rIns="0" bIns="0" rtlCol="0" anchor="t"/>
          <a:lstStyle/>
          <a:p>
            <a:pPr indent="0" marL="0">
              <a:buNone/>
            </a:pPr>
            <a:r>
              <a:rPr lang="en-US" sz="1000" b="1" spc="200" kern="0" dirty="0">
                <a:solidFill>
                  <a:srgbClr val="9AA7A2"/>
                </a:solidFill>
                <a:latin typeface="Plus Jakarta Sans" pitchFamily="34" charset="0"/>
                <a:ea typeface="Plus Jakarta Sans" pitchFamily="34" charset="-122"/>
                <a:cs typeface="Plus Jakarta Sans" pitchFamily="34" charset="-120"/>
              </a:rPr>
              <a:t>A BOD STUDIO PRODUCT</a:t>
            </a:r>
            <a:endParaRPr lang="en-US" sz="1000" dirty="0"/>
          </a:p>
        </p:txBody>
      </p:sp>
      <p:sp>
        <p:nvSpPr>
          <p:cNvPr id="5" name="Text 1"/>
          <p:cNvSpPr txBox="1"/>
          <p:nvPr/>
        </p:nvSpPr>
        <p:spPr>
          <a:xfrm>
            <a:off x="685800" y="2148840"/>
            <a:ext cx="6216472" cy="1280160"/>
          </a:xfrm>
          <a:prstGeom prst="rect">
            <a:avLst/>
          </a:prstGeom>
          <a:noFill/>
          <a:ln/>
        </p:spPr>
        <p:txBody>
          <a:bodyPr wrap="square" lIns="0" tIns="0" rIns="0" bIns="0" rtlCol="0" anchor="b"/>
          <a:lstStyle/>
          <a:p>
            <a:pPr indent="0" marL="0">
              <a:buNone/>
            </a:pPr>
            <a:r>
              <a:rPr lang="en-US" sz="8800" b="1" dirty="0">
                <a:solidFill>
                  <a:srgbClr val="F4F6F5"/>
                </a:solidFill>
                <a:latin typeface="Epilogue" pitchFamily="34" charset="0"/>
                <a:ea typeface="Epilogue" pitchFamily="34" charset="-122"/>
                <a:cs typeface="Epilogue" pitchFamily="34" charset="-120"/>
              </a:rPr>
              <a:t>Bod App</a:t>
            </a:r>
            <a:endParaRPr lang="en-US" sz="8800" dirty="0"/>
          </a:p>
        </p:txBody>
      </p:sp>
      <p:sp>
        <p:nvSpPr>
          <p:cNvPr id="6" name="Text 2"/>
          <p:cNvSpPr txBox="1"/>
          <p:nvPr/>
        </p:nvSpPr>
        <p:spPr>
          <a:xfrm>
            <a:off x="685800" y="3520440"/>
            <a:ext cx="6216472" cy="457200"/>
          </a:xfrm>
          <a:prstGeom prst="rect">
            <a:avLst/>
          </a:prstGeom>
          <a:noFill/>
          <a:ln/>
        </p:spPr>
        <p:txBody>
          <a:bodyPr wrap="square" lIns="0" tIns="0" rIns="0" bIns="0" rtlCol="0" anchor="t"/>
          <a:lstStyle/>
          <a:p>
            <a:pPr indent="0" marL="0">
              <a:buNone/>
            </a:pPr>
            <a:r>
              <a:rPr lang="en-US" sz="2600" b="1" dirty="0">
                <a:solidFill>
                  <a:srgbClr val="B8E62E"/>
                </a:solidFill>
                <a:latin typeface="Epilogue" pitchFamily="34" charset="0"/>
                <a:ea typeface="Epilogue" pitchFamily="34" charset="-122"/>
                <a:cs typeface="Epilogue" pitchFamily="34" charset="-120"/>
              </a:rPr>
              <a:t>The task app for creative agencies.</a:t>
            </a:r>
            <a:endParaRPr lang="en-US" sz="2600" dirty="0"/>
          </a:p>
        </p:txBody>
      </p:sp>
      <p:sp>
        <p:nvSpPr>
          <p:cNvPr id="7" name="Text 3"/>
          <p:cNvSpPr txBox="1"/>
          <p:nvPr/>
        </p:nvSpPr>
        <p:spPr>
          <a:xfrm>
            <a:off x="685800" y="4069080"/>
            <a:ext cx="4375023" cy="731520"/>
          </a:xfrm>
          <a:prstGeom prst="rect">
            <a:avLst/>
          </a:prstGeom>
          <a:noFill/>
          <a:ln/>
        </p:spPr>
        <p:txBody>
          <a:bodyPr wrap="square" lIns="0" tIns="0" rIns="0" bIns="0" rtlCol="0" anchor="t"/>
          <a:lstStyle/>
          <a:p>
            <a:pPr indent="0" marL="0">
              <a:lnSpc>
                <a:spcPct val="125000"/>
              </a:lnSpc>
              <a:buNone/>
            </a:pPr>
            <a:r>
              <a:rPr lang="en-US" sz="1800" dirty="0">
                <a:solidFill>
                  <a:srgbClr val="9AA7A2"/>
                </a:solidFill>
                <a:latin typeface="Manrope" pitchFamily="34" charset="0"/>
                <a:ea typeface="Manrope" pitchFamily="34" charset="-122"/>
                <a:cs typeface="Manrope" pitchFamily="34" charset="-120"/>
              </a:rPr>
              <a:t>It handles the admin, so your team can do the work.</a:t>
            </a:r>
            <a:endParaRPr lang="en-US" sz="1800" dirty="0"/>
          </a:p>
        </p:txBody>
      </p:sp>
      <p:sp>
        <p:nvSpPr>
          <p:cNvPr id="8" name="Text 4"/>
          <p:cNvSpPr txBox="1"/>
          <p:nvPr/>
        </p:nvSpPr>
        <p:spPr>
          <a:xfrm>
            <a:off x="685800" y="6355080"/>
            <a:ext cx="36576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MYBODSTUDIO.COM</a:t>
            </a:r>
            <a:endParaRPr lang="en-US" sz="1000" dirty="0"/>
          </a:p>
        </p:txBody>
      </p:sp>
      <p:pic>
        <p:nvPicPr>
          <p:cNvPr id="9" name="Image 2" descr="/tmp/claude-0/-home-user-Claude-Works/c609e3f7-e17f-5f43-8424-4df30cb9a6a9/scratchpad/build/s/img/m_front_home_dark.png">    </p:cNvPr>
          <p:cNvPicPr>
            <a:picLocks noChangeAspect="1"/>
          </p:cNvPicPr>
          <p:nvPr/>
        </p:nvPicPr>
        <p:blipFill>
          <a:blip r:embed="rId3"/>
          <a:stretch>
            <a:fillRect/>
          </a:stretch>
        </p:blipFill>
        <p:spPr>
          <a:xfrm>
            <a:off x="8810125" y="640080"/>
            <a:ext cx="2695770" cy="5577840"/>
          </a:xfrm>
          <a:prstGeom prst="rect">
            <a:avLst/>
          </a:prstGeom>
        </p:spPr>
      </p:pic>
      <p:pic>
        <p:nvPicPr>
          <p:cNvPr id="10" name="Image 3" descr="/tmp/claude-0/-home-user-Claude-Works/c609e3f7-e17f-5f43-8424-4df30cb9a6a9/scratchpad/build/s/img/annan_waving.png">    </p:cNvPr>
          <p:cNvPicPr>
            <a:picLocks noChangeAspect="1"/>
          </p:cNvPicPr>
          <p:nvPr/>
        </p:nvPicPr>
        <p:blipFill>
          <a:blip r:embed="rId4"/>
          <a:stretch>
            <a:fillRect/>
          </a:stretch>
        </p:blipFill>
        <p:spPr>
          <a:xfrm>
            <a:off x="6633094" y="3749040"/>
            <a:ext cx="2451351" cy="2468880"/>
          </a:xfrm>
          <a:prstGeom prst="rect">
            <a:avLst/>
          </a:prstGeom>
        </p:spPr>
      </p:pic>
      <p:sp>
        <p:nvSpPr>
          <p:cNvPr id="11" name="Shape 5"/>
          <p:cNvSpPr/>
          <p:nvPr/>
        </p:nvSpPr>
        <p:spPr>
          <a:xfrm>
            <a:off x="6998854" y="2788920"/>
            <a:ext cx="2377440" cy="713232"/>
          </a:xfrm>
          <a:prstGeom prst="roundRect">
            <a:avLst>
              <a:gd name="adj" fmla="val 25641"/>
            </a:avLst>
          </a:prstGeom>
          <a:solidFill>
            <a:srgbClr val="F4F6F5"/>
          </a:solidFill>
          <a:ln/>
        </p:spPr>
      </p:sp>
      <p:sp>
        <p:nvSpPr>
          <p:cNvPr id="12" name="Shape 6"/>
          <p:cNvSpPr/>
          <p:nvPr/>
        </p:nvSpPr>
        <p:spPr>
          <a:xfrm rot="10800000">
            <a:off x="7638934" y="3493008"/>
            <a:ext cx="219456" cy="175565"/>
          </a:xfrm>
          <a:prstGeom prst="triangle">
            <a:avLst/>
          </a:prstGeom>
          <a:solidFill>
            <a:srgbClr val="F4F6F5"/>
          </a:solidFill>
          <a:ln/>
        </p:spPr>
      </p:sp>
      <p:sp>
        <p:nvSpPr>
          <p:cNvPr id="13" name="Text 7"/>
          <p:cNvSpPr txBox="1"/>
          <p:nvPr/>
        </p:nvSpPr>
        <p:spPr>
          <a:xfrm>
            <a:off x="7227454" y="2788920"/>
            <a:ext cx="1920240" cy="713232"/>
          </a:xfrm>
          <a:prstGeom prst="rect">
            <a:avLst/>
          </a:prstGeom>
          <a:noFill/>
          <a:ln/>
        </p:spPr>
        <p:txBody>
          <a:bodyPr wrap="square" lIns="0" tIns="0" rIns="0" bIns="0" rtlCol="0" anchor="ctr"/>
          <a:lstStyle/>
          <a:p>
            <a:pPr indent="0" marL="0">
              <a:lnSpc>
                <a:spcPct val="110000"/>
              </a:lnSpc>
              <a:buNone/>
            </a:pPr>
            <a:r>
              <a:rPr lang="en-US" sz="1500" b="1" dirty="0">
                <a:solidFill>
                  <a:srgbClr val="0B0D0C"/>
                </a:solidFill>
                <a:latin typeface="Manrope" pitchFamily="34" charset="0"/>
                <a:ea typeface="Manrope" pitchFamily="34" charset="-122"/>
                <a:cs typeface="Manrope" pitchFamily="34" charset="-120"/>
              </a:rPr>
              <a:t>Come in. Let me show you around.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5667832" y="-548640"/>
            <a:ext cx="6949440" cy="6949440"/>
          </a:xfrm>
          <a:prstGeom prst="rect">
            <a:avLst/>
          </a:prstGeom>
        </p:spPr>
      </p:pic>
      <p:sp>
        <p:nvSpPr>
          <p:cNvPr id="3" name="Text 0"/>
          <p:cNvSpPr txBox="1"/>
          <p:nvPr/>
        </p:nvSpPr>
        <p:spPr>
          <a:xfrm>
            <a:off x="685800" y="640080"/>
            <a:ext cx="27432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3 PM</a:t>
            </a:r>
            <a:endParaRPr lang="en-US" sz="1000" dirty="0"/>
          </a:p>
        </p:txBody>
      </p:sp>
      <p:sp>
        <p:nvSpPr>
          <p:cNvPr id="4" name="Text 1"/>
          <p:cNvSpPr txBox="1"/>
          <p:nvPr/>
        </p:nvSpPr>
        <p:spPr>
          <a:xfrm>
            <a:off x="685800" y="1005840"/>
            <a:ext cx="5295748" cy="1417320"/>
          </a:xfrm>
          <a:prstGeom prst="rect">
            <a:avLst/>
          </a:prstGeom>
          <a:noFill/>
          <a:ln/>
        </p:spPr>
        <p:txBody>
          <a:bodyPr wrap="square" lIns="0" tIns="0" rIns="0" bIns="0" rtlCol="0" anchor="t"/>
          <a:lstStyle/>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The client's</a:t>
            </a:r>
            <a:endParaRPr lang="en-US" sz="4400" dirty="0"/>
          </a:p>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gone quiet.</a:t>
            </a:r>
            <a:endParaRPr lang="en-US" sz="4400" dirty="0"/>
          </a:p>
        </p:txBody>
      </p:sp>
      <p:sp>
        <p:nvSpPr>
          <p:cNvPr id="5" name="Text 2"/>
          <p:cNvSpPr txBox="1"/>
          <p:nvPr/>
        </p:nvSpPr>
        <p:spPr>
          <a:xfrm>
            <a:off x="685800" y="2560320"/>
            <a:ext cx="4375023" cy="777240"/>
          </a:xfrm>
          <a:prstGeom prst="rect">
            <a:avLst/>
          </a:prstGeom>
          <a:noFill/>
          <a:ln/>
        </p:spPr>
        <p:txBody>
          <a:bodyPr wrap="square" lIns="0" tIns="0" rIns="0" bIns="0" rtlCol="0" anchor="t"/>
          <a:lstStyle/>
          <a:p>
            <a:pPr indent="0" marL="0">
              <a:lnSpc>
                <a:spcPct val="125000"/>
              </a:lnSpc>
              <a:buNone/>
            </a:pPr>
            <a:r>
              <a:rPr lang="en-US" sz="1800" dirty="0">
                <a:solidFill>
                  <a:srgbClr val="9AA7A2"/>
                </a:solidFill>
                <a:latin typeface="Manrope" pitchFamily="34" charset="0"/>
                <a:ea typeface="Manrope" pitchFamily="34" charset="-122"/>
                <a:cs typeface="Manrope" pitchFamily="34" charset="-120"/>
              </a:rPr>
              <a:t>After two days of waiting, Bod App drafts the follow-up. You just send it.</a:t>
            </a:r>
            <a:endParaRPr lang="en-US" sz="1800" dirty="0"/>
          </a:p>
        </p:txBody>
      </p:sp>
      <p:pic>
        <p:nvPicPr>
          <p:cNvPr id="6" name="Image 1" descr="/tmp/claude-0/-home-user-Claude-Works/c609e3f7-e17f-5f43-8424-4df30cb9a6a9/scratchpad/build/s/img/annan_pointing.png">    </p:cNvPr>
          <p:cNvPicPr>
            <a:picLocks noChangeAspect="1"/>
          </p:cNvPicPr>
          <p:nvPr/>
        </p:nvPicPr>
        <p:blipFill>
          <a:blip r:embed="rId2"/>
          <a:stretch>
            <a:fillRect/>
          </a:stretch>
        </p:blipFill>
        <p:spPr>
          <a:xfrm>
            <a:off x="548640" y="3931920"/>
            <a:ext cx="2225942" cy="2240280"/>
          </a:xfrm>
          <a:prstGeom prst="rect">
            <a:avLst/>
          </a:prstGeom>
        </p:spPr>
      </p:pic>
      <p:sp>
        <p:nvSpPr>
          <p:cNvPr id="7" name="Shape 3"/>
          <p:cNvSpPr/>
          <p:nvPr/>
        </p:nvSpPr>
        <p:spPr>
          <a:xfrm>
            <a:off x="3094622" y="4251960"/>
            <a:ext cx="2514600" cy="777240"/>
          </a:xfrm>
          <a:prstGeom prst="roundRect">
            <a:avLst>
              <a:gd name="adj" fmla="val 23529"/>
            </a:avLst>
          </a:prstGeom>
          <a:solidFill>
            <a:srgbClr val="F4F6F5"/>
          </a:solidFill>
          <a:ln/>
        </p:spPr>
      </p:sp>
      <p:sp>
        <p:nvSpPr>
          <p:cNvPr id="8" name="Shape 4"/>
          <p:cNvSpPr/>
          <p:nvPr/>
        </p:nvSpPr>
        <p:spPr>
          <a:xfrm rot="16200000">
            <a:off x="2928201" y="4530852"/>
            <a:ext cx="219456" cy="175565"/>
          </a:xfrm>
          <a:prstGeom prst="triangle">
            <a:avLst/>
          </a:prstGeom>
          <a:solidFill>
            <a:srgbClr val="F4F6F5"/>
          </a:solidFill>
          <a:ln/>
        </p:spPr>
      </p:sp>
      <p:sp>
        <p:nvSpPr>
          <p:cNvPr id="9" name="Text 5"/>
          <p:cNvSpPr txBox="1"/>
          <p:nvPr/>
        </p:nvSpPr>
        <p:spPr>
          <a:xfrm>
            <a:off x="3323222" y="4251960"/>
            <a:ext cx="2057400" cy="777240"/>
          </a:xfrm>
          <a:prstGeom prst="rect">
            <a:avLst/>
          </a:prstGeom>
          <a:noFill/>
          <a:ln/>
        </p:spPr>
        <p:txBody>
          <a:bodyPr wrap="square" lIns="0" tIns="0" rIns="0" bIns="0" rtlCol="0" anchor="ctr"/>
          <a:lstStyle/>
          <a:p>
            <a:pPr indent="0" marL="0">
              <a:lnSpc>
                <a:spcPct val="110000"/>
              </a:lnSpc>
              <a:buNone/>
            </a:pPr>
            <a:r>
              <a:rPr lang="en-US" sz="1500" b="1" dirty="0">
                <a:solidFill>
                  <a:srgbClr val="0B0D0C"/>
                </a:solidFill>
                <a:latin typeface="Manrope" pitchFamily="34" charset="0"/>
                <a:ea typeface="Manrope" pitchFamily="34" charset="-122"/>
                <a:cs typeface="Manrope" pitchFamily="34" charset="-120"/>
              </a:rPr>
              <a:t>Two days, no reply. I've written it for you.</a:t>
            </a:r>
            <a:endParaRPr lang="en-US" sz="1500" dirty="0"/>
          </a:p>
        </p:txBody>
      </p:sp>
      <p:pic>
        <p:nvPicPr>
          <p:cNvPr id="10" name="Image 2" descr="/tmp/claude-0/-home-user-Claude-Works/c609e3f7-e17f-5f43-8424-4df30cb9a6a9/scratchpad/build/s/img/m_front_nudge_light.png">    </p:cNvPr>
          <p:cNvPicPr>
            <a:picLocks noChangeAspect="1"/>
          </p:cNvPicPr>
          <p:nvPr/>
        </p:nvPicPr>
        <p:blipFill>
          <a:blip r:embed="rId3"/>
          <a:stretch>
            <a:fillRect/>
          </a:stretch>
        </p:blipFill>
        <p:spPr>
          <a:xfrm>
            <a:off x="9163669" y="1325880"/>
            <a:ext cx="2342226" cy="4846320"/>
          </a:xfrm>
          <a:prstGeom prst="rect">
            <a:avLst/>
          </a:prstGeom>
        </p:spPr>
      </p:pic>
      <p:pic>
        <p:nvPicPr>
          <p:cNvPr id="11" name="Image 3" descr="/tmp/claude-0/-home-user-Claude-Works/c609e3f7-e17f-5f43-8424-4df30cb9a6a9/scratchpad/build/s/img/m_front_nudge_dark.png">    </p:cNvPr>
          <p:cNvPicPr>
            <a:picLocks noChangeAspect="1"/>
          </p:cNvPicPr>
          <p:nvPr/>
        </p:nvPicPr>
        <p:blipFill>
          <a:blip r:embed="rId4"/>
          <a:stretch>
            <a:fillRect/>
          </a:stretch>
        </p:blipFill>
        <p:spPr>
          <a:xfrm>
            <a:off x="7130872" y="685800"/>
            <a:ext cx="2651577" cy="5486400"/>
          </a:xfrm>
          <a:prstGeom prst="rect">
            <a:avLst/>
          </a:prstGeom>
        </p:spPr>
      </p:pic>
      <p:sp>
        <p:nvSpPr>
          <p:cNvPr id="12" name="Text 6"/>
          <p:cNvSpPr txBox="1"/>
          <p:nvPr/>
        </p:nvSpPr>
        <p:spPr>
          <a:xfrm>
            <a:off x="7130872" y="6355080"/>
            <a:ext cx="2651577"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DARK THEME</a:t>
            </a:r>
            <a:endParaRPr lang="en-US" sz="1000" dirty="0"/>
          </a:p>
        </p:txBody>
      </p:sp>
      <p:sp>
        <p:nvSpPr>
          <p:cNvPr id="13" name="Text 7"/>
          <p:cNvSpPr txBox="1"/>
          <p:nvPr/>
        </p:nvSpPr>
        <p:spPr>
          <a:xfrm>
            <a:off x="9782449" y="6355080"/>
            <a:ext cx="1723446"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LIGHT THEME</a:t>
            </a:r>
            <a:endParaRPr lang="en-US" sz="1000" dirty="0"/>
          </a:p>
        </p:txBody>
      </p:sp>
      <p:sp>
        <p:nvSpPr>
          <p:cNvPr id="14" name="Text 8"/>
          <p:cNvSpPr txBox="1"/>
          <p:nvPr/>
        </p:nvSpPr>
        <p:spPr>
          <a:xfrm>
            <a:off x="685800" y="6355080"/>
            <a:ext cx="50292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685800" y="640080"/>
            <a:ext cx="36576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HOW IT WORKS</a:t>
            </a:r>
            <a:endParaRPr lang="en-US" sz="1000" dirty="0"/>
          </a:p>
        </p:txBody>
      </p:sp>
      <p:sp>
        <p:nvSpPr>
          <p:cNvPr id="3" name="Text 1"/>
          <p:cNvSpPr txBox="1"/>
          <p:nvPr/>
        </p:nvSpPr>
        <p:spPr>
          <a:xfrm>
            <a:off x="685800" y="1005840"/>
            <a:ext cx="7137197" cy="731520"/>
          </a:xfrm>
          <a:prstGeom prst="rect">
            <a:avLst/>
          </a:prstGeom>
          <a:noFill/>
          <a:ln/>
        </p:spPr>
        <p:txBody>
          <a:bodyPr wrap="square" lIns="0" tIns="0" rIns="0" bIns="0" rtlCol="0" anchor="t"/>
          <a:lstStyle/>
          <a:p>
            <a:pPr indent="0" marL="0">
              <a:buNone/>
            </a:pPr>
            <a:r>
              <a:rPr lang="en-US" sz="4400" b="1" dirty="0">
                <a:solidFill>
                  <a:srgbClr val="F4F6F5"/>
                </a:solidFill>
                <a:latin typeface="Epilogue" pitchFamily="34" charset="0"/>
                <a:ea typeface="Epilogue" pitchFamily="34" charset="-122"/>
                <a:cs typeface="Epilogue" pitchFamily="34" charset="-120"/>
              </a:rPr>
              <a:t>From brief to invoice.</a:t>
            </a:r>
            <a:endParaRPr lang="en-US" sz="4400" dirty="0"/>
          </a:p>
        </p:txBody>
      </p:sp>
      <p:sp>
        <p:nvSpPr>
          <p:cNvPr id="4" name="Text 2"/>
          <p:cNvSpPr txBox="1"/>
          <p:nvPr/>
        </p:nvSpPr>
        <p:spPr>
          <a:xfrm>
            <a:off x="685800" y="1783080"/>
            <a:ext cx="7137197" cy="411480"/>
          </a:xfrm>
          <a:prstGeom prst="rect">
            <a:avLst/>
          </a:prstGeom>
          <a:noFill/>
          <a:ln/>
        </p:spPr>
        <p:txBody>
          <a:bodyPr wrap="square" lIns="0" tIns="0" rIns="0" bIns="0" rtlCol="0" anchor="t"/>
          <a:lstStyle/>
          <a:p>
            <a:pPr indent="0" marL="0">
              <a:buNone/>
            </a:pPr>
            <a:r>
              <a:rPr lang="en-US" sz="1800" dirty="0">
                <a:solidFill>
                  <a:srgbClr val="9AA7A2"/>
                </a:solidFill>
                <a:latin typeface="Manrope" pitchFamily="34" charset="0"/>
                <a:ea typeface="Manrope" pitchFamily="34" charset="-122"/>
                <a:cs typeface="Manrope" pitchFamily="34" charset="-120"/>
              </a:rPr>
              <a:t>Every job takes the same five steps.</a:t>
            </a:r>
            <a:endParaRPr lang="en-US" sz="1800" dirty="0"/>
          </a:p>
        </p:txBody>
      </p:sp>
      <p:sp>
        <p:nvSpPr>
          <p:cNvPr id="5" name="Shape 3"/>
          <p:cNvSpPr/>
          <p:nvPr/>
        </p:nvSpPr>
        <p:spPr>
          <a:xfrm>
            <a:off x="1554480" y="3223260"/>
            <a:ext cx="8912108" cy="0"/>
          </a:xfrm>
          <a:prstGeom prst="line">
            <a:avLst/>
          </a:prstGeom>
          <a:noFill/>
          <a:ln w="19050">
            <a:solidFill>
              <a:srgbClr val="262C2E"/>
            </a:solidFill>
            <a:prstDash val="solid"/>
          </a:ln>
        </p:spPr>
      </p:sp>
      <p:sp>
        <p:nvSpPr>
          <p:cNvPr id="6" name="Shape 4"/>
          <p:cNvSpPr/>
          <p:nvPr/>
        </p:nvSpPr>
        <p:spPr>
          <a:xfrm>
            <a:off x="685800" y="2788920"/>
            <a:ext cx="868680" cy="868680"/>
          </a:xfrm>
          <a:prstGeom prst="ellipse">
            <a:avLst/>
          </a:prstGeom>
          <a:solidFill>
            <a:srgbClr val="15191A"/>
          </a:solidFill>
          <a:ln w="12700">
            <a:solidFill>
              <a:srgbClr val="262C2E"/>
            </a:solidFill>
            <a:prstDash val="solid"/>
          </a:ln>
        </p:spPr>
      </p:sp>
      <p:pic>
        <p:nvPicPr>
          <p:cNvPr id="7" name="Image 0" descr="preencoded.png">    </p:cNvPr>
          <p:cNvPicPr>
            <a:picLocks noChangeAspect="1"/>
          </p:cNvPicPr>
          <p:nvPr/>
        </p:nvPicPr>
        <p:blipFill>
          <a:blip r:embed="rId1"/>
          <a:stretch>
            <a:fillRect/>
          </a:stretch>
        </p:blipFill>
        <p:spPr>
          <a:xfrm>
            <a:off x="929030" y="3032150"/>
            <a:ext cx="382219" cy="382219"/>
          </a:xfrm>
          <a:prstGeom prst="rect">
            <a:avLst/>
          </a:prstGeom>
        </p:spPr>
      </p:pic>
      <p:sp>
        <p:nvSpPr>
          <p:cNvPr id="8" name="Text 5"/>
          <p:cNvSpPr txBox="1"/>
          <p:nvPr/>
        </p:nvSpPr>
        <p:spPr>
          <a:xfrm>
            <a:off x="685800" y="3977640"/>
            <a:ext cx="1907987"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STEP 1</a:t>
            </a:r>
            <a:endParaRPr lang="en-US" sz="1000" dirty="0"/>
          </a:p>
        </p:txBody>
      </p:sp>
      <p:sp>
        <p:nvSpPr>
          <p:cNvPr id="9" name="Text 6"/>
          <p:cNvSpPr txBox="1"/>
          <p:nvPr/>
        </p:nvSpPr>
        <p:spPr>
          <a:xfrm>
            <a:off x="685800" y="4251960"/>
            <a:ext cx="1907987" cy="731520"/>
          </a:xfrm>
          <a:prstGeom prst="rect">
            <a:avLst/>
          </a:prstGeom>
          <a:noFill/>
          <a:ln/>
        </p:spPr>
        <p:txBody>
          <a:bodyPr wrap="square" lIns="0" tIns="0" rIns="0" bIns="0" rtlCol="0" anchor="t"/>
          <a:lstStyle/>
          <a:p>
            <a:pPr indent="0" marL="0">
              <a:lnSpc>
                <a:spcPct val="100000"/>
              </a:lnSpc>
              <a:buNone/>
            </a:pPr>
            <a:r>
              <a:rPr lang="en-US" sz="2200" b="1" dirty="0">
                <a:solidFill>
                  <a:srgbClr val="F4F6F5"/>
                </a:solidFill>
                <a:latin typeface="Epilogue" pitchFamily="34" charset="0"/>
                <a:ea typeface="Epilogue" pitchFamily="34" charset="-122"/>
                <a:cs typeface="Epilogue" pitchFamily="34" charset="-120"/>
              </a:rPr>
              <a:t>Brief comes in</a:t>
            </a:r>
            <a:endParaRPr lang="en-US" sz="2200" dirty="0"/>
          </a:p>
        </p:txBody>
      </p:sp>
      <p:sp>
        <p:nvSpPr>
          <p:cNvPr id="10" name="Text 7"/>
          <p:cNvSpPr txBox="1"/>
          <p:nvPr/>
        </p:nvSpPr>
        <p:spPr>
          <a:xfrm>
            <a:off x="685800" y="5074920"/>
            <a:ext cx="1907987" cy="640080"/>
          </a:xfrm>
          <a:prstGeom prst="rect">
            <a:avLst/>
          </a:prstGeom>
          <a:noFill/>
          <a:ln/>
        </p:spPr>
        <p:txBody>
          <a:bodyPr wrap="square" lIns="0" tIns="0" rIns="0" bIns="0" rtlCol="0" anchor="t"/>
          <a:lstStyle/>
          <a:p>
            <a:pPr indent="0" marL="0">
              <a:lnSpc>
                <a:spcPct val="125000"/>
              </a:lnSpc>
              <a:buNone/>
            </a:pPr>
            <a:r>
              <a:rPr lang="en-US" sz="1500" dirty="0">
                <a:solidFill>
                  <a:srgbClr val="9AA7A2"/>
                </a:solidFill>
                <a:latin typeface="Manrope" pitchFamily="34" charset="0"/>
                <a:ea typeface="Manrope" pitchFamily="34" charset="-122"/>
                <a:cs typeface="Manrope" pitchFamily="34" charset="-120"/>
              </a:rPr>
              <a:t>Say it, type it or drop the PDF.</a:t>
            </a:r>
            <a:endParaRPr lang="en-US" sz="1500" dirty="0"/>
          </a:p>
        </p:txBody>
      </p:sp>
      <p:sp>
        <p:nvSpPr>
          <p:cNvPr id="11" name="Shape 8"/>
          <p:cNvSpPr/>
          <p:nvPr/>
        </p:nvSpPr>
        <p:spPr>
          <a:xfrm>
            <a:off x="2913827" y="2788920"/>
            <a:ext cx="868680" cy="868680"/>
          </a:xfrm>
          <a:prstGeom prst="ellipse">
            <a:avLst/>
          </a:prstGeom>
          <a:solidFill>
            <a:srgbClr val="15191A"/>
          </a:solidFill>
          <a:ln w="12700">
            <a:solidFill>
              <a:srgbClr val="262C2E"/>
            </a:solidFill>
            <a:prstDash val="solid"/>
          </a:ln>
        </p:spPr>
      </p:sp>
      <p:pic>
        <p:nvPicPr>
          <p:cNvPr id="12" name="Image 1" descr="preencoded.png">    </p:cNvPr>
          <p:cNvPicPr>
            <a:picLocks noChangeAspect="1"/>
          </p:cNvPicPr>
          <p:nvPr/>
        </p:nvPicPr>
        <p:blipFill>
          <a:blip r:embed="rId2"/>
          <a:stretch>
            <a:fillRect/>
          </a:stretch>
        </p:blipFill>
        <p:spPr>
          <a:xfrm>
            <a:off x="3157057" y="3032150"/>
            <a:ext cx="382219" cy="382219"/>
          </a:xfrm>
          <a:prstGeom prst="rect">
            <a:avLst/>
          </a:prstGeom>
        </p:spPr>
      </p:pic>
      <p:sp>
        <p:nvSpPr>
          <p:cNvPr id="13" name="Text 9"/>
          <p:cNvSpPr txBox="1"/>
          <p:nvPr/>
        </p:nvSpPr>
        <p:spPr>
          <a:xfrm>
            <a:off x="2913827" y="3977640"/>
            <a:ext cx="1907987"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STEP 2</a:t>
            </a:r>
            <a:endParaRPr lang="en-US" sz="1000" dirty="0"/>
          </a:p>
        </p:txBody>
      </p:sp>
      <p:sp>
        <p:nvSpPr>
          <p:cNvPr id="14" name="Text 10"/>
          <p:cNvSpPr txBox="1"/>
          <p:nvPr/>
        </p:nvSpPr>
        <p:spPr>
          <a:xfrm>
            <a:off x="2913827" y="4251960"/>
            <a:ext cx="1907987" cy="731520"/>
          </a:xfrm>
          <a:prstGeom prst="rect">
            <a:avLst/>
          </a:prstGeom>
          <a:noFill/>
          <a:ln/>
        </p:spPr>
        <p:txBody>
          <a:bodyPr wrap="square" lIns="0" tIns="0" rIns="0" bIns="0" rtlCol="0" anchor="t"/>
          <a:lstStyle/>
          <a:p>
            <a:pPr indent="0" marL="0">
              <a:lnSpc>
                <a:spcPct val="100000"/>
              </a:lnSpc>
              <a:buNone/>
            </a:pPr>
            <a:r>
              <a:rPr lang="en-US" sz="2200" b="1" dirty="0">
                <a:solidFill>
                  <a:srgbClr val="F4F6F5"/>
                </a:solidFill>
                <a:latin typeface="Epilogue" pitchFamily="34" charset="0"/>
                <a:ea typeface="Epilogue" pitchFamily="34" charset="-122"/>
                <a:cs typeface="Epilogue" pitchFamily="34" charset="-120"/>
              </a:rPr>
              <a:t>Gets assigned</a:t>
            </a:r>
            <a:endParaRPr lang="en-US" sz="2200" dirty="0"/>
          </a:p>
        </p:txBody>
      </p:sp>
      <p:sp>
        <p:nvSpPr>
          <p:cNvPr id="15" name="Text 11"/>
          <p:cNvSpPr txBox="1"/>
          <p:nvPr/>
        </p:nvSpPr>
        <p:spPr>
          <a:xfrm>
            <a:off x="2913827" y="5074920"/>
            <a:ext cx="1907987" cy="640080"/>
          </a:xfrm>
          <a:prstGeom prst="rect">
            <a:avLst/>
          </a:prstGeom>
          <a:noFill/>
          <a:ln/>
        </p:spPr>
        <p:txBody>
          <a:bodyPr wrap="square" lIns="0" tIns="0" rIns="0" bIns="0" rtlCol="0" anchor="t"/>
          <a:lstStyle/>
          <a:p>
            <a:pPr indent="0" marL="0">
              <a:lnSpc>
                <a:spcPct val="125000"/>
              </a:lnSpc>
              <a:buNone/>
            </a:pPr>
            <a:r>
              <a:rPr lang="en-US" sz="1500" dirty="0">
                <a:solidFill>
                  <a:srgbClr val="9AA7A2"/>
                </a:solidFill>
                <a:latin typeface="Manrope" pitchFamily="34" charset="0"/>
                <a:ea typeface="Manrope" pitchFamily="34" charset="-122"/>
                <a:cs typeface="Manrope" pitchFamily="34" charset="-120"/>
              </a:rPr>
              <a:t>The PM approves it once.</a:t>
            </a:r>
            <a:endParaRPr lang="en-US" sz="1500" dirty="0"/>
          </a:p>
        </p:txBody>
      </p:sp>
      <p:sp>
        <p:nvSpPr>
          <p:cNvPr id="16" name="Shape 12"/>
          <p:cNvSpPr/>
          <p:nvPr/>
        </p:nvSpPr>
        <p:spPr>
          <a:xfrm>
            <a:off x="5141854" y="2788920"/>
            <a:ext cx="868680" cy="868680"/>
          </a:xfrm>
          <a:prstGeom prst="ellipse">
            <a:avLst/>
          </a:prstGeom>
          <a:solidFill>
            <a:srgbClr val="15191A"/>
          </a:solidFill>
          <a:ln w="12700">
            <a:solidFill>
              <a:srgbClr val="262C2E"/>
            </a:solidFill>
            <a:prstDash val="solid"/>
          </a:ln>
        </p:spPr>
      </p:sp>
      <p:pic>
        <p:nvPicPr>
          <p:cNvPr id="17" name="Image 2" descr="preencoded.png">    </p:cNvPr>
          <p:cNvPicPr>
            <a:picLocks noChangeAspect="1"/>
          </p:cNvPicPr>
          <p:nvPr/>
        </p:nvPicPr>
        <p:blipFill>
          <a:blip r:embed="rId3"/>
          <a:stretch>
            <a:fillRect/>
          </a:stretch>
        </p:blipFill>
        <p:spPr>
          <a:xfrm>
            <a:off x="5385084" y="3032150"/>
            <a:ext cx="382219" cy="382219"/>
          </a:xfrm>
          <a:prstGeom prst="rect">
            <a:avLst/>
          </a:prstGeom>
        </p:spPr>
      </p:pic>
      <p:sp>
        <p:nvSpPr>
          <p:cNvPr id="18" name="Text 13"/>
          <p:cNvSpPr txBox="1"/>
          <p:nvPr/>
        </p:nvSpPr>
        <p:spPr>
          <a:xfrm>
            <a:off x="5141854" y="3977640"/>
            <a:ext cx="1907987"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STEP 3</a:t>
            </a:r>
            <a:endParaRPr lang="en-US" sz="1000" dirty="0"/>
          </a:p>
        </p:txBody>
      </p:sp>
      <p:sp>
        <p:nvSpPr>
          <p:cNvPr id="19" name="Text 14"/>
          <p:cNvSpPr txBox="1"/>
          <p:nvPr/>
        </p:nvSpPr>
        <p:spPr>
          <a:xfrm>
            <a:off x="5141854" y="4251960"/>
            <a:ext cx="1907987" cy="731520"/>
          </a:xfrm>
          <a:prstGeom prst="rect">
            <a:avLst/>
          </a:prstGeom>
          <a:noFill/>
          <a:ln/>
        </p:spPr>
        <p:txBody>
          <a:bodyPr wrap="square" lIns="0" tIns="0" rIns="0" bIns="0" rtlCol="0" anchor="t"/>
          <a:lstStyle/>
          <a:p>
            <a:pPr indent="0" marL="0">
              <a:lnSpc>
                <a:spcPct val="100000"/>
              </a:lnSpc>
              <a:buNone/>
            </a:pPr>
            <a:r>
              <a:rPr lang="en-US" sz="2200" b="1" dirty="0">
                <a:solidFill>
                  <a:srgbClr val="F4F6F5"/>
                </a:solidFill>
                <a:latin typeface="Epilogue" pitchFamily="34" charset="0"/>
                <a:ea typeface="Epilogue" pitchFamily="34" charset="-122"/>
                <a:cs typeface="Epilogue" pitchFamily="34" charset="-120"/>
              </a:rPr>
              <a:t>Work happens</a:t>
            </a:r>
            <a:endParaRPr lang="en-US" sz="2200" dirty="0"/>
          </a:p>
        </p:txBody>
      </p:sp>
      <p:sp>
        <p:nvSpPr>
          <p:cNvPr id="20" name="Text 15"/>
          <p:cNvSpPr txBox="1"/>
          <p:nvPr/>
        </p:nvSpPr>
        <p:spPr>
          <a:xfrm>
            <a:off x="5141854" y="5074920"/>
            <a:ext cx="1907987" cy="640080"/>
          </a:xfrm>
          <a:prstGeom prst="rect">
            <a:avLst/>
          </a:prstGeom>
          <a:noFill/>
          <a:ln/>
        </p:spPr>
        <p:txBody>
          <a:bodyPr wrap="square" lIns="0" tIns="0" rIns="0" bIns="0" rtlCol="0" anchor="t"/>
          <a:lstStyle/>
          <a:p>
            <a:pPr indent="0" marL="0">
              <a:lnSpc>
                <a:spcPct val="125000"/>
              </a:lnSpc>
              <a:buNone/>
            </a:pPr>
            <a:r>
              <a:rPr lang="en-US" sz="1500" dirty="0">
                <a:solidFill>
                  <a:srgbClr val="9AA7A2"/>
                </a:solidFill>
                <a:latin typeface="Manrope" pitchFamily="34" charset="0"/>
                <a:ea typeface="Manrope" pitchFamily="34" charset="-122"/>
                <a:cs typeface="Manrope" pitchFamily="34" charset="-120"/>
              </a:rPr>
              <a:t>Everyone can see where it's at.</a:t>
            </a:r>
            <a:endParaRPr lang="en-US" sz="1500" dirty="0"/>
          </a:p>
        </p:txBody>
      </p:sp>
      <p:sp>
        <p:nvSpPr>
          <p:cNvPr id="21" name="Shape 16"/>
          <p:cNvSpPr/>
          <p:nvPr/>
        </p:nvSpPr>
        <p:spPr>
          <a:xfrm>
            <a:off x="7369881" y="2788920"/>
            <a:ext cx="868680" cy="868680"/>
          </a:xfrm>
          <a:prstGeom prst="ellipse">
            <a:avLst/>
          </a:prstGeom>
          <a:solidFill>
            <a:srgbClr val="15191A"/>
          </a:solidFill>
          <a:ln w="12700">
            <a:solidFill>
              <a:srgbClr val="262C2E"/>
            </a:solidFill>
            <a:prstDash val="solid"/>
          </a:ln>
        </p:spPr>
      </p:sp>
      <p:pic>
        <p:nvPicPr>
          <p:cNvPr id="22" name="Image 3" descr="preencoded.png">    </p:cNvPr>
          <p:cNvPicPr>
            <a:picLocks noChangeAspect="1"/>
          </p:cNvPicPr>
          <p:nvPr/>
        </p:nvPicPr>
        <p:blipFill>
          <a:blip r:embed="rId4"/>
          <a:stretch>
            <a:fillRect/>
          </a:stretch>
        </p:blipFill>
        <p:spPr>
          <a:xfrm>
            <a:off x="7613112" y="3032150"/>
            <a:ext cx="382219" cy="382219"/>
          </a:xfrm>
          <a:prstGeom prst="rect">
            <a:avLst/>
          </a:prstGeom>
        </p:spPr>
      </p:pic>
      <p:sp>
        <p:nvSpPr>
          <p:cNvPr id="23" name="Text 17"/>
          <p:cNvSpPr txBox="1"/>
          <p:nvPr/>
        </p:nvSpPr>
        <p:spPr>
          <a:xfrm>
            <a:off x="7369881" y="3977640"/>
            <a:ext cx="1907987"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STEP 4</a:t>
            </a:r>
            <a:endParaRPr lang="en-US" sz="1000" dirty="0"/>
          </a:p>
        </p:txBody>
      </p:sp>
      <p:sp>
        <p:nvSpPr>
          <p:cNvPr id="24" name="Text 18"/>
          <p:cNvSpPr txBox="1"/>
          <p:nvPr/>
        </p:nvSpPr>
        <p:spPr>
          <a:xfrm>
            <a:off x="7369881" y="4251960"/>
            <a:ext cx="1907987" cy="731520"/>
          </a:xfrm>
          <a:prstGeom prst="rect">
            <a:avLst/>
          </a:prstGeom>
          <a:noFill/>
          <a:ln/>
        </p:spPr>
        <p:txBody>
          <a:bodyPr wrap="square" lIns="0" tIns="0" rIns="0" bIns="0" rtlCol="0" anchor="t"/>
          <a:lstStyle/>
          <a:p>
            <a:pPr indent="0" marL="0">
              <a:lnSpc>
                <a:spcPct val="100000"/>
              </a:lnSpc>
              <a:buNone/>
            </a:pPr>
            <a:r>
              <a:rPr lang="en-US" sz="2200" b="1" dirty="0">
                <a:solidFill>
                  <a:srgbClr val="F4F6F5"/>
                </a:solidFill>
                <a:latin typeface="Epilogue" pitchFamily="34" charset="0"/>
                <a:ea typeface="Epilogue" pitchFamily="34" charset="-122"/>
                <a:cs typeface="Epilogue" pitchFamily="34" charset="-120"/>
              </a:rPr>
              <a:t>Client nudged</a:t>
            </a:r>
            <a:endParaRPr lang="en-US" sz="2200" dirty="0"/>
          </a:p>
        </p:txBody>
      </p:sp>
      <p:sp>
        <p:nvSpPr>
          <p:cNvPr id="25" name="Text 19"/>
          <p:cNvSpPr txBox="1"/>
          <p:nvPr/>
        </p:nvSpPr>
        <p:spPr>
          <a:xfrm>
            <a:off x="7369881" y="5074920"/>
            <a:ext cx="1907987" cy="640080"/>
          </a:xfrm>
          <a:prstGeom prst="rect">
            <a:avLst/>
          </a:prstGeom>
          <a:noFill/>
          <a:ln/>
        </p:spPr>
        <p:txBody>
          <a:bodyPr wrap="square" lIns="0" tIns="0" rIns="0" bIns="0" rtlCol="0" anchor="t"/>
          <a:lstStyle/>
          <a:p>
            <a:pPr indent="0" marL="0">
              <a:lnSpc>
                <a:spcPct val="125000"/>
              </a:lnSpc>
              <a:buNone/>
            </a:pPr>
            <a:r>
              <a:rPr lang="en-US" sz="1500" dirty="0">
                <a:solidFill>
                  <a:srgbClr val="9AA7A2"/>
                </a:solidFill>
                <a:latin typeface="Manrope" pitchFamily="34" charset="0"/>
                <a:ea typeface="Manrope" pitchFamily="34" charset="-122"/>
                <a:cs typeface="Manrope" pitchFamily="34" charset="-120"/>
              </a:rPr>
              <a:t>Quiet for two days? It follows up.</a:t>
            </a:r>
            <a:endParaRPr lang="en-US" sz="1500" dirty="0"/>
          </a:p>
        </p:txBody>
      </p:sp>
      <p:sp>
        <p:nvSpPr>
          <p:cNvPr id="26" name="Shape 20"/>
          <p:cNvSpPr/>
          <p:nvPr/>
        </p:nvSpPr>
        <p:spPr>
          <a:xfrm>
            <a:off x="9597908" y="2788920"/>
            <a:ext cx="868680" cy="868680"/>
          </a:xfrm>
          <a:prstGeom prst="ellipse">
            <a:avLst/>
          </a:prstGeom>
          <a:solidFill>
            <a:srgbClr val="B8E62E"/>
          </a:solidFill>
          <a:ln w="12700">
            <a:solidFill>
              <a:srgbClr val="B8E62E"/>
            </a:solidFill>
            <a:prstDash val="solid"/>
          </a:ln>
        </p:spPr>
      </p:sp>
      <p:pic>
        <p:nvPicPr>
          <p:cNvPr id="27" name="Image 4" descr="preencoded.png">    </p:cNvPr>
          <p:cNvPicPr>
            <a:picLocks noChangeAspect="1"/>
          </p:cNvPicPr>
          <p:nvPr/>
        </p:nvPicPr>
        <p:blipFill>
          <a:blip r:embed="rId5"/>
          <a:stretch>
            <a:fillRect/>
          </a:stretch>
        </p:blipFill>
        <p:spPr>
          <a:xfrm>
            <a:off x="9841139" y="3032150"/>
            <a:ext cx="382219" cy="382219"/>
          </a:xfrm>
          <a:prstGeom prst="rect">
            <a:avLst/>
          </a:prstGeom>
        </p:spPr>
      </p:pic>
      <p:sp>
        <p:nvSpPr>
          <p:cNvPr id="28" name="Text 21"/>
          <p:cNvSpPr txBox="1"/>
          <p:nvPr/>
        </p:nvSpPr>
        <p:spPr>
          <a:xfrm>
            <a:off x="9597908" y="3977640"/>
            <a:ext cx="1907987"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STEP 5</a:t>
            </a:r>
            <a:endParaRPr lang="en-US" sz="1000" dirty="0"/>
          </a:p>
        </p:txBody>
      </p:sp>
      <p:sp>
        <p:nvSpPr>
          <p:cNvPr id="29" name="Text 22"/>
          <p:cNvSpPr txBox="1"/>
          <p:nvPr/>
        </p:nvSpPr>
        <p:spPr>
          <a:xfrm>
            <a:off x="9597908" y="4251960"/>
            <a:ext cx="1907987" cy="731520"/>
          </a:xfrm>
          <a:prstGeom prst="rect">
            <a:avLst/>
          </a:prstGeom>
          <a:noFill/>
          <a:ln/>
        </p:spPr>
        <p:txBody>
          <a:bodyPr wrap="square" lIns="0" tIns="0" rIns="0" bIns="0" rtlCol="0" anchor="t"/>
          <a:lstStyle/>
          <a:p>
            <a:pPr indent="0" marL="0">
              <a:lnSpc>
                <a:spcPct val="100000"/>
              </a:lnSpc>
              <a:buNone/>
            </a:pPr>
            <a:r>
              <a:rPr lang="en-US" sz="2200" b="1" dirty="0">
                <a:solidFill>
                  <a:srgbClr val="F4F6F5"/>
                </a:solidFill>
                <a:latin typeface="Epilogue" pitchFamily="34" charset="0"/>
                <a:ea typeface="Epilogue" pitchFamily="34" charset="-122"/>
                <a:cs typeface="Epilogue" pitchFamily="34" charset="-120"/>
              </a:rPr>
              <a:t>Billed</a:t>
            </a:r>
            <a:endParaRPr lang="en-US" sz="2200" dirty="0"/>
          </a:p>
        </p:txBody>
      </p:sp>
      <p:sp>
        <p:nvSpPr>
          <p:cNvPr id="30" name="Text 23"/>
          <p:cNvSpPr txBox="1"/>
          <p:nvPr/>
        </p:nvSpPr>
        <p:spPr>
          <a:xfrm>
            <a:off x="9597908" y="5074920"/>
            <a:ext cx="1907987" cy="640080"/>
          </a:xfrm>
          <a:prstGeom prst="rect">
            <a:avLst/>
          </a:prstGeom>
          <a:noFill/>
          <a:ln/>
        </p:spPr>
        <p:txBody>
          <a:bodyPr wrap="square" lIns="0" tIns="0" rIns="0" bIns="0" rtlCol="0" anchor="t"/>
          <a:lstStyle/>
          <a:p>
            <a:pPr indent="0" marL="0">
              <a:lnSpc>
                <a:spcPct val="125000"/>
              </a:lnSpc>
              <a:buNone/>
            </a:pPr>
            <a:r>
              <a:rPr lang="en-US" sz="1500" dirty="0">
                <a:solidFill>
                  <a:srgbClr val="9AA7A2"/>
                </a:solidFill>
                <a:latin typeface="Manrope" pitchFamily="34" charset="0"/>
                <a:ea typeface="Manrope" pitchFamily="34" charset="-122"/>
                <a:cs typeface="Manrope" pitchFamily="34" charset="-120"/>
              </a:rPr>
              <a:t>Done work goes straight to billing.</a:t>
            </a:r>
            <a:endParaRPr lang="en-US" sz="1500" dirty="0"/>
          </a:p>
        </p:txBody>
      </p:sp>
      <p:pic>
        <p:nvPicPr>
          <p:cNvPr id="31" name="Image 5" descr="/tmp/claude-0/-home-user-Claude-Works/c609e3f7-e17f-5f43-8424-4df30cb9a6a9/scratchpad/build/s/img/annan_proud.png">    </p:cNvPr>
          <p:cNvPicPr>
            <a:picLocks noChangeAspect="1"/>
          </p:cNvPicPr>
          <p:nvPr/>
        </p:nvPicPr>
        <p:blipFill>
          <a:blip r:embed="rId6"/>
          <a:stretch>
            <a:fillRect/>
          </a:stretch>
        </p:blipFill>
        <p:spPr>
          <a:xfrm>
            <a:off x="10062670" y="594360"/>
            <a:ext cx="1443225" cy="1737360"/>
          </a:xfrm>
          <a:prstGeom prst="rect">
            <a:avLst/>
          </a:prstGeom>
        </p:spPr>
      </p:pic>
      <p:sp>
        <p:nvSpPr>
          <p:cNvPr id="32" name="Shape 24"/>
          <p:cNvSpPr/>
          <p:nvPr/>
        </p:nvSpPr>
        <p:spPr>
          <a:xfrm>
            <a:off x="7273750" y="1005840"/>
            <a:ext cx="2514600" cy="731520"/>
          </a:xfrm>
          <a:prstGeom prst="roundRect">
            <a:avLst>
              <a:gd name="adj" fmla="val 25000"/>
            </a:avLst>
          </a:prstGeom>
          <a:solidFill>
            <a:srgbClr val="F4F6F5"/>
          </a:solidFill>
          <a:ln/>
        </p:spPr>
      </p:sp>
      <p:sp>
        <p:nvSpPr>
          <p:cNvPr id="33" name="Shape 25"/>
          <p:cNvSpPr/>
          <p:nvPr/>
        </p:nvSpPr>
        <p:spPr>
          <a:xfrm rot="5400000">
            <a:off x="9779206" y="1261872"/>
            <a:ext cx="219456" cy="175565"/>
          </a:xfrm>
          <a:prstGeom prst="triangle">
            <a:avLst/>
          </a:prstGeom>
          <a:solidFill>
            <a:srgbClr val="F4F6F5"/>
          </a:solidFill>
          <a:ln/>
        </p:spPr>
      </p:sp>
      <p:sp>
        <p:nvSpPr>
          <p:cNvPr id="34" name="Text 26"/>
          <p:cNvSpPr txBox="1"/>
          <p:nvPr/>
        </p:nvSpPr>
        <p:spPr>
          <a:xfrm>
            <a:off x="7502350" y="1005840"/>
            <a:ext cx="2057400" cy="731520"/>
          </a:xfrm>
          <a:prstGeom prst="rect">
            <a:avLst/>
          </a:prstGeom>
          <a:noFill/>
          <a:ln/>
        </p:spPr>
        <p:txBody>
          <a:bodyPr wrap="square" lIns="0" tIns="0" rIns="0" bIns="0" rtlCol="0" anchor="ctr"/>
          <a:lstStyle/>
          <a:p>
            <a:pPr indent="0" marL="0">
              <a:lnSpc>
                <a:spcPct val="110000"/>
              </a:lnSpc>
              <a:buNone/>
            </a:pPr>
            <a:r>
              <a:rPr lang="en-US" sz="1500" b="1" dirty="0">
                <a:solidFill>
                  <a:srgbClr val="0B0D0C"/>
                </a:solidFill>
                <a:latin typeface="Manrope" pitchFamily="34" charset="0"/>
                <a:ea typeface="Manrope" pitchFamily="34" charset="-122"/>
                <a:cs typeface="Manrope" pitchFamily="34" charset="-120"/>
              </a:rPr>
              <a:t>Every job, same path. I watch every step.</a:t>
            </a:r>
            <a:endParaRPr lang="en-US" sz="1500" dirty="0"/>
          </a:p>
        </p:txBody>
      </p:sp>
      <p:sp>
        <p:nvSpPr>
          <p:cNvPr id="35" name="Text 27"/>
          <p:cNvSpPr txBox="1"/>
          <p:nvPr/>
        </p:nvSpPr>
        <p:spPr>
          <a:xfrm>
            <a:off x="685800" y="6355080"/>
            <a:ext cx="64008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
        <p:nvSpPr>
          <p:cNvPr id="36" name="Text 28"/>
          <p:cNvSpPr txBox="1"/>
          <p:nvPr/>
        </p:nvSpPr>
        <p:spPr>
          <a:xfrm>
            <a:off x="10591495" y="6355080"/>
            <a:ext cx="914400" cy="201168"/>
          </a:xfrm>
          <a:prstGeom prst="rect">
            <a:avLst/>
          </a:prstGeom>
          <a:noFill/>
          <a:ln/>
        </p:spPr>
        <p:txBody>
          <a:bodyPr wrap="square" lIns="0" tIns="0" rIns="0" bIns="0" rtlCol="0" anchor="t"/>
          <a:lstStyle/>
          <a:p>
            <a:pPr algn="r" indent="0" marL="0">
              <a:buNone/>
            </a:pPr>
            <a:r>
              <a:rPr lang="en-US" sz="1000" b="1" dirty="0">
                <a:solidFill>
                  <a:srgbClr val="6B7773"/>
                </a:solidFill>
                <a:latin typeface="Plus Jakarta Sans" pitchFamily="34" charset="0"/>
                <a:ea typeface="Plus Jakarta Sans" pitchFamily="34" charset="-122"/>
                <a:cs typeface="Plus Jakarta Sans"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Bod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 App — Sales Deck</dc:title>
  <dc:subject>PptxGenJS Presentation</dc:subject>
  <dc:creator>Bod Studio · Storibod Creatives</dc:creator>
  <cp:lastModifiedBy>Bod Studio · Storibod Creatives</cp:lastModifiedBy>
  <cp:revision>1</cp:revision>
  <dcterms:created xsi:type="dcterms:W3CDTF">2026-09-26T15:53:06Z</dcterms:created>
  <dcterms:modified xsi:type="dcterms:W3CDTF">2026-09-26T15:53:06Z</dcterms:modified>
</cp:coreProperties>
</file>